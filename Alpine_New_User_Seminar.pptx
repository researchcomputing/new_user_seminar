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49"/>
  </p:notesMasterIdLst>
  <p:sldIdLst>
    <p:sldId id="256" r:id="rId2"/>
    <p:sldId id="312" r:id="rId3"/>
    <p:sldId id="365" r:id="rId4"/>
    <p:sldId id="264" r:id="rId5"/>
    <p:sldId id="261" r:id="rId6"/>
    <p:sldId id="376" r:id="rId7"/>
    <p:sldId id="377" r:id="rId8"/>
    <p:sldId id="378" r:id="rId9"/>
    <p:sldId id="375" r:id="rId10"/>
    <p:sldId id="366" r:id="rId11"/>
    <p:sldId id="368" r:id="rId12"/>
    <p:sldId id="369" r:id="rId13"/>
    <p:sldId id="272" r:id="rId14"/>
    <p:sldId id="269" r:id="rId15"/>
    <p:sldId id="274" r:id="rId16"/>
    <p:sldId id="323" r:id="rId17"/>
    <p:sldId id="324" r:id="rId18"/>
    <p:sldId id="325" r:id="rId19"/>
    <p:sldId id="326" r:id="rId20"/>
    <p:sldId id="374" r:id="rId21"/>
    <p:sldId id="370" r:id="rId22"/>
    <p:sldId id="371" r:id="rId23"/>
    <p:sldId id="372" r:id="rId24"/>
    <p:sldId id="373" r:id="rId25"/>
    <p:sldId id="380" r:id="rId26"/>
    <p:sldId id="277" r:id="rId27"/>
    <p:sldId id="381" r:id="rId28"/>
    <p:sldId id="382" r:id="rId29"/>
    <p:sldId id="379" r:id="rId30"/>
    <p:sldId id="388" r:id="rId31"/>
    <p:sldId id="385" r:id="rId32"/>
    <p:sldId id="278" r:id="rId33"/>
    <p:sldId id="329" r:id="rId34"/>
    <p:sldId id="336" r:id="rId35"/>
    <p:sldId id="330" r:id="rId36"/>
    <p:sldId id="322" r:id="rId37"/>
    <p:sldId id="281" r:id="rId38"/>
    <p:sldId id="283" r:id="rId39"/>
    <p:sldId id="284" r:id="rId40"/>
    <p:sldId id="286" r:id="rId41"/>
    <p:sldId id="288" r:id="rId42"/>
    <p:sldId id="289" r:id="rId43"/>
    <p:sldId id="290" r:id="rId44"/>
    <p:sldId id="318" r:id="rId45"/>
    <p:sldId id="387" r:id="rId46"/>
    <p:sldId id="386" r:id="rId47"/>
    <p:sldId id="320" r:id="rId48"/>
  </p:sldIdLst>
  <p:sldSz cx="12192000" cy="6858000"/>
  <p:notesSz cx="6858000" cy="9144000"/>
  <p:embeddedFontLst>
    <p:embeddedFont>
      <p:font typeface="Arial Black" panose="020B0604020202020204" pitchFamily="34" charset="0"/>
      <p:bold r:id="rId50"/>
    </p:embeddedFont>
    <p:embeddedFont>
      <p:font typeface="Consolas" panose="020B0609020204030204" pitchFamily="49" charset="0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E318D51-86EE-4300-AF37-D1893FD06897}">
  <a:tblStyle styleId="{CE318D51-86EE-4300-AF37-D1893FD0689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96C31ED-FC21-479E-A100-0480358EE9B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77"/>
    <p:restoredTop sz="96304"/>
  </p:normalViewPr>
  <p:slideViewPr>
    <p:cSldViewPr snapToGrid="0">
      <p:cViewPr varScale="1">
        <p:scale>
          <a:sx n="166" d="100"/>
          <a:sy n="166" d="100"/>
        </p:scale>
        <p:origin x="376" y="152"/>
      </p:cViewPr>
      <p:guideLst/>
    </p:cSldViewPr>
  </p:slideViewPr>
  <p:outlineViewPr>
    <p:cViewPr>
      <p:scale>
        <a:sx n="33" d="100"/>
        <a:sy n="33" d="100"/>
      </p:scale>
      <p:origin x="0" y="-200"/>
    </p:cViewPr>
  </p:outlin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60E6FC-C58D-CA46-93FA-98E1AAB1BA5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30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2316551ed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2316551eda_0_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Secure Research manages the CMMC environment (Preserve), but we can help users connect with the SR team if they have confidential data (e.g. HIPA, Financial, FERPA, Government data, etc.)</a:t>
            </a:r>
          </a:p>
        </p:txBody>
      </p:sp>
      <p:sp>
        <p:nvSpPr>
          <p:cNvPr id="159" name="Google Shape;159;g12316551eda_0_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2316551eda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2316551eda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workshop is meant to be empowering and information-rich – to help you get the most out of your HPC workflow.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Feel free to ask questions during the presentations and to discuss ideas/thoughts during breaks and the hands-on portion of the workshop.</a:t>
            </a:r>
            <a:endParaRPr dirty="0"/>
          </a:p>
        </p:txBody>
      </p:sp>
      <p:sp>
        <p:nvSpPr>
          <p:cNvPr id="130" name="Google Shape;130;g12316551eda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C86B332F-B668-97BC-327B-BD414E99B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2316551eda_0_6:notes">
            <a:extLst>
              <a:ext uri="{FF2B5EF4-FFF2-40B4-BE49-F238E27FC236}">
                <a16:creationId xmlns:a16="http://schemas.microsoft.com/office/drawing/2014/main" id="{69DB975B-AEC0-B825-6405-C62F7F8501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2316551eda_0_6:notes">
            <a:extLst>
              <a:ext uri="{FF2B5EF4-FFF2-40B4-BE49-F238E27FC236}">
                <a16:creationId xmlns:a16="http://schemas.microsoft.com/office/drawing/2014/main" id="{44B8B577-E375-4F26-2D7C-7F40E7EAA4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2" name="Google Shape;122;g12316551eda_0_6:notes">
            <a:extLst>
              <a:ext uri="{FF2B5EF4-FFF2-40B4-BE49-F238E27FC236}">
                <a16:creationId xmlns:a16="http://schemas.microsoft.com/office/drawing/2014/main" id="{F12C8F2F-B016-29ED-E9B5-03505605A4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59186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B0DF62A3-959E-5BFB-E959-7794C623A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2316551eda_0_6:notes">
            <a:extLst>
              <a:ext uri="{FF2B5EF4-FFF2-40B4-BE49-F238E27FC236}">
                <a16:creationId xmlns:a16="http://schemas.microsoft.com/office/drawing/2014/main" id="{09009DD7-A42E-A133-5909-9DB21A3DE7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2316551eda_0_6:notes">
            <a:extLst>
              <a:ext uri="{FF2B5EF4-FFF2-40B4-BE49-F238E27FC236}">
                <a16:creationId xmlns:a16="http://schemas.microsoft.com/office/drawing/2014/main" id="{0BE4BF1C-722F-2D38-8456-BF2581D098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2" name="Google Shape;122;g12316551eda_0_6:notes">
            <a:extLst>
              <a:ext uri="{FF2B5EF4-FFF2-40B4-BE49-F238E27FC236}">
                <a16:creationId xmlns:a16="http://schemas.microsoft.com/office/drawing/2014/main" id="{CBCBD417-4A3A-42BB-D041-D44FF667689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23715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BD38B38D-ECBF-8972-0CA6-0466AE338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2316551eda_0_6:notes">
            <a:extLst>
              <a:ext uri="{FF2B5EF4-FFF2-40B4-BE49-F238E27FC236}">
                <a16:creationId xmlns:a16="http://schemas.microsoft.com/office/drawing/2014/main" id="{643C034A-4DCD-8656-D2C7-48DC8F7345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2316551eda_0_6:notes">
            <a:extLst>
              <a:ext uri="{FF2B5EF4-FFF2-40B4-BE49-F238E27FC236}">
                <a16:creationId xmlns:a16="http://schemas.microsoft.com/office/drawing/2014/main" id="{998AAF78-76E5-8A73-809A-2F6441594C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2" name="Google Shape;122;g12316551eda_0_6:notes">
            <a:extLst>
              <a:ext uri="{FF2B5EF4-FFF2-40B4-BE49-F238E27FC236}">
                <a16:creationId xmlns:a16="http://schemas.microsoft.com/office/drawing/2014/main" id="{1395FF0D-CE00-8224-FC29-0883BC72458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87486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E27E0F0B-DADD-0580-D8DB-750DB7F95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2316551eda_0_6:notes">
            <a:extLst>
              <a:ext uri="{FF2B5EF4-FFF2-40B4-BE49-F238E27FC236}">
                <a16:creationId xmlns:a16="http://schemas.microsoft.com/office/drawing/2014/main" id="{8E644939-1A82-9DCB-0A42-B8C4DF69BE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2316551eda_0_6:notes">
            <a:extLst>
              <a:ext uri="{FF2B5EF4-FFF2-40B4-BE49-F238E27FC236}">
                <a16:creationId xmlns:a16="http://schemas.microsoft.com/office/drawing/2014/main" id="{3927E2C1-BF51-CFAB-9E5D-4793A98C9D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2" name="Google Shape;122;g12316551eda_0_6:notes">
            <a:extLst>
              <a:ext uri="{FF2B5EF4-FFF2-40B4-BE49-F238E27FC236}">
                <a16:creationId xmlns:a16="http://schemas.microsoft.com/office/drawing/2014/main" id="{965778D9-9568-FF58-134D-95390A7F98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75489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58DF77DA-275F-2D7E-E586-A3F11A043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2316551eda_0_74:notes">
            <a:extLst>
              <a:ext uri="{FF2B5EF4-FFF2-40B4-BE49-F238E27FC236}">
                <a16:creationId xmlns:a16="http://schemas.microsoft.com/office/drawing/2014/main" id="{7FDF10A5-D899-1535-B2F9-8307D8F1B8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2316551eda_0_74:notes">
            <a:extLst>
              <a:ext uri="{FF2B5EF4-FFF2-40B4-BE49-F238E27FC236}">
                <a16:creationId xmlns:a16="http://schemas.microsoft.com/office/drawing/2014/main" id="{B4E4E78A-953F-DA1A-53C2-40F01BD68A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HPC System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Many CPU’s and GPUs – Thousands of cores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RAM &amp; Storage measured in Terabytes and Petabytes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Hardware built for stability and high up-time, best for distributed jobs</a:t>
            </a:r>
          </a:p>
        </p:txBody>
      </p:sp>
      <p:sp>
        <p:nvSpPr>
          <p:cNvPr id="201" name="Google Shape;201;g12316551eda_0_74:notes">
            <a:extLst>
              <a:ext uri="{FF2B5EF4-FFF2-40B4-BE49-F238E27FC236}">
                <a16:creationId xmlns:a16="http://schemas.microsoft.com/office/drawing/2014/main" id="{AACD229D-09BA-6BF7-747A-FF948195A8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25000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21C0EC66-6BE1-6988-C90A-893F022F4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2316551eda_0_74:notes">
            <a:extLst>
              <a:ext uri="{FF2B5EF4-FFF2-40B4-BE49-F238E27FC236}">
                <a16:creationId xmlns:a16="http://schemas.microsoft.com/office/drawing/2014/main" id="{1AFB22C4-D455-65F3-34F8-F1C67DF8DE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2316551eda_0_74:notes">
            <a:extLst>
              <a:ext uri="{FF2B5EF4-FFF2-40B4-BE49-F238E27FC236}">
                <a16:creationId xmlns:a16="http://schemas.microsoft.com/office/drawing/2014/main" id="{2A51C43F-D948-8C3C-81F2-9F8E8C1EB2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Traditional PC: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- 1 CPU with a few cores and maybe a GPU (not always)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- RAM &amp; Storage measured in GB’s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- Less Hardware, but potentially much faster hardware (</a:t>
            </a:r>
            <a:r>
              <a:rPr lang="en-US" dirty="0" err="1"/>
              <a:t>clockspeed</a:t>
            </a:r>
            <a:r>
              <a:rPr lang="en-US" dirty="0"/>
              <a:t>)</a:t>
            </a:r>
          </a:p>
        </p:txBody>
      </p:sp>
      <p:sp>
        <p:nvSpPr>
          <p:cNvPr id="201" name="Google Shape;201;g12316551eda_0_74:notes">
            <a:extLst>
              <a:ext uri="{FF2B5EF4-FFF2-40B4-BE49-F238E27FC236}">
                <a16:creationId xmlns:a16="http://schemas.microsoft.com/office/drawing/2014/main" id="{D88DE628-018F-8EFC-FDF5-ABAA68ED78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00163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005F270B-9978-49CE-DAB1-3A02B60FB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2316551eda_0_74:notes">
            <a:extLst>
              <a:ext uri="{FF2B5EF4-FFF2-40B4-BE49-F238E27FC236}">
                <a16:creationId xmlns:a16="http://schemas.microsoft.com/office/drawing/2014/main" id="{E71E0A8F-C4D8-D32C-B08A-B457BE764E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2316551eda_0_74:notes">
            <a:extLst>
              <a:ext uri="{FF2B5EF4-FFF2-40B4-BE49-F238E27FC236}">
                <a16:creationId xmlns:a16="http://schemas.microsoft.com/office/drawing/2014/main" id="{CC57D4AE-A01C-BF7B-CEA7-8B12A55F36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 careful when comparing the performance of your personal computer and an HPC system.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 may find your personal computer runs some jobs faster than the HPC system but remember an HPC system’s strength comes from its ability to scale.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 HPC system provides 100’s of CPU’s, terabytes of RAM, and petabytes of data storage.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201" name="Google Shape;201;g12316551eda_0_74:notes">
            <a:extLst>
              <a:ext uri="{FF2B5EF4-FFF2-40B4-BE49-F238E27FC236}">
                <a16:creationId xmlns:a16="http://schemas.microsoft.com/office/drawing/2014/main" id="{7E36D971-C64D-6D68-2310-2BD3E99EE0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28417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2316551eda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2316551eda_0_1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Parallel Jobs - Divide and Conquer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/>
              <a:t>A job that can be divided into smaller pieces, which can be independently run.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/>
              <a:t>Serial Jobs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A collection of small jobs which can be done simultaneously</a:t>
            </a:r>
          </a:p>
        </p:txBody>
      </p:sp>
      <p:sp>
        <p:nvSpPr>
          <p:cNvPr id="294" name="Google Shape;294;g12316551eda_0_1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2316551eda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2316551eda_0_1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Big Data: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- Require lots of RAM (memory) or data storage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- Need more CPU’s, distributed system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Visualization Rendering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Unique Hardware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- GPU’s, Linux, Shared team environment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12316551eda_0_1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2316551eda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2316551eda_0_2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Update Icon</a:t>
            </a:r>
            <a:endParaRPr/>
          </a:p>
        </p:txBody>
      </p:sp>
      <p:sp>
        <p:nvSpPr>
          <p:cNvPr id="333" name="Google Shape;333;g12316551eda_0_2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12316551eda_0_6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12316551eda_0_6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g12316551eda_0_6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91409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12316551eda_0_6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12316551eda_0_6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 not run software applications on a login node!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Examples: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 loading anaconda, do not run python scripts, or start a compiled software program.</a:t>
            </a:r>
          </a:p>
        </p:txBody>
      </p:sp>
      <p:sp>
        <p:nvSpPr>
          <p:cNvPr id="686" name="Google Shape;686;g12316551eda_0_6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17094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12316551eda_0_6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12316551eda_0_6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686" name="Google Shape;686;g12316551eda_0_6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9920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12316551eda_0_6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12316551eda_0_6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g12316551eda_0_6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77700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D0A3E20E-FC8A-5CE7-3FB3-E125CF507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2316551eda_0_238:notes">
            <a:extLst>
              <a:ext uri="{FF2B5EF4-FFF2-40B4-BE49-F238E27FC236}">
                <a16:creationId xmlns:a16="http://schemas.microsoft.com/office/drawing/2014/main" id="{F7B83B71-ECA6-67CD-8273-82DEA84147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2316551eda_0_238:notes">
            <a:extLst>
              <a:ext uri="{FF2B5EF4-FFF2-40B4-BE49-F238E27FC236}">
                <a16:creationId xmlns:a16="http://schemas.microsoft.com/office/drawing/2014/main" id="{A9D89E84-E581-89A7-7FA7-E771B1827C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 nodes are organized into partitions – logical groups of similarly spec’d hardware.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Partitions make it easier to request specific resources and ensure a more consistent user experience.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Alpine Cluster has four primary partitions.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Detailed Information on Alpine Hardware: </a:t>
            </a:r>
            <a:br>
              <a:rPr lang="en-US"/>
            </a:br>
            <a:r>
              <a:rPr lang="en-US"/>
              <a:t>https://</a:t>
            </a:r>
            <a:r>
              <a:rPr lang="en-US" err="1"/>
              <a:t>curc.readthedocs.io</a:t>
            </a:r>
            <a:r>
              <a:rPr lang="en-US"/>
              <a:t>/</a:t>
            </a:r>
            <a:r>
              <a:rPr lang="en-US" err="1"/>
              <a:t>en</a:t>
            </a:r>
            <a:r>
              <a:rPr lang="en-US"/>
              <a:t>/latest/clusters/alpine/alpine-</a:t>
            </a:r>
            <a:r>
              <a:rPr lang="en-US" err="1"/>
              <a:t>hardware.html</a:t>
            </a:r>
            <a:r>
              <a:rPr lang="en-US"/>
              <a:t> </a:t>
            </a:r>
            <a:endParaRPr/>
          </a:p>
        </p:txBody>
      </p:sp>
      <p:sp>
        <p:nvSpPr>
          <p:cNvPr id="333" name="Google Shape;333;g12316551eda_0_238:notes">
            <a:extLst>
              <a:ext uri="{FF2B5EF4-FFF2-40B4-BE49-F238E27FC236}">
                <a16:creationId xmlns:a16="http://schemas.microsoft.com/office/drawing/2014/main" id="{9D29B984-FBEC-866C-F88B-A129F4D25A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3417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3B3E419D-42DC-9BF8-E574-79B5FE756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2316551eda_0_238:notes">
            <a:extLst>
              <a:ext uri="{FF2B5EF4-FFF2-40B4-BE49-F238E27FC236}">
                <a16:creationId xmlns:a16="http://schemas.microsoft.com/office/drawing/2014/main" id="{E2B5DF0E-33E4-CD33-E622-8A5DDB436E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2316551eda_0_238:notes">
            <a:extLst>
              <a:ext uri="{FF2B5EF4-FFF2-40B4-BE49-F238E27FC236}">
                <a16:creationId xmlns:a16="http://schemas.microsoft.com/office/drawing/2014/main" id="{9F259969-7916-7A22-7681-4C78BEE02A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/>
              <a:t>amilan</a:t>
            </a:r>
            <a:r>
              <a:rPr lang="en-US"/>
              <a:t>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285 Nodes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64 CPU Cores per Node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3.75 GB of RAM per CPU (240 GB total)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Detailed Information on Alpine Hardware: </a:t>
            </a:r>
            <a:br>
              <a:rPr lang="en-US"/>
            </a:br>
            <a:r>
              <a:rPr lang="en-US"/>
              <a:t>https://</a:t>
            </a:r>
            <a:r>
              <a:rPr lang="en-US" err="1"/>
              <a:t>curc.readthedocs.io</a:t>
            </a:r>
            <a:r>
              <a:rPr lang="en-US"/>
              <a:t>/</a:t>
            </a:r>
            <a:r>
              <a:rPr lang="en-US" err="1"/>
              <a:t>en</a:t>
            </a:r>
            <a:r>
              <a:rPr lang="en-US"/>
              <a:t>/latest/clusters/alpine/alpine-</a:t>
            </a:r>
            <a:r>
              <a:rPr lang="en-US" err="1"/>
              <a:t>hardware.html</a:t>
            </a:r>
            <a:r>
              <a:rPr lang="en-US"/>
              <a:t> </a:t>
            </a:r>
            <a:endParaRPr/>
          </a:p>
        </p:txBody>
      </p:sp>
      <p:sp>
        <p:nvSpPr>
          <p:cNvPr id="333" name="Google Shape;333;g12316551eda_0_238:notes">
            <a:extLst>
              <a:ext uri="{FF2B5EF4-FFF2-40B4-BE49-F238E27FC236}">
                <a16:creationId xmlns:a16="http://schemas.microsoft.com/office/drawing/2014/main" id="{186D727F-2132-DA15-78AF-130F8F1B1E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58037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2C0D8D7D-F11A-6ED5-0EA5-19E98E5BB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2316551eda_0_238:notes">
            <a:extLst>
              <a:ext uri="{FF2B5EF4-FFF2-40B4-BE49-F238E27FC236}">
                <a16:creationId xmlns:a16="http://schemas.microsoft.com/office/drawing/2014/main" id="{50EA0C7D-3FEF-4C96-8B9F-1773780BE6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2316551eda_0_238:notes">
            <a:extLst>
              <a:ext uri="{FF2B5EF4-FFF2-40B4-BE49-F238E27FC236}">
                <a16:creationId xmlns:a16="http://schemas.microsoft.com/office/drawing/2014/main" id="{B7914616-93C1-BF2D-A39D-0222189A57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/>
              <a:t>amem</a:t>
            </a:r>
            <a:r>
              <a:rPr lang="en-US"/>
              <a:t>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22 Nodes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48 CPU Cores per node (12)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64 CPU Cores per node (10)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21.5 GB of RAM per CPU (1 TB total)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Detailed Information on Alpine Hardware: </a:t>
            </a:r>
            <a:br>
              <a:rPr lang="en-US"/>
            </a:br>
            <a:r>
              <a:rPr lang="en-US"/>
              <a:t>https://</a:t>
            </a:r>
            <a:r>
              <a:rPr lang="en-US" err="1"/>
              <a:t>curc.readthedocs.io</a:t>
            </a:r>
            <a:r>
              <a:rPr lang="en-US"/>
              <a:t>/</a:t>
            </a:r>
            <a:r>
              <a:rPr lang="en-US" err="1"/>
              <a:t>en</a:t>
            </a:r>
            <a:r>
              <a:rPr lang="en-US"/>
              <a:t>/latest/clusters/alpine/alpine-</a:t>
            </a:r>
            <a:r>
              <a:rPr lang="en-US" err="1"/>
              <a:t>hardware.html</a:t>
            </a:r>
            <a:r>
              <a:rPr lang="en-US"/>
              <a:t> </a:t>
            </a:r>
          </a:p>
        </p:txBody>
      </p:sp>
      <p:sp>
        <p:nvSpPr>
          <p:cNvPr id="333" name="Google Shape;333;g12316551eda_0_238:notes">
            <a:extLst>
              <a:ext uri="{FF2B5EF4-FFF2-40B4-BE49-F238E27FC236}">
                <a16:creationId xmlns:a16="http://schemas.microsoft.com/office/drawing/2014/main" id="{29DCA4C4-C232-5907-9F06-1B58CD873E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34900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F8D2C90A-5B73-4508-615E-264362A90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2316551eda_0_238:notes">
            <a:extLst>
              <a:ext uri="{FF2B5EF4-FFF2-40B4-BE49-F238E27FC236}">
                <a16:creationId xmlns:a16="http://schemas.microsoft.com/office/drawing/2014/main" id="{B16E7737-79B1-8E6E-5A38-C6999827C5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2316551eda_0_238:notes">
            <a:extLst>
              <a:ext uri="{FF2B5EF4-FFF2-40B4-BE49-F238E27FC236}">
                <a16:creationId xmlns:a16="http://schemas.microsoft.com/office/drawing/2014/main" id="{F931679B-1D1E-8F7D-0C6C-336DB0BAB5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aa100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 Nodes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64 CPU Cores per Node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3.75 GB of RAM per CPU (240 GB total)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GPU’s per Node (Nvidia A100)</a:t>
            </a:r>
          </a:p>
        </p:txBody>
      </p:sp>
      <p:sp>
        <p:nvSpPr>
          <p:cNvPr id="333" name="Google Shape;333;g12316551eda_0_238:notes">
            <a:extLst>
              <a:ext uri="{FF2B5EF4-FFF2-40B4-BE49-F238E27FC236}">
                <a16:creationId xmlns:a16="http://schemas.microsoft.com/office/drawing/2014/main" id="{1382B4DD-9E5B-2333-B86F-57C4B97154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10581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A4AEB09C-00E5-8F93-C01E-34DCA8FC7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2316551eda_0_238:notes">
            <a:extLst>
              <a:ext uri="{FF2B5EF4-FFF2-40B4-BE49-F238E27FC236}">
                <a16:creationId xmlns:a16="http://schemas.microsoft.com/office/drawing/2014/main" id="{B468BC0F-AD51-A90A-E685-BFC983EF0D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2316551eda_0_238:notes">
            <a:extLst>
              <a:ext uri="{FF2B5EF4-FFF2-40B4-BE49-F238E27FC236}">
                <a16:creationId xmlns:a16="http://schemas.microsoft.com/office/drawing/2014/main" id="{9CD8BF36-4E58-DC63-9B9E-3C3A3BA1C8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ami100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8 Nodes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64 CPU Cores per Node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3.75 GB of RAM per CPU (240 GB total)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 GPU’s per Node (AMD MI100)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Detailed Information on Alpine Hardware: </a:t>
            </a:r>
            <a:br>
              <a:rPr lang="en-US" dirty="0"/>
            </a:br>
            <a:r>
              <a:rPr lang="en-US" dirty="0"/>
              <a:t>https://</a:t>
            </a:r>
            <a:r>
              <a:rPr lang="en-US" dirty="0" err="1"/>
              <a:t>curc.readthedocs.io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/latest/clusters/alpine/alpine-</a:t>
            </a:r>
            <a:r>
              <a:rPr lang="en-US" dirty="0" err="1"/>
              <a:t>hardware.html</a:t>
            </a:r>
            <a:r>
              <a:rPr lang="en-US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3" name="Google Shape;333;g12316551eda_0_238:notes">
            <a:extLst>
              <a:ext uri="{FF2B5EF4-FFF2-40B4-BE49-F238E27FC236}">
                <a16:creationId xmlns:a16="http://schemas.microsoft.com/office/drawing/2014/main" id="{2FE227A3-0A7E-F0BB-133C-485346F2602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13782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>
          <a:extLst>
            <a:ext uri="{FF2B5EF4-FFF2-40B4-BE49-F238E27FC236}">
              <a16:creationId xmlns:a16="http://schemas.microsoft.com/office/drawing/2014/main" id="{8AA6EF9E-21C0-923C-79BB-F11E0270F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2316551eda_0_316:notes">
            <a:extLst>
              <a:ext uri="{FF2B5EF4-FFF2-40B4-BE49-F238E27FC236}">
                <a16:creationId xmlns:a16="http://schemas.microsoft.com/office/drawing/2014/main" id="{3E27B855-FB6B-262D-F487-81EFB76007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2316551eda_0_316:notes">
            <a:extLst>
              <a:ext uri="{FF2B5EF4-FFF2-40B4-BE49-F238E27FC236}">
                <a16:creationId xmlns:a16="http://schemas.microsoft.com/office/drawing/2014/main" id="{B4811820-2A54-FE55-F8B6-E3FC9CA94C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g12316551eda_0_316:notes">
            <a:extLst>
              <a:ext uri="{FF2B5EF4-FFF2-40B4-BE49-F238E27FC236}">
                <a16:creationId xmlns:a16="http://schemas.microsoft.com/office/drawing/2014/main" id="{E6AAC615-4989-6206-5960-8D50C01462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20187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2316551eda_0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2316551eda_0_3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g12316551eda_0_3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>
          <a:extLst>
            <a:ext uri="{FF2B5EF4-FFF2-40B4-BE49-F238E27FC236}">
              <a16:creationId xmlns:a16="http://schemas.microsoft.com/office/drawing/2014/main" id="{AF544C96-55FB-E841-D997-2FF56CA0A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2316551eda_0_316:notes">
            <a:extLst>
              <a:ext uri="{FF2B5EF4-FFF2-40B4-BE49-F238E27FC236}">
                <a16:creationId xmlns:a16="http://schemas.microsoft.com/office/drawing/2014/main" id="{4C755D1F-2726-CC10-2FBE-B18FA88470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2316551eda_0_316:notes">
            <a:extLst>
              <a:ext uri="{FF2B5EF4-FFF2-40B4-BE49-F238E27FC236}">
                <a16:creationId xmlns:a16="http://schemas.microsoft.com/office/drawing/2014/main" id="{44AD09C8-51B0-2EB6-1D81-3CE072DDC3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Documentation on Filesystem/Storage: https://</a:t>
            </a:r>
            <a:r>
              <a:rPr lang="en-US" err="1"/>
              <a:t>curc.readthedocs.io</a:t>
            </a:r>
            <a:r>
              <a:rPr lang="en-US"/>
              <a:t>/</a:t>
            </a:r>
            <a:r>
              <a:rPr lang="en-US" err="1"/>
              <a:t>en</a:t>
            </a:r>
            <a:r>
              <a:rPr lang="en-US"/>
              <a:t>/latest/compute/</a:t>
            </a:r>
            <a:r>
              <a:rPr lang="en-US" err="1"/>
              <a:t>filesystems.html</a:t>
            </a:r>
            <a:r>
              <a:rPr lang="en-US"/>
              <a:t> </a:t>
            </a:r>
            <a:endParaRPr/>
          </a:p>
        </p:txBody>
      </p:sp>
      <p:sp>
        <p:nvSpPr>
          <p:cNvPr id="399" name="Google Shape;399;g12316551eda_0_316:notes">
            <a:extLst>
              <a:ext uri="{FF2B5EF4-FFF2-40B4-BE49-F238E27FC236}">
                <a16:creationId xmlns:a16="http://schemas.microsoft.com/office/drawing/2014/main" id="{625553F6-6DF3-1922-5B79-57C4CEE4D53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0300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>
          <a:extLst>
            <a:ext uri="{FF2B5EF4-FFF2-40B4-BE49-F238E27FC236}">
              <a16:creationId xmlns:a16="http://schemas.microsoft.com/office/drawing/2014/main" id="{4B12488D-D5A8-90C1-2FFF-41C3256DA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2316551eda_0_316:notes">
            <a:extLst>
              <a:ext uri="{FF2B5EF4-FFF2-40B4-BE49-F238E27FC236}">
                <a16:creationId xmlns:a16="http://schemas.microsoft.com/office/drawing/2014/main" id="{538F30E3-5A83-61B6-2933-1EC2D2BCB7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2316551eda_0_316:notes">
            <a:extLst>
              <a:ext uri="{FF2B5EF4-FFF2-40B4-BE49-F238E27FC236}">
                <a16:creationId xmlns:a16="http://schemas.microsoft.com/office/drawing/2014/main" id="{DCC19F8D-653D-4FD2-9411-74D3FE6111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Documentation on Filesystem/Storage: https://</a:t>
            </a:r>
            <a:r>
              <a:rPr lang="en-US" err="1"/>
              <a:t>curc.readthedocs.io</a:t>
            </a:r>
            <a:r>
              <a:rPr lang="en-US"/>
              <a:t>/</a:t>
            </a:r>
            <a:r>
              <a:rPr lang="en-US" err="1"/>
              <a:t>en</a:t>
            </a:r>
            <a:r>
              <a:rPr lang="en-US"/>
              <a:t>/latest/compute/</a:t>
            </a:r>
            <a:r>
              <a:rPr lang="en-US" err="1"/>
              <a:t>filesystems.html</a:t>
            </a:r>
            <a:r>
              <a:rPr lang="en-US"/>
              <a:t> </a:t>
            </a:r>
            <a:endParaRPr/>
          </a:p>
        </p:txBody>
      </p:sp>
      <p:sp>
        <p:nvSpPr>
          <p:cNvPr id="399" name="Google Shape;399;g12316551eda_0_316:notes">
            <a:extLst>
              <a:ext uri="{FF2B5EF4-FFF2-40B4-BE49-F238E27FC236}">
                <a16:creationId xmlns:a16="http://schemas.microsoft.com/office/drawing/2014/main" id="{36A1007F-6B3C-E4C6-9E4F-57A6359A7E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00969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>
          <a:extLst>
            <a:ext uri="{FF2B5EF4-FFF2-40B4-BE49-F238E27FC236}">
              <a16:creationId xmlns:a16="http://schemas.microsoft.com/office/drawing/2014/main" id="{9D02D839-3B54-1F0B-1389-AF71A85A3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2316551eda_0_316:notes">
            <a:extLst>
              <a:ext uri="{FF2B5EF4-FFF2-40B4-BE49-F238E27FC236}">
                <a16:creationId xmlns:a16="http://schemas.microsoft.com/office/drawing/2014/main" id="{BD7BFF25-1973-6810-526E-50219E0957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2316551eda_0_316:notes">
            <a:extLst>
              <a:ext uri="{FF2B5EF4-FFF2-40B4-BE49-F238E27FC236}">
                <a16:creationId xmlns:a16="http://schemas.microsoft.com/office/drawing/2014/main" id="{9E9D48B0-2B6C-98E7-6258-03CBACDFB4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Documentation on Filesystem/Storage: https://</a:t>
            </a:r>
            <a:r>
              <a:rPr lang="en-US" err="1"/>
              <a:t>curc.readthedocs.io</a:t>
            </a:r>
            <a:r>
              <a:rPr lang="en-US"/>
              <a:t>/</a:t>
            </a:r>
            <a:r>
              <a:rPr lang="en-US" err="1"/>
              <a:t>en</a:t>
            </a:r>
            <a:r>
              <a:rPr lang="en-US"/>
              <a:t>/latest/compute/</a:t>
            </a:r>
            <a:r>
              <a:rPr lang="en-US" err="1"/>
              <a:t>filesystems.html</a:t>
            </a:r>
            <a:r>
              <a:rPr lang="en-US"/>
              <a:t> </a:t>
            </a:r>
            <a:endParaRPr/>
          </a:p>
        </p:txBody>
      </p:sp>
      <p:sp>
        <p:nvSpPr>
          <p:cNvPr id="399" name="Google Shape;399;g12316551eda_0_316:notes">
            <a:extLst>
              <a:ext uri="{FF2B5EF4-FFF2-40B4-BE49-F238E27FC236}">
                <a16:creationId xmlns:a16="http://schemas.microsoft.com/office/drawing/2014/main" id="{82172062-A45D-E787-3E70-230933107F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74919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>
          <a:extLst>
            <a:ext uri="{FF2B5EF4-FFF2-40B4-BE49-F238E27FC236}">
              <a16:creationId xmlns:a16="http://schemas.microsoft.com/office/drawing/2014/main" id="{91569F70-47E6-790D-6BE0-C789C292C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2316551eda_0_316:notes">
            <a:extLst>
              <a:ext uri="{FF2B5EF4-FFF2-40B4-BE49-F238E27FC236}">
                <a16:creationId xmlns:a16="http://schemas.microsoft.com/office/drawing/2014/main" id="{4C968387-0FBD-6397-5356-E665348356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2316551eda_0_316:notes">
            <a:extLst>
              <a:ext uri="{FF2B5EF4-FFF2-40B4-BE49-F238E27FC236}">
                <a16:creationId xmlns:a16="http://schemas.microsoft.com/office/drawing/2014/main" id="{E969C4AE-98C2-3244-E549-6AA745254B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Documentation on </a:t>
            </a:r>
            <a:r>
              <a:rPr lang="en-US" err="1"/>
              <a:t>PetaLibrary</a:t>
            </a:r>
            <a:r>
              <a:rPr lang="en-US"/>
              <a:t>: https://</a:t>
            </a:r>
            <a:r>
              <a:rPr lang="en-US" err="1"/>
              <a:t>curc.readthedocs.io</a:t>
            </a:r>
            <a:r>
              <a:rPr lang="en-US"/>
              <a:t>/</a:t>
            </a:r>
            <a:r>
              <a:rPr lang="en-US" err="1"/>
              <a:t>en</a:t>
            </a:r>
            <a:r>
              <a:rPr lang="en-US"/>
              <a:t>/latest/storage/</a:t>
            </a:r>
            <a:r>
              <a:rPr lang="en-US" err="1"/>
              <a:t>petalibrary</a:t>
            </a:r>
            <a:r>
              <a:rPr lang="en-US"/>
              <a:t>/</a:t>
            </a:r>
            <a:r>
              <a:rPr lang="en-US" err="1"/>
              <a:t>index.html</a:t>
            </a:r>
            <a:endParaRPr/>
          </a:p>
        </p:txBody>
      </p:sp>
      <p:sp>
        <p:nvSpPr>
          <p:cNvPr id="399" name="Google Shape;399;g12316551eda_0_316:notes">
            <a:extLst>
              <a:ext uri="{FF2B5EF4-FFF2-40B4-BE49-F238E27FC236}">
                <a16:creationId xmlns:a16="http://schemas.microsoft.com/office/drawing/2014/main" id="{8E001C5E-1C67-AAED-F414-CF9E6252102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99251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>
          <a:extLst>
            <a:ext uri="{FF2B5EF4-FFF2-40B4-BE49-F238E27FC236}">
              <a16:creationId xmlns:a16="http://schemas.microsoft.com/office/drawing/2014/main" id="{F81DA788-EE73-5DE2-626D-04B52C07C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2316551eda_0_316:notes">
            <a:extLst>
              <a:ext uri="{FF2B5EF4-FFF2-40B4-BE49-F238E27FC236}">
                <a16:creationId xmlns:a16="http://schemas.microsoft.com/office/drawing/2014/main" id="{43838909-9FAB-FA88-F01D-8E4D91E269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2316551eda_0_316:notes">
            <a:extLst>
              <a:ext uri="{FF2B5EF4-FFF2-40B4-BE49-F238E27FC236}">
                <a16:creationId xmlns:a16="http://schemas.microsoft.com/office/drawing/2014/main" id="{8646BC74-1B1F-AC02-8DFA-EBB3D1CC87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Documentation on </a:t>
            </a:r>
            <a:r>
              <a:rPr lang="en-US" err="1"/>
              <a:t>PetaLibrary</a:t>
            </a:r>
            <a:r>
              <a:rPr lang="en-US"/>
              <a:t>: https://</a:t>
            </a:r>
            <a:r>
              <a:rPr lang="en-US" err="1"/>
              <a:t>curc.readthedocs.io</a:t>
            </a:r>
            <a:r>
              <a:rPr lang="en-US"/>
              <a:t>/</a:t>
            </a:r>
            <a:r>
              <a:rPr lang="en-US" err="1"/>
              <a:t>en</a:t>
            </a:r>
            <a:r>
              <a:rPr lang="en-US"/>
              <a:t>/latest/storage/</a:t>
            </a:r>
            <a:r>
              <a:rPr lang="en-US" err="1"/>
              <a:t>petalibrary</a:t>
            </a:r>
            <a:r>
              <a:rPr lang="en-US"/>
              <a:t>/</a:t>
            </a:r>
            <a:r>
              <a:rPr lang="en-US" err="1"/>
              <a:t>index.html</a:t>
            </a:r>
            <a:endParaRPr/>
          </a:p>
        </p:txBody>
      </p:sp>
      <p:sp>
        <p:nvSpPr>
          <p:cNvPr id="399" name="Google Shape;399;g12316551eda_0_316:notes">
            <a:extLst>
              <a:ext uri="{FF2B5EF4-FFF2-40B4-BE49-F238E27FC236}">
                <a16:creationId xmlns:a16="http://schemas.microsoft.com/office/drawing/2014/main" id="{1D986274-D9B5-260F-A02D-2F8C93C4C0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850779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2316551eda_0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12316551eda_0_3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*Users manage access to their /project and /scratch directories.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RC Staff manage access to the </a:t>
            </a:r>
            <a:r>
              <a:rPr lang="en-US" err="1"/>
              <a:t>PetaLibrary</a:t>
            </a:r>
            <a:r>
              <a:rPr lang="en-US"/>
              <a:t> Space</a:t>
            </a:r>
            <a:endParaRPr/>
          </a:p>
        </p:txBody>
      </p:sp>
      <p:sp>
        <p:nvSpPr>
          <p:cNvPr id="419" name="Google Shape;419;g12316551eda_0_3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2316551eda_0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12316551eda_0_3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DTN require internal CU Network access (VPN)</a:t>
            </a:r>
            <a:endParaRPr/>
          </a:p>
        </p:txBody>
      </p:sp>
      <p:sp>
        <p:nvSpPr>
          <p:cNvPr id="419" name="Google Shape;419;g12316551eda_0_3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62169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Cloudbursting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538898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12316551eda_0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12316551eda_0_4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g12316551eda_0_4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61962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12316551eda_0_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12316551eda_0_4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34" name="Google Shape;534;g12316551eda_0_4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058426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2316551eda_0_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2316551eda_0_4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</a:t>
            </a:r>
            <a:r>
              <a:rPr lang="en-US" dirty="0" err="1"/>
              <a:t>ondemand.rc.colorado.edu</a:t>
            </a:r>
            <a:r>
              <a:rPr lang="en-US"/>
              <a:t>/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https://ondemand-rmacc.rc.colorado.edu/</a:t>
            </a:r>
            <a:endParaRPr/>
          </a:p>
        </p:txBody>
      </p:sp>
      <p:sp>
        <p:nvSpPr>
          <p:cNvPr id="542" name="Google Shape;542;g12316551eda_0_4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799250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2316551eda_0_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2316551eda_0_5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g12316551eda_0_5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679983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2316551eda_0_5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2316551eda_0_5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g12316551eda_0_5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0036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12316551eda_0_5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12316551eda_0_5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g12316551eda_0_5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624996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12316551eda_0_5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12316551eda_0_5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g12316551eda_0_5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659224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12316551eda_0_8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12316551eda_0_8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" name="Google Shape;896;g12316551eda_0_8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8">
          <a:extLst>
            <a:ext uri="{FF2B5EF4-FFF2-40B4-BE49-F238E27FC236}">
              <a16:creationId xmlns:a16="http://schemas.microsoft.com/office/drawing/2014/main" id="{D6FBCE00-4D52-5EC8-694A-BCF8EB425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12316551eda_0_874:notes">
            <a:extLst>
              <a:ext uri="{FF2B5EF4-FFF2-40B4-BE49-F238E27FC236}">
                <a16:creationId xmlns:a16="http://schemas.microsoft.com/office/drawing/2014/main" id="{E5B262B8-C2A9-1AF7-FF5F-571138CCE7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12316551eda_0_874:notes">
            <a:extLst>
              <a:ext uri="{FF2B5EF4-FFF2-40B4-BE49-F238E27FC236}">
                <a16:creationId xmlns:a16="http://schemas.microsoft.com/office/drawing/2014/main" id="{F1348A54-D358-DDCC-7406-FC0B92C077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1" name="Google Shape;911;g12316551eda_0_874:notes">
            <a:extLst>
              <a:ext uri="{FF2B5EF4-FFF2-40B4-BE49-F238E27FC236}">
                <a16:creationId xmlns:a16="http://schemas.microsoft.com/office/drawing/2014/main" id="{6912EC5B-A76D-3FF0-55B4-A9E14AB9A0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904077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9738993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12316551eda_0_8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12316551eda_0_8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g12316551eda_0_8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Helvetica Neue"/>
              <a:buNone/>
              <a:defRPr sz="60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50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16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831850" y="1725236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 Black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079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079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430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430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4014436" y="-1350610"/>
            <a:ext cx="4163129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Helvetica Neue"/>
              <a:buNone/>
              <a:defRPr sz="50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16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1" descr="Untitled.png" title="Be Boulder."/>
          <p:cNvPicPr preferRelativeResize="0"/>
          <p:nvPr/>
        </p:nvPicPr>
        <p:blipFill rotWithShape="1">
          <a:blip r:embed="rId13">
            <a:alphaModFix/>
          </a:blip>
          <a:srcRect b="47289"/>
          <a:stretch/>
        </p:blipFill>
        <p:spPr>
          <a:xfrm>
            <a:off x="9293520" y="6188959"/>
            <a:ext cx="2517480" cy="4434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16;p1"/>
          <p:cNvCxnSpPr/>
          <p:nvPr/>
        </p:nvCxnSpPr>
        <p:spPr>
          <a:xfrm rot="10800000" flipH="1">
            <a:off x="457200" y="6081713"/>
            <a:ext cx="11277600" cy="142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" name="Google Shape;17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94348" y="6188959"/>
            <a:ext cx="2210435" cy="43983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c.colorado.edu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colorado.service-now.com/req_portal?id=ucb_sc_rc_form" TargetMode="External"/><Relationship Id="rId4" Type="http://schemas.openxmlformats.org/officeDocument/2006/relationships/hyperlink" Target="https://curc.readthedocs.io/en/latest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9.svg"/><Relationship Id="rId4" Type="http://schemas.openxmlformats.org/officeDocument/2006/relationships/image" Target="../media/image12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0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0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22.svg"/><Relationship Id="rId4" Type="http://schemas.openxmlformats.org/officeDocument/2006/relationships/image" Target="../media/image23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24.svg"/><Relationship Id="rId4" Type="http://schemas.openxmlformats.org/officeDocument/2006/relationships/image" Target="../media/image21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2.svg"/><Relationship Id="rId4" Type="http://schemas.openxmlformats.org/officeDocument/2006/relationships/image" Target="../media/image21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2.svg"/><Relationship Id="rId4" Type="http://schemas.openxmlformats.org/officeDocument/2006/relationships/image" Target="../media/image19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9.svg"/><Relationship Id="rId4" Type="http://schemas.openxmlformats.org/officeDocument/2006/relationships/image" Target="../media/image12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9.svg"/><Relationship Id="rId4" Type="http://schemas.openxmlformats.org/officeDocument/2006/relationships/image" Target="../media/image12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9.svg"/><Relationship Id="rId4" Type="http://schemas.openxmlformats.org/officeDocument/2006/relationships/image" Target="../media/image12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29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svg"/><Relationship Id="rId4" Type="http://schemas.openxmlformats.org/officeDocument/2006/relationships/image" Target="../media/image13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hyperlink" Target="https://www.colorado.edu/rc/secure-research-computing-resource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svg"/><Relationship Id="rId4" Type="http://schemas.openxmlformats.org/officeDocument/2006/relationships/image" Target="../media/image13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orado.service-now.com/req_portal?id=ucb_sc_rc_form" TargetMode="External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urc.readthedocs.io/en/latest/getting_started/logging-in.html#getting-a-curc-account" TargetMode="Externa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32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32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mailto:username@login.rc.colorado.edu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32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ondemand.rc.colorado.edu/" TargetMode="External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32.svg"/><Relationship Id="rId4" Type="http://schemas.openxmlformats.org/officeDocument/2006/relationships/hyperlink" Target="https://ondemand-rmacc.rc.colorado.edu/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://curc.readthedocs.io/" TargetMode="External"/><Relationship Id="rId7" Type="http://schemas.openxmlformats.org/officeDocument/2006/relationships/hyperlink" Target="https://colorado.libcal.com/calendar/events/Thursdays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olorado.edu/crdds/events#drop_in_consultations-89" TargetMode="External"/><Relationship Id="rId5" Type="http://schemas.openxmlformats.org/officeDocument/2006/relationships/hyperlink" Target="mailto:rc-help@colorado.edu" TargetMode="External"/><Relationship Id="rId4" Type="http://schemas.openxmlformats.org/officeDocument/2006/relationships/hyperlink" Target="https://www.colorado.edu/crdds/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computing.github.io/New_User_Async_Training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mailto:rc-help@colorado.edu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://tinyurl.com/curc-survey18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/>
          <p:cNvPicPr preferRelativeResize="0"/>
          <p:nvPr/>
        </p:nvPicPr>
        <p:blipFill rotWithShape="1">
          <a:blip r:embed="rId3">
            <a:alphaModFix/>
          </a:blip>
          <a:srcRect b="32560"/>
          <a:stretch/>
        </p:blipFill>
        <p:spPr>
          <a:xfrm>
            <a:off x="0" y="0"/>
            <a:ext cx="12208413" cy="45007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>
            <a:spLocks noGrp="1"/>
          </p:cNvSpPr>
          <p:nvPr>
            <p:ph type="ctrTitle"/>
          </p:nvPr>
        </p:nvSpPr>
        <p:spPr>
          <a:xfrm>
            <a:off x="459800" y="4960075"/>
            <a:ext cx="11289900" cy="11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 Black"/>
              <a:buNone/>
            </a:pPr>
            <a:r>
              <a:rPr lang="en-US" sz="5300" dirty="0"/>
              <a:t>New User Seminar</a:t>
            </a:r>
            <a:endParaRPr sz="5300" dirty="0"/>
          </a:p>
        </p:txBody>
      </p:sp>
      <p:sp>
        <p:nvSpPr>
          <p:cNvPr id="97" name="Google Shape;97;p14"/>
          <p:cNvSpPr txBox="1">
            <a:spLocks noGrp="1"/>
          </p:cNvSpPr>
          <p:nvPr>
            <p:ph type="sldNum" idx="12"/>
          </p:nvPr>
        </p:nvSpPr>
        <p:spPr>
          <a:xfrm>
            <a:off x="5754600" y="6324545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AA6A78-1D75-A9F1-E5BD-18D3F03C7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Google Shape;98;p14">
            <a:extLst>
              <a:ext uri="{FF2B5EF4-FFF2-40B4-BE49-F238E27FC236}">
                <a16:creationId xmlns:a16="http://schemas.microsoft.com/office/drawing/2014/main" id="{68E75E60-516C-5ACC-9B2C-B6A1774A889E}"/>
              </a:ext>
            </a:extLst>
          </p:cNvPr>
          <p:cNvSpPr txBox="1">
            <a:spLocks/>
          </p:cNvSpPr>
          <p:nvPr/>
        </p:nvSpPr>
        <p:spPr>
          <a:xfrm>
            <a:off x="279955" y="2331720"/>
            <a:ext cx="7010400" cy="21945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spcBef>
                <a:spcPts val="600"/>
              </a:spcBef>
              <a:buSzPts val="2500"/>
              <a:buNone/>
            </a:pPr>
            <a:r>
              <a:rPr lang="en-US" sz="2400" b="1" dirty="0">
                <a:ea typeface="Arial"/>
                <a:cs typeface="Arial"/>
              </a:rPr>
              <a:t>Website: </a:t>
            </a:r>
            <a:r>
              <a:rPr lang="en-US" sz="2400" u="sng" dirty="0">
                <a:solidFill>
                  <a:schemeClr val="hlink"/>
                </a:solidFill>
                <a:ea typeface="Arial"/>
                <a:cs typeface="Arial"/>
                <a:hlinkClick r:id="rId3"/>
              </a:rPr>
              <a:t>www.rc.colorado.edu</a:t>
            </a:r>
            <a:endParaRPr lang="en-US" sz="2400" dirty="0">
              <a:solidFill>
                <a:schemeClr val="hlink"/>
              </a:solidFill>
              <a:ea typeface="Arial"/>
              <a:cs typeface="Arial"/>
            </a:endParaRPr>
          </a:p>
          <a:p>
            <a:pPr marL="0" indent="0">
              <a:lnSpc>
                <a:spcPct val="125000"/>
              </a:lnSpc>
              <a:spcBef>
                <a:spcPts val="600"/>
              </a:spcBef>
              <a:buSzPts val="2500"/>
              <a:buNone/>
            </a:pPr>
            <a:r>
              <a:rPr lang="en-US" sz="2400" b="1" dirty="0">
                <a:ea typeface="Arial"/>
                <a:cs typeface="Arial"/>
              </a:rPr>
              <a:t>Documentation:</a:t>
            </a:r>
            <a:r>
              <a:rPr lang="en-US" sz="2400" dirty="0">
                <a:ea typeface="Arial"/>
                <a:cs typeface="Arial"/>
              </a:rPr>
              <a:t> </a:t>
            </a:r>
            <a:r>
              <a:rPr lang="en-US" sz="2400" dirty="0">
                <a:ea typeface="Arial"/>
                <a:cs typeface="Arial"/>
                <a:hlinkClick r:id="rId4"/>
              </a:rPr>
              <a:t>https://curc.readthedocs.io</a:t>
            </a:r>
            <a:r>
              <a:rPr lang="en-US" sz="2400" dirty="0">
                <a:ea typeface="Arial"/>
                <a:cs typeface="Arial"/>
              </a:rPr>
              <a:t> </a:t>
            </a:r>
          </a:p>
          <a:p>
            <a:pPr marL="0" indent="0">
              <a:lnSpc>
                <a:spcPct val="125000"/>
              </a:lnSpc>
              <a:spcBef>
                <a:spcPts val="600"/>
              </a:spcBef>
              <a:buSzPts val="2500"/>
              <a:buNone/>
            </a:pPr>
            <a:r>
              <a:rPr lang="en-US" sz="2400" b="1" dirty="0">
                <a:ea typeface="Arial"/>
                <a:cs typeface="Arial"/>
              </a:rPr>
              <a:t>Support request form:</a:t>
            </a:r>
            <a:r>
              <a:rPr lang="en-US" sz="2400" dirty="0">
                <a:ea typeface="Arial"/>
                <a:cs typeface="Arial"/>
              </a:rPr>
              <a:t> </a:t>
            </a:r>
            <a:r>
              <a:rPr lang="en-US" sz="2400" dirty="0">
                <a:ea typeface="Arial"/>
                <a:cs typeface="Arial"/>
                <a:hlinkClick r:id="rId5"/>
              </a:rPr>
              <a:t>https://colorado.service-now.com/req_portal?id=ucb_sc_rc_form</a:t>
            </a:r>
            <a:r>
              <a:rPr lang="en-US" sz="2400" dirty="0">
                <a:ea typeface="Arial"/>
                <a:cs typeface="Arial"/>
              </a:rPr>
              <a:t> </a:t>
            </a:r>
            <a:endParaRPr lang="en-US" sz="2400" u="sng" dirty="0">
              <a:solidFill>
                <a:schemeClr val="hlink"/>
              </a:solidFill>
              <a:ea typeface="Arial"/>
              <a:cs typeface="Arial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EE983C-BF7D-9FDC-C0C2-904D80A68007}"/>
              </a:ext>
            </a:extLst>
          </p:cNvPr>
          <p:cNvGrpSpPr/>
          <p:nvPr/>
        </p:nvGrpSpPr>
        <p:grpSpPr>
          <a:xfrm>
            <a:off x="7565968" y="2331720"/>
            <a:ext cx="3931920" cy="2194560"/>
            <a:chOff x="2734356" y="510892"/>
            <a:chExt cx="3931920" cy="2194560"/>
          </a:xfrm>
        </p:grpSpPr>
        <p:pic>
          <p:nvPicPr>
            <p:cNvPr id="9" name="Picture 8" descr="A black and gold logo&#10;&#10;Description automatically generated">
              <a:extLst>
                <a:ext uri="{FF2B5EF4-FFF2-40B4-BE49-F238E27FC236}">
                  <a16:creationId xmlns:a16="http://schemas.microsoft.com/office/drawing/2014/main" id="{7FB1F572-2B82-EC63-473F-35770E4BD8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4649" y="693772"/>
              <a:ext cx="3571335" cy="1828800"/>
            </a:xfrm>
            <a:prstGeom prst="rect">
              <a:avLst/>
            </a:prstGeom>
          </p:spPr>
        </p:pic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4D607CAF-4F62-005D-FDF3-5BB59B1A5EF9}"/>
                </a:ext>
              </a:extLst>
            </p:cNvPr>
            <p:cNvSpPr/>
            <p:nvPr/>
          </p:nvSpPr>
          <p:spPr>
            <a:xfrm>
              <a:off x="2734356" y="510892"/>
              <a:ext cx="3931920" cy="2194560"/>
            </a:xfrm>
            <a:prstGeom prst="roundRect">
              <a:avLst>
                <a:gd name="adj" fmla="val 8994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CE29C41-6B27-6F60-8168-62581B12D518}"/>
              </a:ext>
            </a:extLst>
          </p:cNvPr>
          <p:cNvSpPr txBox="1">
            <a:spLocks/>
          </p:cNvSpPr>
          <p:nvPr/>
        </p:nvSpPr>
        <p:spPr>
          <a:xfrm>
            <a:off x="5841558" y="6367559"/>
            <a:ext cx="50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6A7983A4-F384-C340-9CB2-175593F0E4F5}" type="slidenum">
              <a:rPr lang="en-US"/>
              <a:pPr algn="l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3513FD8-9948-2F45-CF62-A1A2AFBA5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04" y="43608"/>
            <a:ext cx="10689866" cy="601305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9AEEA2-192E-AA62-50EE-AA62ABA07F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096000" y="6324601"/>
            <a:ext cx="682920" cy="365125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185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>
            <a:spLocks noGrp="1"/>
          </p:cNvSpPr>
          <p:nvPr>
            <p:ph type="title"/>
          </p:nvPr>
        </p:nvSpPr>
        <p:spPr>
          <a:xfrm>
            <a:off x="524934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RC Resources</a:t>
            </a:r>
            <a:endParaRPr dirty="0"/>
          </a:p>
        </p:txBody>
      </p:sp>
      <p:sp>
        <p:nvSpPr>
          <p:cNvPr id="162" name="Google Shape;162;p22"/>
          <p:cNvSpPr txBox="1">
            <a:spLocks noGrp="1"/>
          </p:cNvSpPr>
          <p:nvPr>
            <p:ph type="body" idx="1"/>
          </p:nvPr>
        </p:nvSpPr>
        <p:spPr>
          <a:xfrm>
            <a:off x="434623" y="1690825"/>
            <a:ext cx="5661377" cy="416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b="1" dirty="0">
                <a:latin typeface="+mn-lt"/>
                <a:ea typeface="Helvetica Neue Light"/>
                <a:cs typeface="Helvetica Neue Light"/>
                <a:sym typeface="Helvetica Neue Light"/>
              </a:rPr>
              <a:t>Tech Support</a:t>
            </a:r>
          </a:p>
          <a:p>
            <a:pPr marL="457200" lvl="0" indent="-34290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Helvetica Neue Light"/>
              <a:buChar char="•"/>
            </a:pPr>
            <a:r>
              <a:rPr lang="en-US" sz="2400" dirty="0">
                <a:latin typeface="+mn-lt"/>
                <a:ea typeface="Helvetica Neue Light"/>
                <a:cs typeface="Helvetica Neue Light"/>
                <a:sym typeface="Helvetica Neue Light"/>
              </a:rPr>
              <a:t>High-Performance Computing (HPC) </a:t>
            </a:r>
          </a:p>
          <a:p>
            <a:pPr marL="457200" lvl="0" indent="-34290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Helvetica Neue Light"/>
              <a:buChar char="•"/>
            </a:pPr>
            <a:r>
              <a:rPr lang="en-US" sz="2400" dirty="0">
                <a:latin typeface="+mn-lt"/>
                <a:ea typeface="Helvetica Neue Light"/>
                <a:cs typeface="Helvetica Neue Light"/>
                <a:sym typeface="Helvetica Neue Light"/>
              </a:rPr>
              <a:t>Data Management </a:t>
            </a:r>
          </a:p>
          <a:p>
            <a:pPr marL="457200" lvl="0" indent="-34290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Helvetica Neue Light"/>
              <a:buChar char="•"/>
            </a:pPr>
            <a:r>
              <a:rPr lang="en-US" sz="2400" dirty="0">
                <a:latin typeface="+mn-lt"/>
                <a:ea typeface="Helvetica Neue Light"/>
                <a:cs typeface="Helvetica Neue Light"/>
                <a:sym typeface="Helvetica Neue Light"/>
              </a:rPr>
              <a:t>Cloud Computing</a:t>
            </a:r>
          </a:p>
          <a:p>
            <a:pPr marL="457200" lvl="0" indent="-34290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Helvetica Neue Light"/>
              <a:buChar char="•"/>
            </a:pPr>
            <a:r>
              <a:rPr lang="en-US" sz="2400" dirty="0">
                <a:latin typeface="+mn-lt"/>
                <a:ea typeface="Helvetica Neue Light"/>
                <a:cs typeface="Helvetica Neue Light"/>
                <a:sym typeface="Helvetica Neue Light"/>
              </a:rPr>
              <a:t>Secure Research</a:t>
            </a:r>
            <a:endParaRPr sz="2400" dirty="0">
              <a:latin typeface="+mn-l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63" name="Google Shape;163;p22"/>
          <p:cNvSpPr txBox="1">
            <a:spLocks noGrp="1"/>
          </p:cNvSpPr>
          <p:nvPr>
            <p:ph type="sldNum" idx="12"/>
          </p:nvPr>
        </p:nvSpPr>
        <p:spPr>
          <a:xfrm>
            <a:off x="5782734" y="6252983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 dirty="0"/>
          </a:p>
        </p:txBody>
      </p:sp>
      <p:sp>
        <p:nvSpPr>
          <p:cNvPr id="5" name="Google Shape;162;p22">
            <a:extLst>
              <a:ext uri="{FF2B5EF4-FFF2-40B4-BE49-F238E27FC236}">
                <a16:creationId xmlns:a16="http://schemas.microsoft.com/office/drawing/2014/main" id="{B76772C4-4426-4B68-7521-9FAFE23CDFAB}"/>
              </a:ext>
            </a:extLst>
          </p:cNvPr>
          <p:cNvSpPr txBox="1">
            <a:spLocks/>
          </p:cNvSpPr>
          <p:nvPr/>
        </p:nvSpPr>
        <p:spPr>
          <a:xfrm>
            <a:off x="6358857" y="1690825"/>
            <a:ext cx="5737579" cy="41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114300" indent="0">
              <a:lnSpc>
                <a:spcPct val="150000"/>
              </a:lnSpc>
              <a:buFont typeface="Helvetica Neue"/>
              <a:buNone/>
            </a:pPr>
            <a:r>
              <a:rPr lang="en-US" b="1" dirty="0">
                <a:latin typeface="+mn-lt"/>
                <a:ea typeface="Helvetica Neue Light"/>
                <a:cs typeface="Helvetica Neue Light"/>
                <a:sym typeface="Helvetica Neue Light"/>
              </a:rPr>
              <a:t>Human Support</a:t>
            </a:r>
          </a:p>
          <a:p>
            <a:pPr>
              <a:lnSpc>
                <a:spcPct val="125000"/>
              </a:lnSpc>
              <a:buFont typeface="Helvetica Neue Light"/>
              <a:buChar char="•"/>
            </a:pPr>
            <a:r>
              <a:rPr lang="en-US" sz="2400" dirty="0">
                <a:latin typeface="+mn-lt"/>
                <a:ea typeface="Helvetica Neue Light"/>
                <a:cs typeface="Helvetica Neue Light"/>
                <a:sym typeface="Helvetica Neue Light"/>
              </a:rPr>
              <a:t>Training Materials &amp; Workshops</a:t>
            </a:r>
          </a:p>
          <a:p>
            <a:pPr>
              <a:lnSpc>
                <a:spcPct val="125000"/>
              </a:lnSpc>
              <a:buFont typeface="Helvetica Neue Light"/>
              <a:buChar char="•"/>
            </a:pPr>
            <a:r>
              <a:rPr lang="en-US" sz="2400" dirty="0">
                <a:latin typeface="+mn-lt"/>
                <a:ea typeface="Helvetica Neue Light"/>
                <a:cs typeface="Helvetica Neue Light"/>
                <a:sym typeface="Helvetica Neue Light"/>
              </a:rPr>
              <a:t>Consultations &amp; Office Hours</a:t>
            </a:r>
          </a:p>
          <a:p>
            <a:pPr>
              <a:lnSpc>
                <a:spcPct val="125000"/>
              </a:lnSpc>
              <a:buFont typeface="Helvetica Neue Light"/>
              <a:buChar char="•"/>
            </a:pPr>
            <a:r>
              <a:rPr lang="en-US" sz="2400" dirty="0">
                <a:latin typeface="+mn-lt"/>
                <a:ea typeface="Helvetica Neue Light"/>
                <a:cs typeface="Helvetica Neue Light"/>
                <a:sym typeface="Helvetica Neue Light"/>
              </a:rPr>
              <a:t>Help Tickets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sldNum" idx="12"/>
          </p:nvPr>
        </p:nvSpPr>
        <p:spPr>
          <a:xfrm>
            <a:off x="6096000" y="6332496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 dirty="0"/>
          </a:p>
        </p:txBody>
      </p:sp>
      <p:sp>
        <p:nvSpPr>
          <p:cNvPr id="136" name="Google Shape;136;p19"/>
          <p:cNvSpPr txBox="1"/>
          <p:nvPr/>
        </p:nvSpPr>
        <p:spPr>
          <a:xfrm>
            <a:off x="1455124" y="4708023"/>
            <a:ext cx="3359418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Helvetica Neue"/>
                <a:ea typeface="Helvetica Neue"/>
                <a:cs typeface="Helvetica Neue"/>
                <a:sym typeface="Helvetica Neue"/>
              </a:rPr>
              <a:t>Ask Questions</a:t>
            </a:r>
            <a:endParaRPr sz="3200" b="1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" name="Graphic 4" descr="Questions with solid fill">
            <a:extLst>
              <a:ext uri="{FF2B5EF4-FFF2-40B4-BE49-F238E27FC236}">
                <a16:creationId xmlns:a16="http://schemas.microsoft.com/office/drawing/2014/main" id="{81316737-E39C-896D-10BE-E6C435DF93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7433" y="931762"/>
            <a:ext cx="4114800" cy="4114800"/>
          </a:xfrm>
          <a:prstGeom prst="rect">
            <a:avLst/>
          </a:prstGeom>
        </p:spPr>
      </p:pic>
      <p:pic>
        <p:nvPicPr>
          <p:cNvPr id="9" name="Graphic 8" descr="Customer review with solid fill">
            <a:extLst>
              <a:ext uri="{FF2B5EF4-FFF2-40B4-BE49-F238E27FC236}">
                <a16:creationId xmlns:a16="http://schemas.microsoft.com/office/drawing/2014/main" id="{AC279A59-6358-4FCD-52B7-1A20C27F6C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9769" y="931762"/>
            <a:ext cx="4114800" cy="4114800"/>
          </a:xfrm>
          <a:prstGeom prst="rect">
            <a:avLst/>
          </a:prstGeom>
        </p:spPr>
      </p:pic>
      <p:sp>
        <p:nvSpPr>
          <p:cNvPr id="12" name="Google Shape;136;p19">
            <a:extLst>
              <a:ext uri="{FF2B5EF4-FFF2-40B4-BE49-F238E27FC236}">
                <a16:creationId xmlns:a16="http://schemas.microsoft.com/office/drawing/2014/main" id="{BCECCE21-9B35-3255-DD90-BBE281692F1F}"/>
              </a:ext>
            </a:extLst>
          </p:cNvPr>
          <p:cNvSpPr txBox="1"/>
          <p:nvPr/>
        </p:nvSpPr>
        <p:spPr>
          <a:xfrm>
            <a:off x="7377460" y="4708023"/>
            <a:ext cx="3359418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Helvetica Neue"/>
                <a:ea typeface="Helvetica Neue"/>
                <a:cs typeface="Helvetica Neue"/>
                <a:sym typeface="Helvetica Neue"/>
              </a:rPr>
              <a:t>Discuss Ideas</a:t>
            </a:r>
            <a:endParaRPr sz="3200" b="1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19CB2880-EF02-8286-0BCB-862CCC1A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>
            <a:extLst>
              <a:ext uri="{FF2B5EF4-FFF2-40B4-BE49-F238E27FC236}">
                <a16:creationId xmlns:a16="http://schemas.microsoft.com/office/drawing/2014/main" id="{4A989CE7-2212-F834-8A47-BA395F49EA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Learning Goals</a:t>
            </a:r>
            <a:endParaRPr dirty="0"/>
          </a:p>
        </p:txBody>
      </p:sp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AF43AA40-78DF-8E14-BC0D-626989C4FC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096000" y="6310325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BF10A1B-87C6-3E33-8A6E-55F7DFE18344}"/>
              </a:ext>
            </a:extLst>
          </p:cNvPr>
          <p:cNvSpPr/>
          <p:nvPr/>
        </p:nvSpPr>
        <p:spPr>
          <a:xfrm>
            <a:off x="591024" y="1960061"/>
            <a:ext cx="2468880" cy="2949023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0039CE4-11D0-0B36-6B84-978427DDC8D6}"/>
              </a:ext>
            </a:extLst>
          </p:cNvPr>
          <p:cNvGrpSpPr/>
          <p:nvPr/>
        </p:nvGrpSpPr>
        <p:grpSpPr>
          <a:xfrm>
            <a:off x="828128" y="2316334"/>
            <a:ext cx="1994672" cy="2236476"/>
            <a:chOff x="828128" y="2293919"/>
            <a:chExt cx="1994672" cy="2236476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5DD4239-15AD-1F54-3F34-5E7F10D71359}"/>
                </a:ext>
              </a:extLst>
            </p:cNvPr>
            <p:cNvSpPr txBox="1"/>
            <p:nvPr/>
          </p:nvSpPr>
          <p:spPr>
            <a:xfrm>
              <a:off x="868240" y="3576288"/>
              <a:ext cx="191444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HPC</a:t>
              </a:r>
            </a:p>
            <a:p>
              <a:pPr algn="ctr"/>
              <a:r>
                <a:rPr lang="en-US" sz="2800" b="1" dirty="0"/>
                <a:t>Overview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7193DF6D-25BE-BC86-E045-8CAA4A9ED61F}"/>
                </a:ext>
              </a:extLst>
            </p:cNvPr>
            <p:cNvGrpSpPr/>
            <p:nvPr/>
          </p:nvGrpSpPr>
          <p:grpSpPr>
            <a:xfrm>
              <a:off x="828128" y="2293919"/>
              <a:ext cx="1994672" cy="1046573"/>
              <a:chOff x="838200" y="2198126"/>
              <a:chExt cx="1994672" cy="1046573"/>
            </a:xfrm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C0A07F72-96A8-B7D5-2264-71C8A50C5742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EE0172E1-B089-019D-074B-49BF36F88A94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70A8A70C-D8DF-E3A9-B55B-D36A812A3412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4B784BA-481B-C67E-02C3-9C87AA96A795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41801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3FFD3925-ED68-4A09-4929-F00E7A54B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>
            <a:extLst>
              <a:ext uri="{FF2B5EF4-FFF2-40B4-BE49-F238E27FC236}">
                <a16:creationId xmlns:a16="http://schemas.microsoft.com/office/drawing/2014/main" id="{9A552287-30FD-AA2C-92BB-4316476BD1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Learning Goals</a:t>
            </a:r>
            <a:endParaRPr dirty="0"/>
          </a:p>
        </p:txBody>
      </p:sp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9522589A-B447-9525-98E8-10D7A3E114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096000" y="6310325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A0E4E1F-0A01-D275-1417-9F72158690C3}"/>
              </a:ext>
            </a:extLst>
          </p:cNvPr>
          <p:cNvSpPr/>
          <p:nvPr/>
        </p:nvSpPr>
        <p:spPr>
          <a:xfrm>
            <a:off x="591024" y="1960061"/>
            <a:ext cx="2468880" cy="2949023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5CB94C8-A242-D5EE-E15B-2D1F3064F8CC}"/>
              </a:ext>
            </a:extLst>
          </p:cNvPr>
          <p:cNvSpPr/>
          <p:nvPr/>
        </p:nvSpPr>
        <p:spPr>
          <a:xfrm>
            <a:off x="3471280" y="1960061"/>
            <a:ext cx="2468880" cy="2949023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9" name="Graphic 38" descr="Processor with solid fill">
            <a:extLst>
              <a:ext uri="{FF2B5EF4-FFF2-40B4-BE49-F238E27FC236}">
                <a16:creationId xmlns:a16="http://schemas.microsoft.com/office/drawing/2014/main" id="{E580E8F8-5118-0C2C-0C0D-8F68EFE7D7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4200" y="2110541"/>
            <a:ext cx="1463040" cy="146304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9CDB92A-9B32-665D-1155-E2828357C9A8}"/>
              </a:ext>
            </a:extLst>
          </p:cNvPr>
          <p:cNvSpPr txBox="1"/>
          <p:nvPr/>
        </p:nvSpPr>
        <p:spPr>
          <a:xfrm>
            <a:off x="3748496" y="3598703"/>
            <a:ext cx="19144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Nodes &amp;</a:t>
            </a:r>
          </a:p>
          <a:p>
            <a:pPr algn="ctr"/>
            <a:r>
              <a:rPr lang="en-US" sz="2800" b="1" dirty="0"/>
              <a:t>Partitions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BB02E7-A689-A6DA-C8D6-C580DD03AAEE}"/>
              </a:ext>
            </a:extLst>
          </p:cNvPr>
          <p:cNvSpPr txBox="1"/>
          <p:nvPr/>
        </p:nvSpPr>
        <p:spPr>
          <a:xfrm>
            <a:off x="868240" y="3598703"/>
            <a:ext cx="19144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HPC</a:t>
            </a:r>
          </a:p>
          <a:p>
            <a:pPr algn="ctr"/>
            <a:r>
              <a:rPr lang="en-US" sz="2800" b="1" dirty="0"/>
              <a:t>Overview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35E6649-53E3-092F-4868-80CC565178B0}"/>
              </a:ext>
            </a:extLst>
          </p:cNvPr>
          <p:cNvGrpSpPr/>
          <p:nvPr/>
        </p:nvGrpSpPr>
        <p:grpSpPr>
          <a:xfrm>
            <a:off x="828128" y="2316334"/>
            <a:ext cx="1994672" cy="1046573"/>
            <a:chOff x="838200" y="2198126"/>
            <a:chExt cx="1994672" cy="1046573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19C8C92-4D5F-A716-C43E-385F64115C10}"/>
                </a:ext>
              </a:extLst>
            </p:cNvPr>
            <p:cNvSpPr/>
            <p:nvPr/>
          </p:nvSpPr>
          <p:spPr>
            <a:xfrm>
              <a:off x="838200" y="2198128"/>
              <a:ext cx="520540" cy="1046571"/>
            </a:xfrm>
            <a:custGeom>
              <a:avLst/>
              <a:gdLst>
                <a:gd name="connsiteX0" fmla="*/ 621413 w 724981"/>
                <a:gd name="connsiteY0" fmla="*/ 258922 h 1449962"/>
                <a:gd name="connsiteX1" fmla="*/ 103569 w 724981"/>
                <a:gd name="connsiteY1" fmla="*/ 258922 h 1449962"/>
                <a:gd name="connsiteX2" fmla="*/ 103569 w 724981"/>
                <a:gd name="connsiteY2" fmla="*/ 103569 h 1449962"/>
                <a:gd name="connsiteX3" fmla="*/ 621413 w 724981"/>
                <a:gd name="connsiteY3" fmla="*/ 103569 h 1449962"/>
                <a:gd name="connsiteX4" fmla="*/ 621413 w 724981"/>
                <a:gd name="connsiteY4" fmla="*/ 258922 h 1449962"/>
                <a:gd name="connsiteX5" fmla="*/ 621413 w 724981"/>
                <a:gd name="connsiteY5" fmla="*/ 517844 h 1449962"/>
                <a:gd name="connsiteX6" fmla="*/ 103569 w 724981"/>
                <a:gd name="connsiteY6" fmla="*/ 517844 h 1449962"/>
                <a:gd name="connsiteX7" fmla="*/ 103569 w 724981"/>
                <a:gd name="connsiteY7" fmla="*/ 362491 h 1449962"/>
                <a:gd name="connsiteX8" fmla="*/ 621413 w 724981"/>
                <a:gd name="connsiteY8" fmla="*/ 362491 h 1449962"/>
                <a:gd name="connsiteX9" fmla="*/ 621413 w 724981"/>
                <a:gd name="connsiteY9" fmla="*/ 517844 h 1449962"/>
                <a:gd name="connsiteX10" fmla="*/ 362491 w 724981"/>
                <a:gd name="connsiteY10" fmla="*/ 1294609 h 1449962"/>
                <a:gd name="connsiteX11" fmla="*/ 284814 w 724981"/>
                <a:gd name="connsiteY11" fmla="*/ 1216933 h 1449962"/>
                <a:gd name="connsiteX12" fmla="*/ 362491 w 724981"/>
                <a:gd name="connsiteY12" fmla="*/ 1139256 h 1449962"/>
                <a:gd name="connsiteX13" fmla="*/ 440167 w 724981"/>
                <a:gd name="connsiteY13" fmla="*/ 1216933 h 1449962"/>
                <a:gd name="connsiteX14" fmla="*/ 362491 w 724981"/>
                <a:gd name="connsiteY14" fmla="*/ 1294609 h 1449962"/>
                <a:gd name="connsiteX15" fmla="*/ 621413 w 724981"/>
                <a:gd name="connsiteY15" fmla="*/ 0 h 1449962"/>
                <a:gd name="connsiteX16" fmla="*/ 103569 w 724981"/>
                <a:gd name="connsiteY16" fmla="*/ 0 h 1449962"/>
                <a:gd name="connsiteX17" fmla="*/ 0 w 724981"/>
                <a:gd name="connsiteY17" fmla="*/ 103569 h 1449962"/>
                <a:gd name="connsiteX18" fmla="*/ 0 w 724981"/>
                <a:gd name="connsiteY18" fmla="*/ 1346394 h 1449962"/>
                <a:gd name="connsiteX19" fmla="*/ 103569 w 724981"/>
                <a:gd name="connsiteY19" fmla="*/ 1449963 h 1449962"/>
                <a:gd name="connsiteX20" fmla="*/ 621413 w 724981"/>
                <a:gd name="connsiteY20" fmla="*/ 1449963 h 1449962"/>
                <a:gd name="connsiteX21" fmla="*/ 724981 w 724981"/>
                <a:gd name="connsiteY21" fmla="*/ 1346394 h 1449962"/>
                <a:gd name="connsiteX22" fmla="*/ 724981 w 724981"/>
                <a:gd name="connsiteY22" fmla="*/ 103569 h 1449962"/>
                <a:gd name="connsiteX23" fmla="*/ 621413 w 724981"/>
                <a:gd name="connsiteY23" fmla="*/ 0 h 144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24981" h="1449962">
                  <a:moveTo>
                    <a:pt x="621413" y="258922"/>
                  </a:moveTo>
                  <a:lnTo>
                    <a:pt x="103569" y="258922"/>
                  </a:lnTo>
                  <a:lnTo>
                    <a:pt x="103569" y="103569"/>
                  </a:lnTo>
                  <a:lnTo>
                    <a:pt x="621413" y="103569"/>
                  </a:lnTo>
                  <a:lnTo>
                    <a:pt x="621413" y="258922"/>
                  </a:lnTo>
                  <a:close/>
                  <a:moveTo>
                    <a:pt x="621413" y="517844"/>
                  </a:moveTo>
                  <a:lnTo>
                    <a:pt x="103569" y="517844"/>
                  </a:lnTo>
                  <a:lnTo>
                    <a:pt x="103569" y="362491"/>
                  </a:lnTo>
                  <a:lnTo>
                    <a:pt x="621413" y="362491"/>
                  </a:lnTo>
                  <a:lnTo>
                    <a:pt x="621413" y="517844"/>
                  </a:lnTo>
                  <a:close/>
                  <a:moveTo>
                    <a:pt x="362491" y="1294609"/>
                  </a:moveTo>
                  <a:cubicBezTo>
                    <a:pt x="318474" y="1294609"/>
                    <a:pt x="284814" y="1260950"/>
                    <a:pt x="284814" y="1216933"/>
                  </a:cubicBezTo>
                  <a:cubicBezTo>
                    <a:pt x="284814" y="1172916"/>
                    <a:pt x="318474" y="1139256"/>
                    <a:pt x="362491" y="1139256"/>
                  </a:cubicBezTo>
                  <a:cubicBezTo>
                    <a:pt x="406507" y="1139256"/>
                    <a:pt x="440167" y="1172916"/>
                    <a:pt x="440167" y="1216933"/>
                  </a:cubicBezTo>
                  <a:cubicBezTo>
                    <a:pt x="440167" y="1260950"/>
                    <a:pt x="406507" y="1294609"/>
                    <a:pt x="362491" y="1294609"/>
                  </a:cubicBezTo>
                  <a:close/>
                  <a:moveTo>
                    <a:pt x="621413" y="0"/>
                  </a:moveTo>
                  <a:lnTo>
                    <a:pt x="103569" y="0"/>
                  </a:lnTo>
                  <a:cubicBezTo>
                    <a:pt x="46606" y="0"/>
                    <a:pt x="0" y="46606"/>
                    <a:pt x="0" y="103569"/>
                  </a:cubicBezTo>
                  <a:lnTo>
                    <a:pt x="0" y="1346394"/>
                  </a:lnTo>
                  <a:cubicBezTo>
                    <a:pt x="0" y="1403357"/>
                    <a:pt x="46606" y="1449963"/>
                    <a:pt x="103569" y="1449963"/>
                  </a:cubicBezTo>
                  <a:lnTo>
                    <a:pt x="621413" y="1449963"/>
                  </a:lnTo>
                  <a:cubicBezTo>
                    <a:pt x="678375" y="1449963"/>
                    <a:pt x="724981" y="1403357"/>
                    <a:pt x="724981" y="1346394"/>
                  </a:cubicBezTo>
                  <a:lnTo>
                    <a:pt x="724981" y="103569"/>
                  </a:lnTo>
                  <a:cubicBezTo>
                    <a:pt x="724981" y="46606"/>
                    <a:pt x="678375" y="0"/>
                    <a:pt x="621413" y="0"/>
                  </a:cubicBezTo>
                  <a:close/>
                </a:path>
              </a:pathLst>
            </a:custGeom>
            <a:solidFill>
              <a:srgbClr val="000000"/>
            </a:solidFill>
            <a:ln w="25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D277553A-9144-62F3-EF19-58661545BA6F}"/>
                </a:ext>
              </a:extLst>
            </p:cNvPr>
            <p:cNvSpPr/>
            <p:nvPr/>
          </p:nvSpPr>
          <p:spPr>
            <a:xfrm>
              <a:off x="1575266" y="2198127"/>
              <a:ext cx="520540" cy="1046571"/>
            </a:xfrm>
            <a:custGeom>
              <a:avLst/>
              <a:gdLst>
                <a:gd name="connsiteX0" fmla="*/ 621413 w 724981"/>
                <a:gd name="connsiteY0" fmla="*/ 258922 h 1449962"/>
                <a:gd name="connsiteX1" fmla="*/ 103569 w 724981"/>
                <a:gd name="connsiteY1" fmla="*/ 258922 h 1449962"/>
                <a:gd name="connsiteX2" fmla="*/ 103569 w 724981"/>
                <a:gd name="connsiteY2" fmla="*/ 103569 h 1449962"/>
                <a:gd name="connsiteX3" fmla="*/ 621413 w 724981"/>
                <a:gd name="connsiteY3" fmla="*/ 103569 h 1449962"/>
                <a:gd name="connsiteX4" fmla="*/ 621413 w 724981"/>
                <a:gd name="connsiteY4" fmla="*/ 258922 h 1449962"/>
                <a:gd name="connsiteX5" fmla="*/ 621413 w 724981"/>
                <a:gd name="connsiteY5" fmla="*/ 517844 h 1449962"/>
                <a:gd name="connsiteX6" fmla="*/ 103569 w 724981"/>
                <a:gd name="connsiteY6" fmla="*/ 517844 h 1449962"/>
                <a:gd name="connsiteX7" fmla="*/ 103569 w 724981"/>
                <a:gd name="connsiteY7" fmla="*/ 362491 h 1449962"/>
                <a:gd name="connsiteX8" fmla="*/ 621413 w 724981"/>
                <a:gd name="connsiteY8" fmla="*/ 362491 h 1449962"/>
                <a:gd name="connsiteX9" fmla="*/ 621413 w 724981"/>
                <a:gd name="connsiteY9" fmla="*/ 517844 h 1449962"/>
                <a:gd name="connsiteX10" fmla="*/ 362491 w 724981"/>
                <a:gd name="connsiteY10" fmla="*/ 1294609 h 1449962"/>
                <a:gd name="connsiteX11" fmla="*/ 284814 w 724981"/>
                <a:gd name="connsiteY11" fmla="*/ 1216933 h 1449962"/>
                <a:gd name="connsiteX12" fmla="*/ 362491 w 724981"/>
                <a:gd name="connsiteY12" fmla="*/ 1139256 h 1449962"/>
                <a:gd name="connsiteX13" fmla="*/ 440167 w 724981"/>
                <a:gd name="connsiteY13" fmla="*/ 1216933 h 1449962"/>
                <a:gd name="connsiteX14" fmla="*/ 362491 w 724981"/>
                <a:gd name="connsiteY14" fmla="*/ 1294609 h 1449962"/>
                <a:gd name="connsiteX15" fmla="*/ 621413 w 724981"/>
                <a:gd name="connsiteY15" fmla="*/ 0 h 1449962"/>
                <a:gd name="connsiteX16" fmla="*/ 103569 w 724981"/>
                <a:gd name="connsiteY16" fmla="*/ 0 h 1449962"/>
                <a:gd name="connsiteX17" fmla="*/ 0 w 724981"/>
                <a:gd name="connsiteY17" fmla="*/ 103569 h 1449962"/>
                <a:gd name="connsiteX18" fmla="*/ 0 w 724981"/>
                <a:gd name="connsiteY18" fmla="*/ 1346394 h 1449962"/>
                <a:gd name="connsiteX19" fmla="*/ 103569 w 724981"/>
                <a:gd name="connsiteY19" fmla="*/ 1449963 h 1449962"/>
                <a:gd name="connsiteX20" fmla="*/ 621413 w 724981"/>
                <a:gd name="connsiteY20" fmla="*/ 1449963 h 1449962"/>
                <a:gd name="connsiteX21" fmla="*/ 724981 w 724981"/>
                <a:gd name="connsiteY21" fmla="*/ 1346394 h 1449962"/>
                <a:gd name="connsiteX22" fmla="*/ 724981 w 724981"/>
                <a:gd name="connsiteY22" fmla="*/ 103569 h 1449962"/>
                <a:gd name="connsiteX23" fmla="*/ 621413 w 724981"/>
                <a:gd name="connsiteY23" fmla="*/ 0 h 144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24981" h="1449962">
                  <a:moveTo>
                    <a:pt x="621413" y="258922"/>
                  </a:moveTo>
                  <a:lnTo>
                    <a:pt x="103569" y="258922"/>
                  </a:lnTo>
                  <a:lnTo>
                    <a:pt x="103569" y="103569"/>
                  </a:lnTo>
                  <a:lnTo>
                    <a:pt x="621413" y="103569"/>
                  </a:lnTo>
                  <a:lnTo>
                    <a:pt x="621413" y="258922"/>
                  </a:lnTo>
                  <a:close/>
                  <a:moveTo>
                    <a:pt x="621413" y="517844"/>
                  </a:moveTo>
                  <a:lnTo>
                    <a:pt x="103569" y="517844"/>
                  </a:lnTo>
                  <a:lnTo>
                    <a:pt x="103569" y="362491"/>
                  </a:lnTo>
                  <a:lnTo>
                    <a:pt x="621413" y="362491"/>
                  </a:lnTo>
                  <a:lnTo>
                    <a:pt x="621413" y="517844"/>
                  </a:lnTo>
                  <a:close/>
                  <a:moveTo>
                    <a:pt x="362491" y="1294609"/>
                  </a:moveTo>
                  <a:cubicBezTo>
                    <a:pt x="318474" y="1294609"/>
                    <a:pt x="284814" y="1260950"/>
                    <a:pt x="284814" y="1216933"/>
                  </a:cubicBezTo>
                  <a:cubicBezTo>
                    <a:pt x="284814" y="1172916"/>
                    <a:pt x="318474" y="1139256"/>
                    <a:pt x="362491" y="1139256"/>
                  </a:cubicBezTo>
                  <a:cubicBezTo>
                    <a:pt x="406507" y="1139256"/>
                    <a:pt x="440167" y="1172916"/>
                    <a:pt x="440167" y="1216933"/>
                  </a:cubicBezTo>
                  <a:cubicBezTo>
                    <a:pt x="440167" y="1260950"/>
                    <a:pt x="406507" y="1294609"/>
                    <a:pt x="362491" y="1294609"/>
                  </a:cubicBezTo>
                  <a:close/>
                  <a:moveTo>
                    <a:pt x="621413" y="0"/>
                  </a:moveTo>
                  <a:lnTo>
                    <a:pt x="103569" y="0"/>
                  </a:lnTo>
                  <a:cubicBezTo>
                    <a:pt x="46606" y="0"/>
                    <a:pt x="0" y="46606"/>
                    <a:pt x="0" y="103569"/>
                  </a:cubicBezTo>
                  <a:lnTo>
                    <a:pt x="0" y="1346394"/>
                  </a:lnTo>
                  <a:cubicBezTo>
                    <a:pt x="0" y="1403357"/>
                    <a:pt x="46606" y="1449963"/>
                    <a:pt x="103569" y="1449963"/>
                  </a:cubicBezTo>
                  <a:lnTo>
                    <a:pt x="621413" y="1449963"/>
                  </a:lnTo>
                  <a:cubicBezTo>
                    <a:pt x="678375" y="1449963"/>
                    <a:pt x="724981" y="1403357"/>
                    <a:pt x="724981" y="1346394"/>
                  </a:cubicBezTo>
                  <a:lnTo>
                    <a:pt x="724981" y="103569"/>
                  </a:lnTo>
                  <a:cubicBezTo>
                    <a:pt x="724981" y="46606"/>
                    <a:pt x="678375" y="0"/>
                    <a:pt x="621413" y="0"/>
                  </a:cubicBezTo>
                  <a:close/>
                </a:path>
              </a:pathLst>
            </a:custGeom>
            <a:solidFill>
              <a:srgbClr val="000000"/>
            </a:solidFill>
            <a:ln w="25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560AFF1-D3A2-4683-5E54-BC57F5FBC58E}"/>
                </a:ext>
              </a:extLst>
            </p:cNvPr>
            <p:cNvSpPr/>
            <p:nvPr/>
          </p:nvSpPr>
          <p:spPr>
            <a:xfrm>
              <a:off x="2312332" y="2198126"/>
              <a:ext cx="520540" cy="1046571"/>
            </a:xfrm>
            <a:custGeom>
              <a:avLst/>
              <a:gdLst>
                <a:gd name="connsiteX0" fmla="*/ 621413 w 724981"/>
                <a:gd name="connsiteY0" fmla="*/ 258922 h 1449962"/>
                <a:gd name="connsiteX1" fmla="*/ 103569 w 724981"/>
                <a:gd name="connsiteY1" fmla="*/ 258922 h 1449962"/>
                <a:gd name="connsiteX2" fmla="*/ 103569 w 724981"/>
                <a:gd name="connsiteY2" fmla="*/ 103569 h 1449962"/>
                <a:gd name="connsiteX3" fmla="*/ 621413 w 724981"/>
                <a:gd name="connsiteY3" fmla="*/ 103569 h 1449962"/>
                <a:gd name="connsiteX4" fmla="*/ 621413 w 724981"/>
                <a:gd name="connsiteY4" fmla="*/ 258922 h 1449962"/>
                <a:gd name="connsiteX5" fmla="*/ 621413 w 724981"/>
                <a:gd name="connsiteY5" fmla="*/ 517844 h 1449962"/>
                <a:gd name="connsiteX6" fmla="*/ 103569 w 724981"/>
                <a:gd name="connsiteY6" fmla="*/ 517844 h 1449962"/>
                <a:gd name="connsiteX7" fmla="*/ 103569 w 724981"/>
                <a:gd name="connsiteY7" fmla="*/ 362491 h 1449962"/>
                <a:gd name="connsiteX8" fmla="*/ 621413 w 724981"/>
                <a:gd name="connsiteY8" fmla="*/ 362491 h 1449962"/>
                <a:gd name="connsiteX9" fmla="*/ 621413 w 724981"/>
                <a:gd name="connsiteY9" fmla="*/ 517844 h 1449962"/>
                <a:gd name="connsiteX10" fmla="*/ 362491 w 724981"/>
                <a:gd name="connsiteY10" fmla="*/ 1294609 h 1449962"/>
                <a:gd name="connsiteX11" fmla="*/ 284814 w 724981"/>
                <a:gd name="connsiteY11" fmla="*/ 1216933 h 1449962"/>
                <a:gd name="connsiteX12" fmla="*/ 362491 w 724981"/>
                <a:gd name="connsiteY12" fmla="*/ 1139256 h 1449962"/>
                <a:gd name="connsiteX13" fmla="*/ 440167 w 724981"/>
                <a:gd name="connsiteY13" fmla="*/ 1216933 h 1449962"/>
                <a:gd name="connsiteX14" fmla="*/ 362491 w 724981"/>
                <a:gd name="connsiteY14" fmla="*/ 1294609 h 1449962"/>
                <a:gd name="connsiteX15" fmla="*/ 621413 w 724981"/>
                <a:gd name="connsiteY15" fmla="*/ 0 h 1449962"/>
                <a:gd name="connsiteX16" fmla="*/ 103569 w 724981"/>
                <a:gd name="connsiteY16" fmla="*/ 0 h 1449962"/>
                <a:gd name="connsiteX17" fmla="*/ 0 w 724981"/>
                <a:gd name="connsiteY17" fmla="*/ 103569 h 1449962"/>
                <a:gd name="connsiteX18" fmla="*/ 0 w 724981"/>
                <a:gd name="connsiteY18" fmla="*/ 1346394 h 1449962"/>
                <a:gd name="connsiteX19" fmla="*/ 103569 w 724981"/>
                <a:gd name="connsiteY19" fmla="*/ 1449963 h 1449962"/>
                <a:gd name="connsiteX20" fmla="*/ 621413 w 724981"/>
                <a:gd name="connsiteY20" fmla="*/ 1449963 h 1449962"/>
                <a:gd name="connsiteX21" fmla="*/ 724981 w 724981"/>
                <a:gd name="connsiteY21" fmla="*/ 1346394 h 1449962"/>
                <a:gd name="connsiteX22" fmla="*/ 724981 w 724981"/>
                <a:gd name="connsiteY22" fmla="*/ 103569 h 1449962"/>
                <a:gd name="connsiteX23" fmla="*/ 621413 w 724981"/>
                <a:gd name="connsiteY23" fmla="*/ 0 h 144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24981" h="1449962">
                  <a:moveTo>
                    <a:pt x="621413" y="258922"/>
                  </a:moveTo>
                  <a:lnTo>
                    <a:pt x="103569" y="258922"/>
                  </a:lnTo>
                  <a:lnTo>
                    <a:pt x="103569" y="103569"/>
                  </a:lnTo>
                  <a:lnTo>
                    <a:pt x="621413" y="103569"/>
                  </a:lnTo>
                  <a:lnTo>
                    <a:pt x="621413" y="258922"/>
                  </a:lnTo>
                  <a:close/>
                  <a:moveTo>
                    <a:pt x="621413" y="517844"/>
                  </a:moveTo>
                  <a:lnTo>
                    <a:pt x="103569" y="517844"/>
                  </a:lnTo>
                  <a:lnTo>
                    <a:pt x="103569" y="362491"/>
                  </a:lnTo>
                  <a:lnTo>
                    <a:pt x="621413" y="362491"/>
                  </a:lnTo>
                  <a:lnTo>
                    <a:pt x="621413" y="517844"/>
                  </a:lnTo>
                  <a:close/>
                  <a:moveTo>
                    <a:pt x="362491" y="1294609"/>
                  </a:moveTo>
                  <a:cubicBezTo>
                    <a:pt x="318474" y="1294609"/>
                    <a:pt x="284814" y="1260950"/>
                    <a:pt x="284814" y="1216933"/>
                  </a:cubicBezTo>
                  <a:cubicBezTo>
                    <a:pt x="284814" y="1172916"/>
                    <a:pt x="318474" y="1139256"/>
                    <a:pt x="362491" y="1139256"/>
                  </a:cubicBezTo>
                  <a:cubicBezTo>
                    <a:pt x="406507" y="1139256"/>
                    <a:pt x="440167" y="1172916"/>
                    <a:pt x="440167" y="1216933"/>
                  </a:cubicBezTo>
                  <a:cubicBezTo>
                    <a:pt x="440167" y="1260950"/>
                    <a:pt x="406507" y="1294609"/>
                    <a:pt x="362491" y="1294609"/>
                  </a:cubicBezTo>
                  <a:close/>
                  <a:moveTo>
                    <a:pt x="621413" y="0"/>
                  </a:moveTo>
                  <a:lnTo>
                    <a:pt x="103569" y="0"/>
                  </a:lnTo>
                  <a:cubicBezTo>
                    <a:pt x="46606" y="0"/>
                    <a:pt x="0" y="46606"/>
                    <a:pt x="0" y="103569"/>
                  </a:cubicBezTo>
                  <a:lnTo>
                    <a:pt x="0" y="1346394"/>
                  </a:lnTo>
                  <a:cubicBezTo>
                    <a:pt x="0" y="1403357"/>
                    <a:pt x="46606" y="1449963"/>
                    <a:pt x="103569" y="1449963"/>
                  </a:cubicBezTo>
                  <a:lnTo>
                    <a:pt x="621413" y="1449963"/>
                  </a:lnTo>
                  <a:cubicBezTo>
                    <a:pt x="678375" y="1449963"/>
                    <a:pt x="724981" y="1403357"/>
                    <a:pt x="724981" y="1346394"/>
                  </a:cubicBezTo>
                  <a:lnTo>
                    <a:pt x="724981" y="103569"/>
                  </a:lnTo>
                  <a:cubicBezTo>
                    <a:pt x="724981" y="46606"/>
                    <a:pt x="678375" y="0"/>
                    <a:pt x="621413" y="0"/>
                  </a:cubicBezTo>
                  <a:close/>
                </a:path>
              </a:pathLst>
            </a:custGeom>
            <a:solidFill>
              <a:srgbClr val="000000"/>
            </a:solidFill>
            <a:ln w="25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4E8E8B9-D394-DC7B-50AF-EA6A7612EDBA}"/>
                </a:ext>
              </a:extLst>
            </p:cNvPr>
            <p:cNvSpPr/>
            <p:nvPr/>
          </p:nvSpPr>
          <p:spPr>
            <a:xfrm>
              <a:off x="1121609" y="2746249"/>
              <a:ext cx="1463888" cy="15420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61630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E66FC4B8-6DE3-E5D8-7690-7E7399B08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>
            <a:extLst>
              <a:ext uri="{FF2B5EF4-FFF2-40B4-BE49-F238E27FC236}">
                <a16:creationId xmlns:a16="http://schemas.microsoft.com/office/drawing/2014/main" id="{21D4DCE1-26AC-4E60-87C7-6959B3C698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Learning Goals</a:t>
            </a:r>
            <a:endParaRPr dirty="0"/>
          </a:p>
        </p:txBody>
      </p:sp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365356EF-653F-221A-DB12-808D1C0317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096000" y="6310325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9529C9A-771E-5E68-B115-C4045D1C9098}"/>
              </a:ext>
            </a:extLst>
          </p:cNvPr>
          <p:cNvSpPr/>
          <p:nvPr/>
        </p:nvSpPr>
        <p:spPr>
          <a:xfrm>
            <a:off x="591024" y="1960061"/>
            <a:ext cx="2468880" cy="2949023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5795FA3-4F09-4929-96B7-D1939EC699DE}"/>
              </a:ext>
            </a:extLst>
          </p:cNvPr>
          <p:cNvSpPr/>
          <p:nvPr/>
        </p:nvSpPr>
        <p:spPr>
          <a:xfrm>
            <a:off x="3471280" y="1960061"/>
            <a:ext cx="2468880" cy="2949023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FEE9042-2BDB-A758-C401-B2550CF9C6A1}"/>
              </a:ext>
            </a:extLst>
          </p:cNvPr>
          <p:cNvSpPr/>
          <p:nvPr/>
        </p:nvSpPr>
        <p:spPr>
          <a:xfrm>
            <a:off x="6351536" y="1948917"/>
            <a:ext cx="2468880" cy="2960167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9" name="Graphic 38" descr="Processor with solid fill">
            <a:extLst>
              <a:ext uri="{FF2B5EF4-FFF2-40B4-BE49-F238E27FC236}">
                <a16:creationId xmlns:a16="http://schemas.microsoft.com/office/drawing/2014/main" id="{05B5215E-26F4-0326-A725-324DB9A534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4200" y="2110541"/>
            <a:ext cx="1463040" cy="146304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23402799-2D27-458B-6189-90875F93FE86}"/>
              </a:ext>
            </a:extLst>
          </p:cNvPr>
          <p:cNvSpPr txBox="1"/>
          <p:nvPr/>
        </p:nvSpPr>
        <p:spPr>
          <a:xfrm>
            <a:off x="3748496" y="3598703"/>
            <a:ext cx="19144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Nodes &amp;</a:t>
            </a:r>
          </a:p>
          <a:p>
            <a:pPr algn="ctr"/>
            <a:r>
              <a:rPr lang="en-US" sz="2800" b="1" dirty="0"/>
              <a:t>Partitions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99C47F-A12D-F96C-2637-75FDBAEE084D}"/>
              </a:ext>
            </a:extLst>
          </p:cNvPr>
          <p:cNvSpPr txBox="1"/>
          <p:nvPr/>
        </p:nvSpPr>
        <p:spPr>
          <a:xfrm>
            <a:off x="6628752" y="3598702"/>
            <a:ext cx="19144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Data</a:t>
            </a:r>
          </a:p>
          <a:p>
            <a:pPr algn="ctr"/>
            <a:r>
              <a:rPr lang="en-US" sz="2800" b="1" dirty="0"/>
              <a:t>Storage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F524F0-BE54-8169-B255-F67EE61E253E}"/>
              </a:ext>
            </a:extLst>
          </p:cNvPr>
          <p:cNvSpPr txBox="1"/>
          <p:nvPr/>
        </p:nvSpPr>
        <p:spPr>
          <a:xfrm>
            <a:off x="868240" y="3598703"/>
            <a:ext cx="19144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HPC</a:t>
            </a:r>
          </a:p>
          <a:p>
            <a:pPr algn="ctr"/>
            <a:r>
              <a:rPr lang="en-US" sz="2800" b="1" dirty="0"/>
              <a:t>Overview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E4F8E24-1F6B-874B-E01F-6EB6D5874454}"/>
              </a:ext>
            </a:extLst>
          </p:cNvPr>
          <p:cNvGrpSpPr/>
          <p:nvPr/>
        </p:nvGrpSpPr>
        <p:grpSpPr>
          <a:xfrm>
            <a:off x="828128" y="2316334"/>
            <a:ext cx="1994672" cy="1046573"/>
            <a:chOff x="838200" y="2198126"/>
            <a:chExt cx="1994672" cy="1046573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357200B-C2C3-51A6-2B85-F60DF7484195}"/>
                </a:ext>
              </a:extLst>
            </p:cNvPr>
            <p:cNvSpPr/>
            <p:nvPr/>
          </p:nvSpPr>
          <p:spPr>
            <a:xfrm>
              <a:off x="838200" y="2198128"/>
              <a:ext cx="520540" cy="1046571"/>
            </a:xfrm>
            <a:custGeom>
              <a:avLst/>
              <a:gdLst>
                <a:gd name="connsiteX0" fmla="*/ 621413 w 724981"/>
                <a:gd name="connsiteY0" fmla="*/ 258922 h 1449962"/>
                <a:gd name="connsiteX1" fmla="*/ 103569 w 724981"/>
                <a:gd name="connsiteY1" fmla="*/ 258922 h 1449962"/>
                <a:gd name="connsiteX2" fmla="*/ 103569 w 724981"/>
                <a:gd name="connsiteY2" fmla="*/ 103569 h 1449962"/>
                <a:gd name="connsiteX3" fmla="*/ 621413 w 724981"/>
                <a:gd name="connsiteY3" fmla="*/ 103569 h 1449962"/>
                <a:gd name="connsiteX4" fmla="*/ 621413 w 724981"/>
                <a:gd name="connsiteY4" fmla="*/ 258922 h 1449962"/>
                <a:gd name="connsiteX5" fmla="*/ 621413 w 724981"/>
                <a:gd name="connsiteY5" fmla="*/ 517844 h 1449962"/>
                <a:gd name="connsiteX6" fmla="*/ 103569 w 724981"/>
                <a:gd name="connsiteY6" fmla="*/ 517844 h 1449962"/>
                <a:gd name="connsiteX7" fmla="*/ 103569 w 724981"/>
                <a:gd name="connsiteY7" fmla="*/ 362491 h 1449962"/>
                <a:gd name="connsiteX8" fmla="*/ 621413 w 724981"/>
                <a:gd name="connsiteY8" fmla="*/ 362491 h 1449962"/>
                <a:gd name="connsiteX9" fmla="*/ 621413 w 724981"/>
                <a:gd name="connsiteY9" fmla="*/ 517844 h 1449962"/>
                <a:gd name="connsiteX10" fmla="*/ 362491 w 724981"/>
                <a:gd name="connsiteY10" fmla="*/ 1294609 h 1449962"/>
                <a:gd name="connsiteX11" fmla="*/ 284814 w 724981"/>
                <a:gd name="connsiteY11" fmla="*/ 1216933 h 1449962"/>
                <a:gd name="connsiteX12" fmla="*/ 362491 w 724981"/>
                <a:gd name="connsiteY12" fmla="*/ 1139256 h 1449962"/>
                <a:gd name="connsiteX13" fmla="*/ 440167 w 724981"/>
                <a:gd name="connsiteY13" fmla="*/ 1216933 h 1449962"/>
                <a:gd name="connsiteX14" fmla="*/ 362491 w 724981"/>
                <a:gd name="connsiteY14" fmla="*/ 1294609 h 1449962"/>
                <a:gd name="connsiteX15" fmla="*/ 621413 w 724981"/>
                <a:gd name="connsiteY15" fmla="*/ 0 h 1449962"/>
                <a:gd name="connsiteX16" fmla="*/ 103569 w 724981"/>
                <a:gd name="connsiteY16" fmla="*/ 0 h 1449962"/>
                <a:gd name="connsiteX17" fmla="*/ 0 w 724981"/>
                <a:gd name="connsiteY17" fmla="*/ 103569 h 1449962"/>
                <a:gd name="connsiteX18" fmla="*/ 0 w 724981"/>
                <a:gd name="connsiteY18" fmla="*/ 1346394 h 1449962"/>
                <a:gd name="connsiteX19" fmla="*/ 103569 w 724981"/>
                <a:gd name="connsiteY19" fmla="*/ 1449963 h 1449962"/>
                <a:gd name="connsiteX20" fmla="*/ 621413 w 724981"/>
                <a:gd name="connsiteY20" fmla="*/ 1449963 h 1449962"/>
                <a:gd name="connsiteX21" fmla="*/ 724981 w 724981"/>
                <a:gd name="connsiteY21" fmla="*/ 1346394 h 1449962"/>
                <a:gd name="connsiteX22" fmla="*/ 724981 w 724981"/>
                <a:gd name="connsiteY22" fmla="*/ 103569 h 1449962"/>
                <a:gd name="connsiteX23" fmla="*/ 621413 w 724981"/>
                <a:gd name="connsiteY23" fmla="*/ 0 h 144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24981" h="1449962">
                  <a:moveTo>
                    <a:pt x="621413" y="258922"/>
                  </a:moveTo>
                  <a:lnTo>
                    <a:pt x="103569" y="258922"/>
                  </a:lnTo>
                  <a:lnTo>
                    <a:pt x="103569" y="103569"/>
                  </a:lnTo>
                  <a:lnTo>
                    <a:pt x="621413" y="103569"/>
                  </a:lnTo>
                  <a:lnTo>
                    <a:pt x="621413" y="258922"/>
                  </a:lnTo>
                  <a:close/>
                  <a:moveTo>
                    <a:pt x="621413" y="517844"/>
                  </a:moveTo>
                  <a:lnTo>
                    <a:pt x="103569" y="517844"/>
                  </a:lnTo>
                  <a:lnTo>
                    <a:pt x="103569" y="362491"/>
                  </a:lnTo>
                  <a:lnTo>
                    <a:pt x="621413" y="362491"/>
                  </a:lnTo>
                  <a:lnTo>
                    <a:pt x="621413" y="517844"/>
                  </a:lnTo>
                  <a:close/>
                  <a:moveTo>
                    <a:pt x="362491" y="1294609"/>
                  </a:moveTo>
                  <a:cubicBezTo>
                    <a:pt x="318474" y="1294609"/>
                    <a:pt x="284814" y="1260950"/>
                    <a:pt x="284814" y="1216933"/>
                  </a:cubicBezTo>
                  <a:cubicBezTo>
                    <a:pt x="284814" y="1172916"/>
                    <a:pt x="318474" y="1139256"/>
                    <a:pt x="362491" y="1139256"/>
                  </a:cubicBezTo>
                  <a:cubicBezTo>
                    <a:pt x="406507" y="1139256"/>
                    <a:pt x="440167" y="1172916"/>
                    <a:pt x="440167" y="1216933"/>
                  </a:cubicBezTo>
                  <a:cubicBezTo>
                    <a:pt x="440167" y="1260950"/>
                    <a:pt x="406507" y="1294609"/>
                    <a:pt x="362491" y="1294609"/>
                  </a:cubicBezTo>
                  <a:close/>
                  <a:moveTo>
                    <a:pt x="621413" y="0"/>
                  </a:moveTo>
                  <a:lnTo>
                    <a:pt x="103569" y="0"/>
                  </a:lnTo>
                  <a:cubicBezTo>
                    <a:pt x="46606" y="0"/>
                    <a:pt x="0" y="46606"/>
                    <a:pt x="0" y="103569"/>
                  </a:cubicBezTo>
                  <a:lnTo>
                    <a:pt x="0" y="1346394"/>
                  </a:lnTo>
                  <a:cubicBezTo>
                    <a:pt x="0" y="1403357"/>
                    <a:pt x="46606" y="1449963"/>
                    <a:pt x="103569" y="1449963"/>
                  </a:cubicBezTo>
                  <a:lnTo>
                    <a:pt x="621413" y="1449963"/>
                  </a:lnTo>
                  <a:cubicBezTo>
                    <a:pt x="678375" y="1449963"/>
                    <a:pt x="724981" y="1403357"/>
                    <a:pt x="724981" y="1346394"/>
                  </a:cubicBezTo>
                  <a:lnTo>
                    <a:pt x="724981" y="103569"/>
                  </a:lnTo>
                  <a:cubicBezTo>
                    <a:pt x="724981" y="46606"/>
                    <a:pt x="678375" y="0"/>
                    <a:pt x="621413" y="0"/>
                  </a:cubicBezTo>
                  <a:close/>
                </a:path>
              </a:pathLst>
            </a:custGeom>
            <a:solidFill>
              <a:srgbClr val="000000"/>
            </a:solidFill>
            <a:ln w="25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C322DB1-BE75-9F16-759E-AAE358A79426}"/>
                </a:ext>
              </a:extLst>
            </p:cNvPr>
            <p:cNvSpPr/>
            <p:nvPr/>
          </p:nvSpPr>
          <p:spPr>
            <a:xfrm>
              <a:off x="1575266" y="2198127"/>
              <a:ext cx="520540" cy="1046571"/>
            </a:xfrm>
            <a:custGeom>
              <a:avLst/>
              <a:gdLst>
                <a:gd name="connsiteX0" fmla="*/ 621413 w 724981"/>
                <a:gd name="connsiteY0" fmla="*/ 258922 h 1449962"/>
                <a:gd name="connsiteX1" fmla="*/ 103569 w 724981"/>
                <a:gd name="connsiteY1" fmla="*/ 258922 h 1449962"/>
                <a:gd name="connsiteX2" fmla="*/ 103569 w 724981"/>
                <a:gd name="connsiteY2" fmla="*/ 103569 h 1449962"/>
                <a:gd name="connsiteX3" fmla="*/ 621413 w 724981"/>
                <a:gd name="connsiteY3" fmla="*/ 103569 h 1449962"/>
                <a:gd name="connsiteX4" fmla="*/ 621413 w 724981"/>
                <a:gd name="connsiteY4" fmla="*/ 258922 h 1449962"/>
                <a:gd name="connsiteX5" fmla="*/ 621413 w 724981"/>
                <a:gd name="connsiteY5" fmla="*/ 517844 h 1449962"/>
                <a:gd name="connsiteX6" fmla="*/ 103569 w 724981"/>
                <a:gd name="connsiteY6" fmla="*/ 517844 h 1449962"/>
                <a:gd name="connsiteX7" fmla="*/ 103569 w 724981"/>
                <a:gd name="connsiteY7" fmla="*/ 362491 h 1449962"/>
                <a:gd name="connsiteX8" fmla="*/ 621413 w 724981"/>
                <a:gd name="connsiteY8" fmla="*/ 362491 h 1449962"/>
                <a:gd name="connsiteX9" fmla="*/ 621413 w 724981"/>
                <a:gd name="connsiteY9" fmla="*/ 517844 h 1449962"/>
                <a:gd name="connsiteX10" fmla="*/ 362491 w 724981"/>
                <a:gd name="connsiteY10" fmla="*/ 1294609 h 1449962"/>
                <a:gd name="connsiteX11" fmla="*/ 284814 w 724981"/>
                <a:gd name="connsiteY11" fmla="*/ 1216933 h 1449962"/>
                <a:gd name="connsiteX12" fmla="*/ 362491 w 724981"/>
                <a:gd name="connsiteY12" fmla="*/ 1139256 h 1449962"/>
                <a:gd name="connsiteX13" fmla="*/ 440167 w 724981"/>
                <a:gd name="connsiteY13" fmla="*/ 1216933 h 1449962"/>
                <a:gd name="connsiteX14" fmla="*/ 362491 w 724981"/>
                <a:gd name="connsiteY14" fmla="*/ 1294609 h 1449962"/>
                <a:gd name="connsiteX15" fmla="*/ 621413 w 724981"/>
                <a:gd name="connsiteY15" fmla="*/ 0 h 1449962"/>
                <a:gd name="connsiteX16" fmla="*/ 103569 w 724981"/>
                <a:gd name="connsiteY16" fmla="*/ 0 h 1449962"/>
                <a:gd name="connsiteX17" fmla="*/ 0 w 724981"/>
                <a:gd name="connsiteY17" fmla="*/ 103569 h 1449962"/>
                <a:gd name="connsiteX18" fmla="*/ 0 w 724981"/>
                <a:gd name="connsiteY18" fmla="*/ 1346394 h 1449962"/>
                <a:gd name="connsiteX19" fmla="*/ 103569 w 724981"/>
                <a:gd name="connsiteY19" fmla="*/ 1449963 h 1449962"/>
                <a:gd name="connsiteX20" fmla="*/ 621413 w 724981"/>
                <a:gd name="connsiteY20" fmla="*/ 1449963 h 1449962"/>
                <a:gd name="connsiteX21" fmla="*/ 724981 w 724981"/>
                <a:gd name="connsiteY21" fmla="*/ 1346394 h 1449962"/>
                <a:gd name="connsiteX22" fmla="*/ 724981 w 724981"/>
                <a:gd name="connsiteY22" fmla="*/ 103569 h 1449962"/>
                <a:gd name="connsiteX23" fmla="*/ 621413 w 724981"/>
                <a:gd name="connsiteY23" fmla="*/ 0 h 144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24981" h="1449962">
                  <a:moveTo>
                    <a:pt x="621413" y="258922"/>
                  </a:moveTo>
                  <a:lnTo>
                    <a:pt x="103569" y="258922"/>
                  </a:lnTo>
                  <a:lnTo>
                    <a:pt x="103569" y="103569"/>
                  </a:lnTo>
                  <a:lnTo>
                    <a:pt x="621413" y="103569"/>
                  </a:lnTo>
                  <a:lnTo>
                    <a:pt x="621413" y="258922"/>
                  </a:lnTo>
                  <a:close/>
                  <a:moveTo>
                    <a:pt x="621413" y="517844"/>
                  </a:moveTo>
                  <a:lnTo>
                    <a:pt x="103569" y="517844"/>
                  </a:lnTo>
                  <a:lnTo>
                    <a:pt x="103569" y="362491"/>
                  </a:lnTo>
                  <a:lnTo>
                    <a:pt x="621413" y="362491"/>
                  </a:lnTo>
                  <a:lnTo>
                    <a:pt x="621413" y="517844"/>
                  </a:lnTo>
                  <a:close/>
                  <a:moveTo>
                    <a:pt x="362491" y="1294609"/>
                  </a:moveTo>
                  <a:cubicBezTo>
                    <a:pt x="318474" y="1294609"/>
                    <a:pt x="284814" y="1260950"/>
                    <a:pt x="284814" y="1216933"/>
                  </a:cubicBezTo>
                  <a:cubicBezTo>
                    <a:pt x="284814" y="1172916"/>
                    <a:pt x="318474" y="1139256"/>
                    <a:pt x="362491" y="1139256"/>
                  </a:cubicBezTo>
                  <a:cubicBezTo>
                    <a:pt x="406507" y="1139256"/>
                    <a:pt x="440167" y="1172916"/>
                    <a:pt x="440167" y="1216933"/>
                  </a:cubicBezTo>
                  <a:cubicBezTo>
                    <a:pt x="440167" y="1260950"/>
                    <a:pt x="406507" y="1294609"/>
                    <a:pt x="362491" y="1294609"/>
                  </a:cubicBezTo>
                  <a:close/>
                  <a:moveTo>
                    <a:pt x="621413" y="0"/>
                  </a:moveTo>
                  <a:lnTo>
                    <a:pt x="103569" y="0"/>
                  </a:lnTo>
                  <a:cubicBezTo>
                    <a:pt x="46606" y="0"/>
                    <a:pt x="0" y="46606"/>
                    <a:pt x="0" y="103569"/>
                  </a:cubicBezTo>
                  <a:lnTo>
                    <a:pt x="0" y="1346394"/>
                  </a:lnTo>
                  <a:cubicBezTo>
                    <a:pt x="0" y="1403357"/>
                    <a:pt x="46606" y="1449963"/>
                    <a:pt x="103569" y="1449963"/>
                  </a:cubicBezTo>
                  <a:lnTo>
                    <a:pt x="621413" y="1449963"/>
                  </a:lnTo>
                  <a:cubicBezTo>
                    <a:pt x="678375" y="1449963"/>
                    <a:pt x="724981" y="1403357"/>
                    <a:pt x="724981" y="1346394"/>
                  </a:cubicBezTo>
                  <a:lnTo>
                    <a:pt x="724981" y="103569"/>
                  </a:lnTo>
                  <a:cubicBezTo>
                    <a:pt x="724981" y="46606"/>
                    <a:pt x="678375" y="0"/>
                    <a:pt x="621413" y="0"/>
                  </a:cubicBezTo>
                  <a:close/>
                </a:path>
              </a:pathLst>
            </a:custGeom>
            <a:solidFill>
              <a:srgbClr val="000000"/>
            </a:solidFill>
            <a:ln w="25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6DDE766-57EC-2D6B-18B9-E19BF75BA94B}"/>
                </a:ext>
              </a:extLst>
            </p:cNvPr>
            <p:cNvSpPr/>
            <p:nvPr/>
          </p:nvSpPr>
          <p:spPr>
            <a:xfrm>
              <a:off x="2312332" y="2198126"/>
              <a:ext cx="520540" cy="1046571"/>
            </a:xfrm>
            <a:custGeom>
              <a:avLst/>
              <a:gdLst>
                <a:gd name="connsiteX0" fmla="*/ 621413 w 724981"/>
                <a:gd name="connsiteY0" fmla="*/ 258922 h 1449962"/>
                <a:gd name="connsiteX1" fmla="*/ 103569 w 724981"/>
                <a:gd name="connsiteY1" fmla="*/ 258922 h 1449962"/>
                <a:gd name="connsiteX2" fmla="*/ 103569 w 724981"/>
                <a:gd name="connsiteY2" fmla="*/ 103569 h 1449962"/>
                <a:gd name="connsiteX3" fmla="*/ 621413 w 724981"/>
                <a:gd name="connsiteY3" fmla="*/ 103569 h 1449962"/>
                <a:gd name="connsiteX4" fmla="*/ 621413 w 724981"/>
                <a:gd name="connsiteY4" fmla="*/ 258922 h 1449962"/>
                <a:gd name="connsiteX5" fmla="*/ 621413 w 724981"/>
                <a:gd name="connsiteY5" fmla="*/ 517844 h 1449962"/>
                <a:gd name="connsiteX6" fmla="*/ 103569 w 724981"/>
                <a:gd name="connsiteY6" fmla="*/ 517844 h 1449962"/>
                <a:gd name="connsiteX7" fmla="*/ 103569 w 724981"/>
                <a:gd name="connsiteY7" fmla="*/ 362491 h 1449962"/>
                <a:gd name="connsiteX8" fmla="*/ 621413 w 724981"/>
                <a:gd name="connsiteY8" fmla="*/ 362491 h 1449962"/>
                <a:gd name="connsiteX9" fmla="*/ 621413 w 724981"/>
                <a:gd name="connsiteY9" fmla="*/ 517844 h 1449962"/>
                <a:gd name="connsiteX10" fmla="*/ 362491 w 724981"/>
                <a:gd name="connsiteY10" fmla="*/ 1294609 h 1449962"/>
                <a:gd name="connsiteX11" fmla="*/ 284814 w 724981"/>
                <a:gd name="connsiteY11" fmla="*/ 1216933 h 1449962"/>
                <a:gd name="connsiteX12" fmla="*/ 362491 w 724981"/>
                <a:gd name="connsiteY12" fmla="*/ 1139256 h 1449962"/>
                <a:gd name="connsiteX13" fmla="*/ 440167 w 724981"/>
                <a:gd name="connsiteY13" fmla="*/ 1216933 h 1449962"/>
                <a:gd name="connsiteX14" fmla="*/ 362491 w 724981"/>
                <a:gd name="connsiteY14" fmla="*/ 1294609 h 1449962"/>
                <a:gd name="connsiteX15" fmla="*/ 621413 w 724981"/>
                <a:gd name="connsiteY15" fmla="*/ 0 h 1449962"/>
                <a:gd name="connsiteX16" fmla="*/ 103569 w 724981"/>
                <a:gd name="connsiteY16" fmla="*/ 0 h 1449962"/>
                <a:gd name="connsiteX17" fmla="*/ 0 w 724981"/>
                <a:gd name="connsiteY17" fmla="*/ 103569 h 1449962"/>
                <a:gd name="connsiteX18" fmla="*/ 0 w 724981"/>
                <a:gd name="connsiteY18" fmla="*/ 1346394 h 1449962"/>
                <a:gd name="connsiteX19" fmla="*/ 103569 w 724981"/>
                <a:gd name="connsiteY19" fmla="*/ 1449963 h 1449962"/>
                <a:gd name="connsiteX20" fmla="*/ 621413 w 724981"/>
                <a:gd name="connsiteY20" fmla="*/ 1449963 h 1449962"/>
                <a:gd name="connsiteX21" fmla="*/ 724981 w 724981"/>
                <a:gd name="connsiteY21" fmla="*/ 1346394 h 1449962"/>
                <a:gd name="connsiteX22" fmla="*/ 724981 w 724981"/>
                <a:gd name="connsiteY22" fmla="*/ 103569 h 1449962"/>
                <a:gd name="connsiteX23" fmla="*/ 621413 w 724981"/>
                <a:gd name="connsiteY23" fmla="*/ 0 h 144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24981" h="1449962">
                  <a:moveTo>
                    <a:pt x="621413" y="258922"/>
                  </a:moveTo>
                  <a:lnTo>
                    <a:pt x="103569" y="258922"/>
                  </a:lnTo>
                  <a:lnTo>
                    <a:pt x="103569" y="103569"/>
                  </a:lnTo>
                  <a:lnTo>
                    <a:pt x="621413" y="103569"/>
                  </a:lnTo>
                  <a:lnTo>
                    <a:pt x="621413" y="258922"/>
                  </a:lnTo>
                  <a:close/>
                  <a:moveTo>
                    <a:pt x="621413" y="517844"/>
                  </a:moveTo>
                  <a:lnTo>
                    <a:pt x="103569" y="517844"/>
                  </a:lnTo>
                  <a:lnTo>
                    <a:pt x="103569" y="362491"/>
                  </a:lnTo>
                  <a:lnTo>
                    <a:pt x="621413" y="362491"/>
                  </a:lnTo>
                  <a:lnTo>
                    <a:pt x="621413" y="517844"/>
                  </a:lnTo>
                  <a:close/>
                  <a:moveTo>
                    <a:pt x="362491" y="1294609"/>
                  </a:moveTo>
                  <a:cubicBezTo>
                    <a:pt x="318474" y="1294609"/>
                    <a:pt x="284814" y="1260950"/>
                    <a:pt x="284814" y="1216933"/>
                  </a:cubicBezTo>
                  <a:cubicBezTo>
                    <a:pt x="284814" y="1172916"/>
                    <a:pt x="318474" y="1139256"/>
                    <a:pt x="362491" y="1139256"/>
                  </a:cubicBezTo>
                  <a:cubicBezTo>
                    <a:pt x="406507" y="1139256"/>
                    <a:pt x="440167" y="1172916"/>
                    <a:pt x="440167" y="1216933"/>
                  </a:cubicBezTo>
                  <a:cubicBezTo>
                    <a:pt x="440167" y="1260950"/>
                    <a:pt x="406507" y="1294609"/>
                    <a:pt x="362491" y="1294609"/>
                  </a:cubicBezTo>
                  <a:close/>
                  <a:moveTo>
                    <a:pt x="621413" y="0"/>
                  </a:moveTo>
                  <a:lnTo>
                    <a:pt x="103569" y="0"/>
                  </a:lnTo>
                  <a:cubicBezTo>
                    <a:pt x="46606" y="0"/>
                    <a:pt x="0" y="46606"/>
                    <a:pt x="0" y="103569"/>
                  </a:cubicBezTo>
                  <a:lnTo>
                    <a:pt x="0" y="1346394"/>
                  </a:lnTo>
                  <a:cubicBezTo>
                    <a:pt x="0" y="1403357"/>
                    <a:pt x="46606" y="1449963"/>
                    <a:pt x="103569" y="1449963"/>
                  </a:cubicBezTo>
                  <a:lnTo>
                    <a:pt x="621413" y="1449963"/>
                  </a:lnTo>
                  <a:cubicBezTo>
                    <a:pt x="678375" y="1449963"/>
                    <a:pt x="724981" y="1403357"/>
                    <a:pt x="724981" y="1346394"/>
                  </a:cubicBezTo>
                  <a:lnTo>
                    <a:pt x="724981" y="103569"/>
                  </a:lnTo>
                  <a:cubicBezTo>
                    <a:pt x="724981" y="46606"/>
                    <a:pt x="678375" y="0"/>
                    <a:pt x="621413" y="0"/>
                  </a:cubicBezTo>
                  <a:close/>
                </a:path>
              </a:pathLst>
            </a:custGeom>
            <a:solidFill>
              <a:srgbClr val="000000"/>
            </a:solidFill>
            <a:ln w="25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7F7E0AD-B65F-ED5E-8187-A6DB49367BDC}"/>
                </a:ext>
              </a:extLst>
            </p:cNvPr>
            <p:cNvSpPr/>
            <p:nvPr/>
          </p:nvSpPr>
          <p:spPr>
            <a:xfrm>
              <a:off x="1121609" y="2746249"/>
              <a:ext cx="1463888" cy="15420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3" name="Graphic 62" descr="Database with solid fill">
            <a:extLst>
              <a:ext uri="{FF2B5EF4-FFF2-40B4-BE49-F238E27FC236}">
                <a16:creationId xmlns:a16="http://schemas.microsoft.com/office/drawing/2014/main" id="{7A53F0DE-C6EC-7F38-0289-34BD092A12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08736" y="2103120"/>
            <a:ext cx="1554480" cy="15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918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2420C5D4-8545-B951-5F82-DD72282E7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>
            <a:extLst>
              <a:ext uri="{FF2B5EF4-FFF2-40B4-BE49-F238E27FC236}">
                <a16:creationId xmlns:a16="http://schemas.microsoft.com/office/drawing/2014/main" id="{69F79844-DEB4-0BBD-CA1F-B0C256E472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Learning Goals</a:t>
            </a:r>
            <a:endParaRPr dirty="0"/>
          </a:p>
        </p:txBody>
      </p:sp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DC0E6222-9A5B-C1EF-BFAF-701DF9299A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096000" y="6222116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E7128C2-7838-2BCE-6B5D-F5C26C87E43D}"/>
              </a:ext>
            </a:extLst>
          </p:cNvPr>
          <p:cNvSpPr/>
          <p:nvPr/>
        </p:nvSpPr>
        <p:spPr>
          <a:xfrm>
            <a:off x="591024" y="1960061"/>
            <a:ext cx="2468880" cy="2949023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4637163-E52A-9C7F-676B-BEFA33040687}"/>
              </a:ext>
            </a:extLst>
          </p:cNvPr>
          <p:cNvSpPr/>
          <p:nvPr/>
        </p:nvSpPr>
        <p:spPr>
          <a:xfrm>
            <a:off x="9231793" y="1948917"/>
            <a:ext cx="2468880" cy="2960167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77EF4EE-556A-B6FF-960A-B63B49F743AB}"/>
              </a:ext>
            </a:extLst>
          </p:cNvPr>
          <p:cNvSpPr/>
          <p:nvPr/>
        </p:nvSpPr>
        <p:spPr>
          <a:xfrm>
            <a:off x="3471280" y="1960061"/>
            <a:ext cx="2468880" cy="2949023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F24C9CD-CCE7-10E3-5832-C72A6C72C882}"/>
              </a:ext>
            </a:extLst>
          </p:cNvPr>
          <p:cNvSpPr/>
          <p:nvPr/>
        </p:nvSpPr>
        <p:spPr>
          <a:xfrm>
            <a:off x="6351536" y="1948917"/>
            <a:ext cx="2468880" cy="2960167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9" name="Graphic 38" descr="Processor with solid fill">
            <a:extLst>
              <a:ext uri="{FF2B5EF4-FFF2-40B4-BE49-F238E27FC236}">
                <a16:creationId xmlns:a16="http://schemas.microsoft.com/office/drawing/2014/main" id="{9B08290C-9895-D618-BF3A-2987FDF86B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4200" y="2110541"/>
            <a:ext cx="1463040" cy="146304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174802C1-1944-A1ED-C19F-E03AB1B50CB3}"/>
              </a:ext>
            </a:extLst>
          </p:cNvPr>
          <p:cNvSpPr txBox="1"/>
          <p:nvPr/>
        </p:nvSpPr>
        <p:spPr>
          <a:xfrm>
            <a:off x="3748496" y="3598703"/>
            <a:ext cx="19144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Nodes &amp;</a:t>
            </a:r>
          </a:p>
          <a:p>
            <a:pPr algn="ctr"/>
            <a:r>
              <a:rPr lang="en-US" sz="2800" b="1" dirty="0"/>
              <a:t>Partitions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CCB9F2A-B59E-6DC9-CE5A-EFE94FAA86F3}"/>
              </a:ext>
            </a:extLst>
          </p:cNvPr>
          <p:cNvSpPr txBox="1"/>
          <p:nvPr/>
        </p:nvSpPr>
        <p:spPr>
          <a:xfrm>
            <a:off x="6628752" y="3598702"/>
            <a:ext cx="19144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Data</a:t>
            </a:r>
          </a:p>
          <a:p>
            <a:pPr algn="ctr"/>
            <a:r>
              <a:rPr lang="en-US" sz="2800" b="1" dirty="0"/>
              <a:t>Storage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6E7D42E-FD2B-5A4C-64CA-DFA6A294E742}"/>
              </a:ext>
            </a:extLst>
          </p:cNvPr>
          <p:cNvSpPr txBox="1"/>
          <p:nvPr/>
        </p:nvSpPr>
        <p:spPr>
          <a:xfrm>
            <a:off x="9509009" y="3606035"/>
            <a:ext cx="19144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System</a:t>
            </a:r>
          </a:p>
          <a:p>
            <a:pPr algn="ctr"/>
            <a:r>
              <a:rPr lang="en-US" sz="2800" b="1" dirty="0"/>
              <a:t>Access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5216B56-59F9-5644-75F4-CD74619C6D31}"/>
              </a:ext>
            </a:extLst>
          </p:cNvPr>
          <p:cNvSpPr txBox="1"/>
          <p:nvPr/>
        </p:nvSpPr>
        <p:spPr>
          <a:xfrm>
            <a:off x="868240" y="3598703"/>
            <a:ext cx="19144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HPC</a:t>
            </a:r>
          </a:p>
          <a:p>
            <a:pPr algn="ctr"/>
            <a:r>
              <a:rPr lang="en-US" sz="2800" b="1" dirty="0"/>
              <a:t>Overview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AFE7AA4-C047-072C-92C4-0BB5FFB261CA}"/>
              </a:ext>
            </a:extLst>
          </p:cNvPr>
          <p:cNvGrpSpPr/>
          <p:nvPr/>
        </p:nvGrpSpPr>
        <p:grpSpPr>
          <a:xfrm>
            <a:off x="828128" y="2316334"/>
            <a:ext cx="1994672" cy="1046573"/>
            <a:chOff x="838200" y="2198126"/>
            <a:chExt cx="1994672" cy="1046573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EDF76BE-EA9E-2D8C-A974-24F03DDB28A6}"/>
                </a:ext>
              </a:extLst>
            </p:cNvPr>
            <p:cNvSpPr/>
            <p:nvPr/>
          </p:nvSpPr>
          <p:spPr>
            <a:xfrm>
              <a:off x="838200" y="2198128"/>
              <a:ext cx="520540" cy="1046571"/>
            </a:xfrm>
            <a:custGeom>
              <a:avLst/>
              <a:gdLst>
                <a:gd name="connsiteX0" fmla="*/ 621413 w 724981"/>
                <a:gd name="connsiteY0" fmla="*/ 258922 h 1449962"/>
                <a:gd name="connsiteX1" fmla="*/ 103569 w 724981"/>
                <a:gd name="connsiteY1" fmla="*/ 258922 h 1449962"/>
                <a:gd name="connsiteX2" fmla="*/ 103569 w 724981"/>
                <a:gd name="connsiteY2" fmla="*/ 103569 h 1449962"/>
                <a:gd name="connsiteX3" fmla="*/ 621413 w 724981"/>
                <a:gd name="connsiteY3" fmla="*/ 103569 h 1449962"/>
                <a:gd name="connsiteX4" fmla="*/ 621413 w 724981"/>
                <a:gd name="connsiteY4" fmla="*/ 258922 h 1449962"/>
                <a:gd name="connsiteX5" fmla="*/ 621413 w 724981"/>
                <a:gd name="connsiteY5" fmla="*/ 517844 h 1449962"/>
                <a:gd name="connsiteX6" fmla="*/ 103569 w 724981"/>
                <a:gd name="connsiteY6" fmla="*/ 517844 h 1449962"/>
                <a:gd name="connsiteX7" fmla="*/ 103569 w 724981"/>
                <a:gd name="connsiteY7" fmla="*/ 362491 h 1449962"/>
                <a:gd name="connsiteX8" fmla="*/ 621413 w 724981"/>
                <a:gd name="connsiteY8" fmla="*/ 362491 h 1449962"/>
                <a:gd name="connsiteX9" fmla="*/ 621413 w 724981"/>
                <a:gd name="connsiteY9" fmla="*/ 517844 h 1449962"/>
                <a:gd name="connsiteX10" fmla="*/ 362491 w 724981"/>
                <a:gd name="connsiteY10" fmla="*/ 1294609 h 1449962"/>
                <a:gd name="connsiteX11" fmla="*/ 284814 w 724981"/>
                <a:gd name="connsiteY11" fmla="*/ 1216933 h 1449962"/>
                <a:gd name="connsiteX12" fmla="*/ 362491 w 724981"/>
                <a:gd name="connsiteY12" fmla="*/ 1139256 h 1449962"/>
                <a:gd name="connsiteX13" fmla="*/ 440167 w 724981"/>
                <a:gd name="connsiteY13" fmla="*/ 1216933 h 1449962"/>
                <a:gd name="connsiteX14" fmla="*/ 362491 w 724981"/>
                <a:gd name="connsiteY14" fmla="*/ 1294609 h 1449962"/>
                <a:gd name="connsiteX15" fmla="*/ 621413 w 724981"/>
                <a:gd name="connsiteY15" fmla="*/ 0 h 1449962"/>
                <a:gd name="connsiteX16" fmla="*/ 103569 w 724981"/>
                <a:gd name="connsiteY16" fmla="*/ 0 h 1449962"/>
                <a:gd name="connsiteX17" fmla="*/ 0 w 724981"/>
                <a:gd name="connsiteY17" fmla="*/ 103569 h 1449962"/>
                <a:gd name="connsiteX18" fmla="*/ 0 w 724981"/>
                <a:gd name="connsiteY18" fmla="*/ 1346394 h 1449962"/>
                <a:gd name="connsiteX19" fmla="*/ 103569 w 724981"/>
                <a:gd name="connsiteY19" fmla="*/ 1449963 h 1449962"/>
                <a:gd name="connsiteX20" fmla="*/ 621413 w 724981"/>
                <a:gd name="connsiteY20" fmla="*/ 1449963 h 1449962"/>
                <a:gd name="connsiteX21" fmla="*/ 724981 w 724981"/>
                <a:gd name="connsiteY21" fmla="*/ 1346394 h 1449962"/>
                <a:gd name="connsiteX22" fmla="*/ 724981 w 724981"/>
                <a:gd name="connsiteY22" fmla="*/ 103569 h 1449962"/>
                <a:gd name="connsiteX23" fmla="*/ 621413 w 724981"/>
                <a:gd name="connsiteY23" fmla="*/ 0 h 144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24981" h="1449962">
                  <a:moveTo>
                    <a:pt x="621413" y="258922"/>
                  </a:moveTo>
                  <a:lnTo>
                    <a:pt x="103569" y="258922"/>
                  </a:lnTo>
                  <a:lnTo>
                    <a:pt x="103569" y="103569"/>
                  </a:lnTo>
                  <a:lnTo>
                    <a:pt x="621413" y="103569"/>
                  </a:lnTo>
                  <a:lnTo>
                    <a:pt x="621413" y="258922"/>
                  </a:lnTo>
                  <a:close/>
                  <a:moveTo>
                    <a:pt x="621413" y="517844"/>
                  </a:moveTo>
                  <a:lnTo>
                    <a:pt x="103569" y="517844"/>
                  </a:lnTo>
                  <a:lnTo>
                    <a:pt x="103569" y="362491"/>
                  </a:lnTo>
                  <a:lnTo>
                    <a:pt x="621413" y="362491"/>
                  </a:lnTo>
                  <a:lnTo>
                    <a:pt x="621413" y="517844"/>
                  </a:lnTo>
                  <a:close/>
                  <a:moveTo>
                    <a:pt x="362491" y="1294609"/>
                  </a:moveTo>
                  <a:cubicBezTo>
                    <a:pt x="318474" y="1294609"/>
                    <a:pt x="284814" y="1260950"/>
                    <a:pt x="284814" y="1216933"/>
                  </a:cubicBezTo>
                  <a:cubicBezTo>
                    <a:pt x="284814" y="1172916"/>
                    <a:pt x="318474" y="1139256"/>
                    <a:pt x="362491" y="1139256"/>
                  </a:cubicBezTo>
                  <a:cubicBezTo>
                    <a:pt x="406507" y="1139256"/>
                    <a:pt x="440167" y="1172916"/>
                    <a:pt x="440167" y="1216933"/>
                  </a:cubicBezTo>
                  <a:cubicBezTo>
                    <a:pt x="440167" y="1260950"/>
                    <a:pt x="406507" y="1294609"/>
                    <a:pt x="362491" y="1294609"/>
                  </a:cubicBezTo>
                  <a:close/>
                  <a:moveTo>
                    <a:pt x="621413" y="0"/>
                  </a:moveTo>
                  <a:lnTo>
                    <a:pt x="103569" y="0"/>
                  </a:lnTo>
                  <a:cubicBezTo>
                    <a:pt x="46606" y="0"/>
                    <a:pt x="0" y="46606"/>
                    <a:pt x="0" y="103569"/>
                  </a:cubicBezTo>
                  <a:lnTo>
                    <a:pt x="0" y="1346394"/>
                  </a:lnTo>
                  <a:cubicBezTo>
                    <a:pt x="0" y="1403357"/>
                    <a:pt x="46606" y="1449963"/>
                    <a:pt x="103569" y="1449963"/>
                  </a:cubicBezTo>
                  <a:lnTo>
                    <a:pt x="621413" y="1449963"/>
                  </a:lnTo>
                  <a:cubicBezTo>
                    <a:pt x="678375" y="1449963"/>
                    <a:pt x="724981" y="1403357"/>
                    <a:pt x="724981" y="1346394"/>
                  </a:cubicBezTo>
                  <a:lnTo>
                    <a:pt x="724981" y="103569"/>
                  </a:lnTo>
                  <a:cubicBezTo>
                    <a:pt x="724981" y="46606"/>
                    <a:pt x="678375" y="0"/>
                    <a:pt x="621413" y="0"/>
                  </a:cubicBezTo>
                  <a:close/>
                </a:path>
              </a:pathLst>
            </a:custGeom>
            <a:solidFill>
              <a:srgbClr val="000000"/>
            </a:solidFill>
            <a:ln w="25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5BE311CA-6D82-CE69-D2D9-9C29AB9BD9FC}"/>
                </a:ext>
              </a:extLst>
            </p:cNvPr>
            <p:cNvSpPr/>
            <p:nvPr/>
          </p:nvSpPr>
          <p:spPr>
            <a:xfrm>
              <a:off x="1575266" y="2198127"/>
              <a:ext cx="520540" cy="1046571"/>
            </a:xfrm>
            <a:custGeom>
              <a:avLst/>
              <a:gdLst>
                <a:gd name="connsiteX0" fmla="*/ 621413 w 724981"/>
                <a:gd name="connsiteY0" fmla="*/ 258922 h 1449962"/>
                <a:gd name="connsiteX1" fmla="*/ 103569 w 724981"/>
                <a:gd name="connsiteY1" fmla="*/ 258922 h 1449962"/>
                <a:gd name="connsiteX2" fmla="*/ 103569 w 724981"/>
                <a:gd name="connsiteY2" fmla="*/ 103569 h 1449962"/>
                <a:gd name="connsiteX3" fmla="*/ 621413 w 724981"/>
                <a:gd name="connsiteY3" fmla="*/ 103569 h 1449962"/>
                <a:gd name="connsiteX4" fmla="*/ 621413 w 724981"/>
                <a:gd name="connsiteY4" fmla="*/ 258922 h 1449962"/>
                <a:gd name="connsiteX5" fmla="*/ 621413 w 724981"/>
                <a:gd name="connsiteY5" fmla="*/ 517844 h 1449962"/>
                <a:gd name="connsiteX6" fmla="*/ 103569 w 724981"/>
                <a:gd name="connsiteY6" fmla="*/ 517844 h 1449962"/>
                <a:gd name="connsiteX7" fmla="*/ 103569 w 724981"/>
                <a:gd name="connsiteY7" fmla="*/ 362491 h 1449962"/>
                <a:gd name="connsiteX8" fmla="*/ 621413 w 724981"/>
                <a:gd name="connsiteY8" fmla="*/ 362491 h 1449962"/>
                <a:gd name="connsiteX9" fmla="*/ 621413 w 724981"/>
                <a:gd name="connsiteY9" fmla="*/ 517844 h 1449962"/>
                <a:gd name="connsiteX10" fmla="*/ 362491 w 724981"/>
                <a:gd name="connsiteY10" fmla="*/ 1294609 h 1449962"/>
                <a:gd name="connsiteX11" fmla="*/ 284814 w 724981"/>
                <a:gd name="connsiteY11" fmla="*/ 1216933 h 1449962"/>
                <a:gd name="connsiteX12" fmla="*/ 362491 w 724981"/>
                <a:gd name="connsiteY12" fmla="*/ 1139256 h 1449962"/>
                <a:gd name="connsiteX13" fmla="*/ 440167 w 724981"/>
                <a:gd name="connsiteY13" fmla="*/ 1216933 h 1449962"/>
                <a:gd name="connsiteX14" fmla="*/ 362491 w 724981"/>
                <a:gd name="connsiteY14" fmla="*/ 1294609 h 1449962"/>
                <a:gd name="connsiteX15" fmla="*/ 621413 w 724981"/>
                <a:gd name="connsiteY15" fmla="*/ 0 h 1449962"/>
                <a:gd name="connsiteX16" fmla="*/ 103569 w 724981"/>
                <a:gd name="connsiteY16" fmla="*/ 0 h 1449962"/>
                <a:gd name="connsiteX17" fmla="*/ 0 w 724981"/>
                <a:gd name="connsiteY17" fmla="*/ 103569 h 1449962"/>
                <a:gd name="connsiteX18" fmla="*/ 0 w 724981"/>
                <a:gd name="connsiteY18" fmla="*/ 1346394 h 1449962"/>
                <a:gd name="connsiteX19" fmla="*/ 103569 w 724981"/>
                <a:gd name="connsiteY19" fmla="*/ 1449963 h 1449962"/>
                <a:gd name="connsiteX20" fmla="*/ 621413 w 724981"/>
                <a:gd name="connsiteY20" fmla="*/ 1449963 h 1449962"/>
                <a:gd name="connsiteX21" fmla="*/ 724981 w 724981"/>
                <a:gd name="connsiteY21" fmla="*/ 1346394 h 1449962"/>
                <a:gd name="connsiteX22" fmla="*/ 724981 w 724981"/>
                <a:gd name="connsiteY22" fmla="*/ 103569 h 1449962"/>
                <a:gd name="connsiteX23" fmla="*/ 621413 w 724981"/>
                <a:gd name="connsiteY23" fmla="*/ 0 h 144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24981" h="1449962">
                  <a:moveTo>
                    <a:pt x="621413" y="258922"/>
                  </a:moveTo>
                  <a:lnTo>
                    <a:pt x="103569" y="258922"/>
                  </a:lnTo>
                  <a:lnTo>
                    <a:pt x="103569" y="103569"/>
                  </a:lnTo>
                  <a:lnTo>
                    <a:pt x="621413" y="103569"/>
                  </a:lnTo>
                  <a:lnTo>
                    <a:pt x="621413" y="258922"/>
                  </a:lnTo>
                  <a:close/>
                  <a:moveTo>
                    <a:pt x="621413" y="517844"/>
                  </a:moveTo>
                  <a:lnTo>
                    <a:pt x="103569" y="517844"/>
                  </a:lnTo>
                  <a:lnTo>
                    <a:pt x="103569" y="362491"/>
                  </a:lnTo>
                  <a:lnTo>
                    <a:pt x="621413" y="362491"/>
                  </a:lnTo>
                  <a:lnTo>
                    <a:pt x="621413" y="517844"/>
                  </a:lnTo>
                  <a:close/>
                  <a:moveTo>
                    <a:pt x="362491" y="1294609"/>
                  </a:moveTo>
                  <a:cubicBezTo>
                    <a:pt x="318474" y="1294609"/>
                    <a:pt x="284814" y="1260950"/>
                    <a:pt x="284814" y="1216933"/>
                  </a:cubicBezTo>
                  <a:cubicBezTo>
                    <a:pt x="284814" y="1172916"/>
                    <a:pt x="318474" y="1139256"/>
                    <a:pt x="362491" y="1139256"/>
                  </a:cubicBezTo>
                  <a:cubicBezTo>
                    <a:pt x="406507" y="1139256"/>
                    <a:pt x="440167" y="1172916"/>
                    <a:pt x="440167" y="1216933"/>
                  </a:cubicBezTo>
                  <a:cubicBezTo>
                    <a:pt x="440167" y="1260950"/>
                    <a:pt x="406507" y="1294609"/>
                    <a:pt x="362491" y="1294609"/>
                  </a:cubicBezTo>
                  <a:close/>
                  <a:moveTo>
                    <a:pt x="621413" y="0"/>
                  </a:moveTo>
                  <a:lnTo>
                    <a:pt x="103569" y="0"/>
                  </a:lnTo>
                  <a:cubicBezTo>
                    <a:pt x="46606" y="0"/>
                    <a:pt x="0" y="46606"/>
                    <a:pt x="0" y="103569"/>
                  </a:cubicBezTo>
                  <a:lnTo>
                    <a:pt x="0" y="1346394"/>
                  </a:lnTo>
                  <a:cubicBezTo>
                    <a:pt x="0" y="1403357"/>
                    <a:pt x="46606" y="1449963"/>
                    <a:pt x="103569" y="1449963"/>
                  </a:cubicBezTo>
                  <a:lnTo>
                    <a:pt x="621413" y="1449963"/>
                  </a:lnTo>
                  <a:cubicBezTo>
                    <a:pt x="678375" y="1449963"/>
                    <a:pt x="724981" y="1403357"/>
                    <a:pt x="724981" y="1346394"/>
                  </a:cubicBezTo>
                  <a:lnTo>
                    <a:pt x="724981" y="103569"/>
                  </a:lnTo>
                  <a:cubicBezTo>
                    <a:pt x="724981" y="46606"/>
                    <a:pt x="678375" y="0"/>
                    <a:pt x="621413" y="0"/>
                  </a:cubicBezTo>
                  <a:close/>
                </a:path>
              </a:pathLst>
            </a:custGeom>
            <a:solidFill>
              <a:srgbClr val="000000"/>
            </a:solidFill>
            <a:ln w="25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E8C87305-0B05-F830-A52A-C13A967ED6AB}"/>
                </a:ext>
              </a:extLst>
            </p:cNvPr>
            <p:cNvSpPr/>
            <p:nvPr/>
          </p:nvSpPr>
          <p:spPr>
            <a:xfrm>
              <a:off x="2312332" y="2198126"/>
              <a:ext cx="520540" cy="1046571"/>
            </a:xfrm>
            <a:custGeom>
              <a:avLst/>
              <a:gdLst>
                <a:gd name="connsiteX0" fmla="*/ 621413 w 724981"/>
                <a:gd name="connsiteY0" fmla="*/ 258922 h 1449962"/>
                <a:gd name="connsiteX1" fmla="*/ 103569 w 724981"/>
                <a:gd name="connsiteY1" fmla="*/ 258922 h 1449962"/>
                <a:gd name="connsiteX2" fmla="*/ 103569 w 724981"/>
                <a:gd name="connsiteY2" fmla="*/ 103569 h 1449962"/>
                <a:gd name="connsiteX3" fmla="*/ 621413 w 724981"/>
                <a:gd name="connsiteY3" fmla="*/ 103569 h 1449962"/>
                <a:gd name="connsiteX4" fmla="*/ 621413 w 724981"/>
                <a:gd name="connsiteY4" fmla="*/ 258922 h 1449962"/>
                <a:gd name="connsiteX5" fmla="*/ 621413 w 724981"/>
                <a:gd name="connsiteY5" fmla="*/ 517844 h 1449962"/>
                <a:gd name="connsiteX6" fmla="*/ 103569 w 724981"/>
                <a:gd name="connsiteY6" fmla="*/ 517844 h 1449962"/>
                <a:gd name="connsiteX7" fmla="*/ 103569 w 724981"/>
                <a:gd name="connsiteY7" fmla="*/ 362491 h 1449962"/>
                <a:gd name="connsiteX8" fmla="*/ 621413 w 724981"/>
                <a:gd name="connsiteY8" fmla="*/ 362491 h 1449962"/>
                <a:gd name="connsiteX9" fmla="*/ 621413 w 724981"/>
                <a:gd name="connsiteY9" fmla="*/ 517844 h 1449962"/>
                <a:gd name="connsiteX10" fmla="*/ 362491 w 724981"/>
                <a:gd name="connsiteY10" fmla="*/ 1294609 h 1449962"/>
                <a:gd name="connsiteX11" fmla="*/ 284814 w 724981"/>
                <a:gd name="connsiteY11" fmla="*/ 1216933 h 1449962"/>
                <a:gd name="connsiteX12" fmla="*/ 362491 w 724981"/>
                <a:gd name="connsiteY12" fmla="*/ 1139256 h 1449962"/>
                <a:gd name="connsiteX13" fmla="*/ 440167 w 724981"/>
                <a:gd name="connsiteY13" fmla="*/ 1216933 h 1449962"/>
                <a:gd name="connsiteX14" fmla="*/ 362491 w 724981"/>
                <a:gd name="connsiteY14" fmla="*/ 1294609 h 1449962"/>
                <a:gd name="connsiteX15" fmla="*/ 621413 w 724981"/>
                <a:gd name="connsiteY15" fmla="*/ 0 h 1449962"/>
                <a:gd name="connsiteX16" fmla="*/ 103569 w 724981"/>
                <a:gd name="connsiteY16" fmla="*/ 0 h 1449962"/>
                <a:gd name="connsiteX17" fmla="*/ 0 w 724981"/>
                <a:gd name="connsiteY17" fmla="*/ 103569 h 1449962"/>
                <a:gd name="connsiteX18" fmla="*/ 0 w 724981"/>
                <a:gd name="connsiteY18" fmla="*/ 1346394 h 1449962"/>
                <a:gd name="connsiteX19" fmla="*/ 103569 w 724981"/>
                <a:gd name="connsiteY19" fmla="*/ 1449963 h 1449962"/>
                <a:gd name="connsiteX20" fmla="*/ 621413 w 724981"/>
                <a:gd name="connsiteY20" fmla="*/ 1449963 h 1449962"/>
                <a:gd name="connsiteX21" fmla="*/ 724981 w 724981"/>
                <a:gd name="connsiteY21" fmla="*/ 1346394 h 1449962"/>
                <a:gd name="connsiteX22" fmla="*/ 724981 w 724981"/>
                <a:gd name="connsiteY22" fmla="*/ 103569 h 1449962"/>
                <a:gd name="connsiteX23" fmla="*/ 621413 w 724981"/>
                <a:gd name="connsiteY23" fmla="*/ 0 h 144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24981" h="1449962">
                  <a:moveTo>
                    <a:pt x="621413" y="258922"/>
                  </a:moveTo>
                  <a:lnTo>
                    <a:pt x="103569" y="258922"/>
                  </a:lnTo>
                  <a:lnTo>
                    <a:pt x="103569" y="103569"/>
                  </a:lnTo>
                  <a:lnTo>
                    <a:pt x="621413" y="103569"/>
                  </a:lnTo>
                  <a:lnTo>
                    <a:pt x="621413" y="258922"/>
                  </a:lnTo>
                  <a:close/>
                  <a:moveTo>
                    <a:pt x="621413" y="517844"/>
                  </a:moveTo>
                  <a:lnTo>
                    <a:pt x="103569" y="517844"/>
                  </a:lnTo>
                  <a:lnTo>
                    <a:pt x="103569" y="362491"/>
                  </a:lnTo>
                  <a:lnTo>
                    <a:pt x="621413" y="362491"/>
                  </a:lnTo>
                  <a:lnTo>
                    <a:pt x="621413" y="517844"/>
                  </a:lnTo>
                  <a:close/>
                  <a:moveTo>
                    <a:pt x="362491" y="1294609"/>
                  </a:moveTo>
                  <a:cubicBezTo>
                    <a:pt x="318474" y="1294609"/>
                    <a:pt x="284814" y="1260950"/>
                    <a:pt x="284814" y="1216933"/>
                  </a:cubicBezTo>
                  <a:cubicBezTo>
                    <a:pt x="284814" y="1172916"/>
                    <a:pt x="318474" y="1139256"/>
                    <a:pt x="362491" y="1139256"/>
                  </a:cubicBezTo>
                  <a:cubicBezTo>
                    <a:pt x="406507" y="1139256"/>
                    <a:pt x="440167" y="1172916"/>
                    <a:pt x="440167" y="1216933"/>
                  </a:cubicBezTo>
                  <a:cubicBezTo>
                    <a:pt x="440167" y="1260950"/>
                    <a:pt x="406507" y="1294609"/>
                    <a:pt x="362491" y="1294609"/>
                  </a:cubicBezTo>
                  <a:close/>
                  <a:moveTo>
                    <a:pt x="621413" y="0"/>
                  </a:moveTo>
                  <a:lnTo>
                    <a:pt x="103569" y="0"/>
                  </a:lnTo>
                  <a:cubicBezTo>
                    <a:pt x="46606" y="0"/>
                    <a:pt x="0" y="46606"/>
                    <a:pt x="0" y="103569"/>
                  </a:cubicBezTo>
                  <a:lnTo>
                    <a:pt x="0" y="1346394"/>
                  </a:lnTo>
                  <a:cubicBezTo>
                    <a:pt x="0" y="1403357"/>
                    <a:pt x="46606" y="1449963"/>
                    <a:pt x="103569" y="1449963"/>
                  </a:cubicBezTo>
                  <a:lnTo>
                    <a:pt x="621413" y="1449963"/>
                  </a:lnTo>
                  <a:cubicBezTo>
                    <a:pt x="678375" y="1449963"/>
                    <a:pt x="724981" y="1403357"/>
                    <a:pt x="724981" y="1346394"/>
                  </a:cubicBezTo>
                  <a:lnTo>
                    <a:pt x="724981" y="103569"/>
                  </a:lnTo>
                  <a:cubicBezTo>
                    <a:pt x="724981" y="46606"/>
                    <a:pt x="678375" y="0"/>
                    <a:pt x="621413" y="0"/>
                  </a:cubicBezTo>
                  <a:close/>
                </a:path>
              </a:pathLst>
            </a:custGeom>
            <a:solidFill>
              <a:srgbClr val="000000"/>
            </a:solidFill>
            <a:ln w="25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BA7D859-F9AB-1E6A-7A5F-76C0178FECB1}"/>
                </a:ext>
              </a:extLst>
            </p:cNvPr>
            <p:cNvSpPr/>
            <p:nvPr/>
          </p:nvSpPr>
          <p:spPr>
            <a:xfrm>
              <a:off x="1121609" y="2746249"/>
              <a:ext cx="1463888" cy="15420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2" name="Graphic 61" descr="Programmer female with solid fill">
            <a:extLst>
              <a:ext uri="{FF2B5EF4-FFF2-40B4-BE49-F238E27FC236}">
                <a16:creationId xmlns:a16="http://schemas.microsoft.com/office/drawing/2014/main" id="{DB8E1209-D1E1-006C-02F0-E9B8B36C07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26153" y="2206872"/>
            <a:ext cx="1280160" cy="1280160"/>
          </a:xfrm>
          <a:prstGeom prst="rect">
            <a:avLst/>
          </a:prstGeom>
        </p:spPr>
      </p:pic>
      <p:pic>
        <p:nvPicPr>
          <p:cNvPr id="63" name="Graphic 62" descr="Database with solid fill">
            <a:extLst>
              <a:ext uri="{FF2B5EF4-FFF2-40B4-BE49-F238E27FC236}">
                <a16:creationId xmlns:a16="http://schemas.microsoft.com/office/drawing/2014/main" id="{28FB94BE-D359-86EC-C466-25EB8D0BA8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08736" y="2103120"/>
            <a:ext cx="1554480" cy="15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262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0C79F2B0-C621-8717-0705-3BE7C5E5A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>
            <a:extLst>
              <a:ext uri="{FF2B5EF4-FFF2-40B4-BE49-F238E27FC236}">
                <a16:creationId xmlns:a16="http://schemas.microsoft.com/office/drawing/2014/main" id="{A3ED85B2-DC0F-E100-DBE2-F8568E7865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3655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High-Performance Computing</a:t>
            </a:r>
            <a:endParaRPr dirty="0"/>
          </a:p>
        </p:txBody>
      </p:sp>
      <p:sp>
        <p:nvSpPr>
          <p:cNvPr id="205" name="Google Shape;205;p24">
            <a:extLst>
              <a:ext uri="{FF2B5EF4-FFF2-40B4-BE49-F238E27FC236}">
                <a16:creationId xmlns:a16="http://schemas.microsoft.com/office/drawing/2014/main" id="{41BE7010-5333-BED2-197D-30DD8F533F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09200" y="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 dirty="0"/>
          </a:p>
        </p:txBody>
      </p:sp>
      <p:pic>
        <p:nvPicPr>
          <p:cNvPr id="1028" name="Picture 4" descr="Supermicro Data Center Server, Blade, Data Storage, AI System">
            <a:extLst>
              <a:ext uri="{FF2B5EF4-FFF2-40B4-BE49-F238E27FC236}">
                <a16:creationId xmlns:a16="http://schemas.microsoft.com/office/drawing/2014/main" id="{0E91DBD7-97A7-5EC6-DCAD-33D7CD0ED6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68" r="1"/>
          <a:stretch/>
        </p:blipFill>
        <p:spPr bwMode="auto">
          <a:xfrm flipH="1">
            <a:off x="838200" y="1593570"/>
            <a:ext cx="4263579" cy="3670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977A4738-A481-7FE7-1D7B-BF5D7D1029C5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13" name="Graphic 12" descr="Programmer female with solid fill">
              <a:extLst>
                <a:ext uri="{FF2B5EF4-FFF2-40B4-BE49-F238E27FC236}">
                  <a16:creationId xmlns:a16="http://schemas.microsoft.com/office/drawing/2014/main" id="{DC4BCFCA-C2FD-7948-C266-61D8D50C03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EC89E82-A7BC-C450-66D0-EA53A74A61D3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5" name="Graphic 4" descr="Processor with solid fill">
              <a:extLst>
                <a:ext uri="{FF2B5EF4-FFF2-40B4-BE49-F238E27FC236}">
                  <a16:creationId xmlns:a16="http://schemas.microsoft.com/office/drawing/2014/main" id="{A3796EA9-EED5-5F51-FBB3-BE334ED0D9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14" name="Graphic 13" descr="Database with solid fill">
              <a:extLst>
                <a:ext uri="{FF2B5EF4-FFF2-40B4-BE49-F238E27FC236}">
                  <a16:creationId xmlns:a16="http://schemas.microsoft.com/office/drawing/2014/main" id="{C40C21A1-F365-3F13-6C51-136C245FA3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BE74EB7-A48E-AB18-5E7D-32695B5F1E3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3FBEFD87-0BD2-EB0A-8AF4-868F6A63BB93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F87751AA-3216-13EB-B6D1-62DE00217DD8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6A31632F-E9C7-FEA9-12A3-C3EF162E8267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234BBA3-0BB8-CA07-7776-C92E3E8ECBA8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00BE40C-D156-B951-709E-1276985799A2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Overview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23BB350-494D-CB85-802C-F934DDDAA051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05A2DB4-AABE-F307-BB67-BA5B9DA6EDB0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  <p:sp>
        <p:nvSpPr>
          <p:cNvPr id="2" name="Google Shape;205;p24">
            <a:extLst>
              <a:ext uri="{FF2B5EF4-FFF2-40B4-BE49-F238E27FC236}">
                <a16:creationId xmlns:a16="http://schemas.microsoft.com/office/drawing/2014/main" id="{770A5D28-6AD8-C22F-686B-654DA8FDD81E}"/>
              </a:ext>
            </a:extLst>
          </p:cNvPr>
          <p:cNvSpPr txBox="1">
            <a:spLocks/>
          </p:cNvSpPr>
          <p:nvPr/>
        </p:nvSpPr>
        <p:spPr>
          <a:xfrm>
            <a:off x="8610115" y="6361723"/>
            <a:ext cx="68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384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52A9C75F-2800-1130-8EBE-BD1F588BD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>
            <a:extLst>
              <a:ext uri="{FF2B5EF4-FFF2-40B4-BE49-F238E27FC236}">
                <a16:creationId xmlns:a16="http://schemas.microsoft.com/office/drawing/2014/main" id="{076707EB-6339-765A-2CB8-E9FF8D8111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3655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High-Performance Computing</a:t>
            </a:r>
            <a:endParaRPr dirty="0"/>
          </a:p>
        </p:txBody>
      </p:sp>
      <p:sp>
        <p:nvSpPr>
          <p:cNvPr id="205" name="Google Shape;205;p24">
            <a:extLst>
              <a:ext uri="{FF2B5EF4-FFF2-40B4-BE49-F238E27FC236}">
                <a16:creationId xmlns:a16="http://schemas.microsoft.com/office/drawing/2014/main" id="{FA09D12F-F275-C49C-DE6B-1C6E06A7A9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 dirty="0"/>
          </a:p>
        </p:txBody>
      </p:sp>
      <p:pic>
        <p:nvPicPr>
          <p:cNvPr id="1028" name="Picture 4" descr="Supermicro Data Center Server, Blade, Data Storage, AI System">
            <a:extLst>
              <a:ext uri="{FF2B5EF4-FFF2-40B4-BE49-F238E27FC236}">
                <a16:creationId xmlns:a16="http://schemas.microsoft.com/office/drawing/2014/main" id="{51FE8FDA-8822-4D34-832B-E674598C67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68" r="1"/>
          <a:stretch/>
        </p:blipFill>
        <p:spPr bwMode="auto">
          <a:xfrm flipH="1">
            <a:off x="838200" y="1593570"/>
            <a:ext cx="4263579" cy="3670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206;p24">
            <a:extLst>
              <a:ext uri="{FF2B5EF4-FFF2-40B4-BE49-F238E27FC236}">
                <a16:creationId xmlns:a16="http://schemas.microsoft.com/office/drawing/2014/main" id="{34BF883E-59E3-2D8C-C2A3-647D5F7C2D81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8709" y="1664859"/>
            <a:ext cx="3966581" cy="35282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5A761320-2749-C09A-5E79-5EFD236AAF45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30" name="Graphic 29" descr="Programmer female with solid fill">
              <a:extLst>
                <a:ext uri="{FF2B5EF4-FFF2-40B4-BE49-F238E27FC236}">
                  <a16:creationId xmlns:a16="http://schemas.microsoft.com/office/drawing/2014/main" id="{C6D5B26D-B3D3-E468-4C4E-72E78F58FF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7293D31-2515-06A3-594C-3469D7E78376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32" name="Graphic 31" descr="Processor with solid fill">
              <a:extLst>
                <a:ext uri="{FF2B5EF4-FFF2-40B4-BE49-F238E27FC236}">
                  <a16:creationId xmlns:a16="http://schemas.microsoft.com/office/drawing/2014/main" id="{E4CAEB13-6F68-43C1-1857-BD0FCCA31D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33" name="Graphic 32" descr="Database with solid fill">
              <a:extLst>
                <a:ext uri="{FF2B5EF4-FFF2-40B4-BE49-F238E27FC236}">
                  <a16:creationId xmlns:a16="http://schemas.microsoft.com/office/drawing/2014/main" id="{3D3415C1-1E8A-339F-0158-539F2030A5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5C7662C-8938-55C0-62F3-29EF1460EAF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FBC38E3A-C21C-4BFC-3402-8815528541A1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B6A970F6-CC14-C6FD-2B42-6CB9A341D24F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ECC41D66-FE88-EA41-E384-D77CBE6EE2B7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150943B6-855E-9325-B18B-35412DEF1073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C764693-9091-1E7E-A822-24BB9310875D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Overview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C6B4CAF-59E3-E427-48A8-E81E05E49D6B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D3D4FF9-39F5-EEB9-A0C8-134C628DA6FB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9228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B8A8F2DB-6939-A77D-639D-F659812A1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>
            <a:extLst>
              <a:ext uri="{FF2B5EF4-FFF2-40B4-BE49-F238E27FC236}">
                <a16:creationId xmlns:a16="http://schemas.microsoft.com/office/drawing/2014/main" id="{7BD7DB4F-697C-3A63-4ABF-9CE110B40F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3655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High-Performance Computing</a:t>
            </a:r>
            <a:endParaRPr dirty="0"/>
          </a:p>
        </p:txBody>
      </p:sp>
      <p:sp>
        <p:nvSpPr>
          <p:cNvPr id="205" name="Google Shape;205;p24">
            <a:extLst>
              <a:ext uri="{FF2B5EF4-FFF2-40B4-BE49-F238E27FC236}">
                <a16:creationId xmlns:a16="http://schemas.microsoft.com/office/drawing/2014/main" id="{FD1299D0-DC61-8DD2-62E8-93798DE554C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028" name="Picture 4" descr="Supermicro Data Center Server, Blade, Data Storage, AI System">
            <a:extLst>
              <a:ext uri="{FF2B5EF4-FFF2-40B4-BE49-F238E27FC236}">
                <a16:creationId xmlns:a16="http://schemas.microsoft.com/office/drawing/2014/main" id="{DBE24CDE-E974-20F8-64BB-07A61013D0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68" r="1"/>
          <a:stretch/>
        </p:blipFill>
        <p:spPr bwMode="auto">
          <a:xfrm flipH="1">
            <a:off x="838200" y="1593570"/>
            <a:ext cx="4263579" cy="3670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206;p24">
            <a:extLst>
              <a:ext uri="{FF2B5EF4-FFF2-40B4-BE49-F238E27FC236}">
                <a16:creationId xmlns:a16="http://schemas.microsoft.com/office/drawing/2014/main" id="{35DED229-9EF3-6F9A-116F-F76ED4B03CEB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>
            <a:alphaModFix/>
          </a:blip>
          <a:srcRect l="12577" t="7788" r="13375" b="6217"/>
          <a:stretch/>
        </p:blipFill>
        <p:spPr>
          <a:xfrm>
            <a:off x="7483418" y="1911926"/>
            <a:ext cx="2937164" cy="303414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5345F9-C62B-5BDB-3636-0768C6276581}"/>
              </a:ext>
            </a:extLst>
          </p:cNvPr>
          <p:cNvSpPr txBox="1"/>
          <p:nvPr/>
        </p:nvSpPr>
        <p:spPr>
          <a:xfrm>
            <a:off x="2247740" y="5264131"/>
            <a:ext cx="2854038" cy="716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rPr>
              <a:t>Scale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A6F765-0C56-4EEB-624A-B613514EB478}"/>
              </a:ext>
            </a:extLst>
          </p:cNvPr>
          <p:cNvSpPr txBox="1"/>
          <p:nvPr/>
        </p:nvSpPr>
        <p:spPr>
          <a:xfrm>
            <a:off x="5101778" y="5264130"/>
            <a:ext cx="2381640" cy="716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rPr>
              <a:t>vs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27B800-4828-D3B0-B040-692672C63302}"/>
              </a:ext>
            </a:extLst>
          </p:cNvPr>
          <p:cNvSpPr txBox="1"/>
          <p:nvPr/>
        </p:nvSpPr>
        <p:spPr>
          <a:xfrm>
            <a:off x="7524981" y="5264129"/>
            <a:ext cx="2854038" cy="716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rPr>
              <a:t>Speed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9D38201-E8FA-14F3-F210-8CBB5AAEB04E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33" name="Graphic 32" descr="Programmer female with solid fill">
              <a:extLst>
                <a:ext uri="{FF2B5EF4-FFF2-40B4-BE49-F238E27FC236}">
                  <a16:creationId xmlns:a16="http://schemas.microsoft.com/office/drawing/2014/main" id="{2F2C6535-8CDE-820A-137A-8248DD5ED36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3831FE8-2DF6-4439-A4E0-9B5258DA17EB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35" name="Graphic 34" descr="Processor with solid fill">
              <a:extLst>
                <a:ext uri="{FF2B5EF4-FFF2-40B4-BE49-F238E27FC236}">
                  <a16:creationId xmlns:a16="http://schemas.microsoft.com/office/drawing/2014/main" id="{36D6C18C-ED67-17C7-3FDA-A460216840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36" name="Graphic 35" descr="Database with solid fill">
              <a:extLst>
                <a:ext uri="{FF2B5EF4-FFF2-40B4-BE49-F238E27FC236}">
                  <a16:creationId xmlns:a16="http://schemas.microsoft.com/office/drawing/2014/main" id="{7D995A0B-D0B9-D2D9-BBCD-AD8559AAC9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F8C9F7FA-0589-D511-E2C2-8F47019E87E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1C1E2DD7-5E52-FB16-54CB-1553425F9B2F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975222EA-C83F-322C-C210-439E48973655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478F84F8-C18A-2963-67F7-A67895545525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C22DD339-B5CF-4399-B079-3B6899426F41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1142F34-4767-E90B-6239-E2F2FAD503FD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/>
                <a:t>Overview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D0F7BA4-CA2C-872B-610B-AC72FE857CF7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6418119-8765-6784-FED5-048F5E7CA741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8357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can </a:t>
            </a:r>
            <a:r>
              <a:rPr lang="en-US" i="1"/>
              <a:t>I </a:t>
            </a:r>
            <a:r>
              <a:rPr lang="en-US"/>
              <a:t>use HPC for?</a:t>
            </a:r>
            <a:endParaRPr/>
          </a:p>
        </p:txBody>
      </p:sp>
      <p:sp>
        <p:nvSpPr>
          <p:cNvPr id="298" name="Google Shape;298;p30"/>
          <p:cNvSpPr txBox="1">
            <a:spLocks noGrp="1"/>
          </p:cNvSpPr>
          <p:nvPr>
            <p:ph type="sldNum" idx="12"/>
          </p:nvPr>
        </p:nvSpPr>
        <p:spPr>
          <a:xfrm>
            <a:off x="8588900" y="638890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48B2A4F6-1277-3BFE-0594-88562AC8D6A7}"/>
              </a:ext>
            </a:extLst>
          </p:cNvPr>
          <p:cNvGrpSpPr/>
          <p:nvPr/>
        </p:nvGrpSpPr>
        <p:grpSpPr>
          <a:xfrm>
            <a:off x="1915883" y="1936034"/>
            <a:ext cx="8360234" cy="3217425"/>
            <a:chOff x="1614941" y="1820287"/>
            <a:chExt cx="8360234" cy="3217425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D41FFFDB-572A-328A-1FD8-86A697052587}"/>
                </a:ext>
              </a:extLst>
            </p:cNvPr>
            <p:cNvGrpSpPr/>
            <p:nvPr/>
          </p:nvGrpSpPr>
          <p:grpSpPr>
            <a:xfrm>
              <a:off x="1614941" y="1927573"/>
              <a:ext cx="3679424" cy="3110139"/>
              <a:chOff x="2216824" y="1927573"/>
              <a:chExt cx="3679424" cy="3110139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0B112E4-32D2-61DA-E3F4-0B7B10FB348E}"/>
                  </a:ext>
                </a:extLst>
              </p:cNvPr>
              <p:cNvSpPr txBox="1"/>
              <p:nvPr/>
            </p:nvSpPr>
            <p:spPr>
              <a:xfrm>
                <a:off x="2216824" y="4576047"/>
                <a:ext cx="345082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/>
                  <a:t>Parallel Jobs</a:t>
                </a:r>
              </a:p>
            </p:txBody>
          </p:sp>
          <p:sp>
            <p:nvSpPr>
              <p:cNvPr id="5" name="Round Same Side Corner Rectangle 4">
                <a:extLst>
                  <a:ext uri="{FF2B5EF4-FFF2-40B4-BE49-F238E27FC236}">
                    <a16:creationId xmlns:a16="http://schemas.microsoft.com/office/drawing/2014/main" id="{DA41F11A-2D0B-EF3E-245A-00F48597A618}"/>
                  </a:ext>
                </a:extLst>
              </p:cNvPr>
              <p:cNvSpPr/>
              <p:nvPr/>
            </p:nvSpPr>
            <p:spPr>
              <a:xfrm>
                <a:off x="2216824" y="2348377"/>
                <a:ext cx="1371600" cy="457200"/>
              </a:xfrm>
              <a:prstGeom prst="round2Same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ound Same Side Corner Rectangle 5">
                <a:extLst>
                  <a:ext uri="{FF2B5EF4-FFF2-40B4-BE49-F238E27FC236}">
                    <a16:creationId xmlns:a16="http://schemas.microsoft.com/office/drawing/2014/main" id="{C60D7C9F-882D-7008-6698-2AEB4849F874}"/>
                  </a:ext>
                </a:extLst>
              </p:cNvPr>
              <p:cNvSpPr/>
              <p:nvPr/>
            </p:nvSpPr>
            <p:spPr>
              <a:xfrm rot="10800000">
                <a:off x="2216824" y="3253700"/>
                <a:ext cx="1371600" cy="457200"/>
              </a:xfrm>
              <a:prstGeom prst="round2Same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895390E-BC1F-2DB6-CF9C-12D2358E0B59}"/>
                  </a:ext>
                </a:extLst>
              </p:cNvPr>
              <p:cNvSpPr/>
              <p:nvPr/>
            </p:nvSpPr>
            <p:spPr>
              <a:xfrm>
                <a:off x="2216824" y="2792721"/>
                <a:ext cx="1371600" cy="4572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/>
                  <a:t>Big Job</a:t>
                </a:r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A76CA8B6-29D9-A67C-35B6-ED1E3F0F20EB}"/>
                  </a:ext>
                </a:extLst>
              </p:cNvPr>
              <p:cNvGrpSpPr/>
              <p:nvPr/>
            </p:nvGrpSpPr>
            <p:grpSpPr>
              <a:xfrm>
                <a:off x="4311930" y="1927573"/>
                <a:ext cx="489101" cy="2187496"/>
                <a:chOff x="2832264" y="1958080"/>
                <a:chExt cx="489101" cy="2187496"/>
              </a:xfrm>
            </p:grpSpPr>
            <p:pic>
              <p:nvPicPr>
                <p:cNvPr id="2050" name="Picture 2">
                  <a:extLst>
                    <a:ext uri="{FF2B5EF4-FFF2-40B4-BE49-F238E27FC236}">
                      <a16:creationId xmlns:a16="http://schemas.microsoft.com/office/drawing/2014/main" id="{1C54F29C-4ACD-8688-4160-10959DBEAB6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4111" t="18757" r="25403" b="34550"/>
                <a:stretch/>
              </p:blipFill>
              <p:spPr bwMode="auto">
                <a:xfrm>
                  <a:off x="2832264" y="1958080"/>
                  <a:ext cx="489101" cy="64008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" name="Picture 2">
                  <a:extLst>
                    <a:ext uri="{FF2B5EF4-FFF2-40B4-BE49-F238E27FC236}">
                      <a16:creationId xmlns:a16="http://schemas.microsoft.com/office/drawing/2014/main" id="{94B945BB-3A61-8262-C3D8-7F6D4024867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4111" t="18757" r="25403" b="34550"/>
                <a:stretch/>
              </p:blipFill>
              <p:spPr bwMode="auto">
                <a:xfrm>
                  <a:off x="2832264" y="2731788"/>
                  <a:ext cx="489101" cy="64008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" name="Picture 2">
                  <a:extLst>
                    <a:ext uri="{FF2B5EF4-FFF2-40B4-BE49-F238E27FC236}">
                      <a16:creationId xmlns:a16="http://schemas.microsoft.com/office/drawing/2014/main" id="{D2D8F81E-4143-752C-A174-06819C216FB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4111" t="18757" r="25403" b="34550"/>
                <a:stretch/>
              </p:blipFill>
              <p:spPr bwMode="auto">
                <a:xfrm>
                  <a:off x="2832264" y="3505496"/>
                  <a:ext cx="489101" cy="64008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7942715C-3F35-8002-4FD2-D343FF48C22C}"/>
                  </a:ext>
                </a:extLst>
              </p:cNvPr>
              <p:cNvCxnSpPr>
                <a:cxnSpLocks/>
                <a:stCxn id="5" idx="0"/>
                <a:endCxn id="2050" idx="1"/>
              </p:cNvCxnSpPr>
              <p:nvPr/>
            </p:nvCxnSpPr>
            <p:spPr>
              <a:xfrm flipV="1">
                <a:off x="3588424" y="2247613"/>
                <a:ext cx="723506" cy="329364"/>
              </a:xfrm>
              <a:prstGeom prst="straightConnector1">
                <a:avLst/>
              </a:prstGeom>
              <a:ln w="38100">
                <a:solidFill>
                  <a:srgbClr val="1F1F1F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51D398D0-10D2-0F8C-6AB8-63E9C882E343}"/>
                  </a:ext>
                </a:extLst>
              </p:cNvPr>
              <p:cNvCxnSpPr>
                <a:cxnSpLocks/>
                <a:stCxn id="7" idx="3"/>
                <a:endCxn id="10" idx="1"/>
              </p:cNvCxnSpPr>
              <p:nvPr/>
            </p:nvCxnSpPr>
            <p:spPr>
              <a:xfrm>
                <a:off x="3588424" y="3021321"/>
                <a:ext cx="723506" cy="0"/>
              </a:xfrm>
              <a:prstGeom prst="straightConnector1">
                <a:avLst/>
              </a:prstGeom>
              <a:ln w="38100">
                <a:solidFill>
                  <a:srgbClr val="1F1F1F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1CB389DE-BEA1-5C83-2871-60432B2E2D7B}"/>
                  </a:ext>
                </a:extLst>
              </p:cNvPr>
              <p:cNvCxnSpPr>
                <a:cxnSpLocks/>
                <a:stCxn id="6" idx="2"/>
                <a:endCxn id="11" idx="1"/>
              </p:cNvCxnSpPr>
              <p:nvPr/>
            </p:nvCxnSpPr>
            <p:spPr>
              <a:xfrm>
                <a:off x="3588424" y="3482300"/>
                <a:ext cx="723506" cy="312729"/>
              </a:xfrm>
              <a:prstGeom prst="straightConnector1">
                <a:avLst/>
              </a:prstGeom>
              <a:ln w="38100">
                <a:solidFill>
                  <a:srgbClr val="1F1F1F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Diamond 38">
                <a:extLst>
                  <a:ext uri="{FF2B5EF4-FFF2-40B4-BE49-F238E27FC236}">
                    <a16:creationId xmlns:a16="http://schemas.microsoft.com/office/drawing/2014/main" id="{977FC4C9-3496-D5CD-5778-96B04F43A63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9048" y="2793249"/>
                <a:ext cx="457200" cy="457200"/>
              </a:xfrm>
              <a:prstGeom prst="diamond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1" name="Elbow Connector 40">
                <a:extLst>
                  <a:ext uri="{FF2B5EF4-FFF2-40B4-BE49-F238E27FC236}">
                    <a16:creationId xmlns:a16="http://schemas.microsoft.com/office/drawing/2014/main" id="{2B1EACF7-383C-18AB-1A6A-087F84670133}"/>
                  </a:ext>
                </a:extLst>
              </p:cNvPr>
              <p:cNvCxnSpPr>
                <a:cxnSpLocks/>
                <a:stCxn id="2050" idx="3"/>
                <a:endCxn id="39" idx="0"/>
              </p:cNvCxnSpPr>
              <p:nvPr/>
            </p:nvCxnSpPr>
            <p:spPr>
              <a:xfrm>
                <a:off x="4801031" y="2247613"/>
                <a:ext cx="866617" cy="545636"/>
              </a:xfrm>
              <a:prstGeom prst="bentConnector2">
                <a:avLst/>
              </a:prstGeom>
              <a:ln w="3810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Elbow Connector 43">
                <a:extLst>
                  <a:ext uri="{FF2B5EF4-FFF2-40B4-BE49-F238E27FC236}">
                    <a16:creationId xmlns:a16="http://schemas.microsoft.com/office/drawing/2014/main" id="{CD9F6305-35F7-6AE2-B9A1-B9609A320D43}"/>
                  </a:ext>
                </a:extLst>
              </p:cNvPr>
              <p:cNvCxnSpPr>
                <a:cxnSpLocks/>
                <a:stCxn id="11" idx="3"/>
                <a:endCxn id="39" idx="2"/>
              </p:cNvCxnSpPr>
              <p:nvPr/>
            </p:nvCxnSpPr>
            <p:spPr>
              <a:xfrm flipV="1">
                <a:off x="4801031" y="3250449"/>
                <a:ext cx="866617" cy="544580"/>
              </a:xfrm>
              <a:prstGeom prst="bentConnector2">
                <a:avLst/>
              </a:prstGeom>
              <a:ln w="3810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1B2978BF-BB2C-DD5B-512D-9F111574826C}"/>
                  </a:ext>
                </a:extLst>
              </p:cNvPr>
              <p:cNvCxnSpPr>
                <a:cxnSpLocks/>
                <a:stCxn id="10" idx="3"/>
                <a:endCxn id="39" idx="1"/>
              </p:cNvCxnSpPr>
              <p:nvPr/>
            </p:nvCxnSpPr>
            <p:spPr>
              <a:xfrm>
                <a:off x="4801031" y="3021321"/>
                <a:ext cx="638017" cy="528"/>
              </a:xfrm>
              <a:prstGeom prst="straightConnector1">
                <a:avLst/>
              </a:prstGeom>
              <a:ln w="38100">
                <a:solidFill>
                  <a:srgbClr val="1F1F1F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0" name="Group 259">
              <a:extLst>
                <a:ext uri="{FF2B5EF4-FFF2-40B4-BE49-F238E27FC236}">
                  <a16:creationId xmlns:a16="http://schemas.microsoft.com/office/drawing/2014/main" id="{B90D57E5-328F-8954-5DA1-AE21756AE855}"/>
                </a:ext>
              </a:extLst>
            </p:cNvPr>
            <p:cNvGrpSpPr/>
            <p:nvPr/>
          </p:nvGrpSpPr>
          <p:grpSpPr>
            <a:xfrm>
              <a:off x="6991466" y="1820287"/>
              <a:ext cx="2983709" cy="3217425"/>
              <a:chOff x="6991466" y="1820287"/>
              <a:chExt cx="2983709" cy="3217425"/>
            </a:xfrm>
          </p:grpSpPr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0E8C3190-C566-3D83-2E20-BEFB2EED2566}"/>
                  </a:ext>
                </a:extLst>
              </p:cNvPr>
              <p:cNvSpPr/>
              <p:nvPr/>
            </p:nvSpPr>
            <p:spPr>
              <a:xfrm>
                <a:off x="6991466" y="1820287"/>
                <a:ext cx="731520" cy="731520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/>
                  <a:t>Tiny Job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290FBE98-0CCC-3A49-B8A8-80C6D19F4403}"/>
                  </a:ext>
                </a:extLst>
              </p:cNvPr>
              <p:cNvSpPr/>
              <p:nvPr/>
            </p:nvSpPr>
            <p:spPr>
              <a:xfrm>
                <a:off x="6991466" y="2710208"/>
                <a:ext cx="731520" cy="731520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/>
                  <a:t>Tiny Job</a:t>
                </a: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5394ADA2-6FB7-0FF1-CC61-878186F110E9}"/>
                  </a:ext>
                </a:extLst>
              </p:cNvPr>
              <p:cNvSpPr/>
              <p:nvPr/>
            </p:nvSpPr>
            <p:spPr>
              <a:xfrm>
                <a:off x="6991466" y="3600129"/>
                <a:ext cx="731520" cy="731520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/>
                  <a:t>Tiny Job</a:t>
                </a:r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C0251DAD-855E-29D3-7CBB-165D7FBEEA6D}"/>
                  </a:ext>
                </a:extLst>
              </p:cNvPr>
              <p:cNvCxnSpPr>
                <a:cxnSpLocks/>
                <a:stCxn id="17" idx="3"/>
                <a:endCxn id="28" idx="1"/>
              </p:cNvCxnSpPr>
              <p:nvPr/>
            </p:nvCxnSpPr>
            <p:spPr>
              <a:xfrm flipV="1">
                <a:off x="7722986" y="2183277"/>
                <a:ext cx="652944" cy="2770"/>
              </a:xfrm>
              <a:prstGeom prst="straightConnector1">
                <a:avLst/>
              </a:prstGeom>
              <a:ln w="38100">
                <a:solidFill>
                  <a:srgbClr val="1F1F1F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8" name="Picture 2">
                <a:extLst>
                  <a:ext uri="{FF2B5EF4-FFF2-40B4-BE49-F238E27FC236}">
                    <a16:creationId xmlns:a16="http://schemas.microsoft.com/office/drawing/2014/main" id="{AE63D9DF-C724-7AEC-470B-7637A163A6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111" t="18757" r="25403" b="34550"/>
              <a:stretch/>
            </p:blipFill>
            <p:spPr bwMode="auto">
              <a:xfrm>
                <a:off x="8375930" y="1863237"/>
                <a:ext cx="489101" cy="6400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9" name="Picture 2">
                <a:extLst>
                  <a:ext uri="{FF2B5EF4-FFF2-40B4-BE49-F238E27FC236}">
                    <a16:creationId xmlns:a16="http://schemas.microsoft.com/office/drawing/2014/main" id="{BC93FDD2-C0FD-38A7-AA8E-9BC2CE632F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111" t="18757" r="25403" b="34550"/>
              <a:stretch/>
            </p:blipFill>
            <p:spPr bwMode="auto">
              <a:xfrm>
                <a:off x="8375930" y="2755928"/>
                <a:ext cx="489101" cy="6400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" name="Picture 2">
                <a:extLst>
                  <a:ext uri="{FF2B5EF4-FFF2-40B4-BE49-F238E27FC236}">
                    <a16:creationId xmlns:a16="http://schemas.microsoft.com/office/drawing/2014/main" id="{442DA11E-5B40-3FD4-04DF-5763B911E4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111" t="18757" r="25403" b="34550"/>
              <a:stretch/>
            </p:blipFill>
            <p:spPr bwMode="auto">
              <a:xfrm>
                <a:off x="8375930" y="3648173"/>
                <a:ext cx="489101" cy="6400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13EA4E33-7C53-6D73-DEAA-9A64A162525E}"/>
                  </a:ext>
                </a:extLst>
              </p:cNvPr>
              <p:cNvCxnSpPr>
                <a:cxnSpLocks/>
                <a:stCxn id="18" idx="3"/>
                <a:endCxn id="29" idx="1"/>
              </p:cNvCxnSpPr>
              <p:nvPr/>
            </p:nvCxnSpPr>
            <p:spPr>
              <a:xfrm>
                <a:off x="7722986" y="3075968"/>
                <a:ext cx="652944" cy="0"/>
              </a:xfrm>
              <a:prstGeom prst="straightConnector1">
                <a:avLst/>
              </a:prstGeom>
              <a:ln w="38100">
                <a:solidFill>
                  <a:srgbClr val="1F1F1F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9E5E8083-E0FF-F23F-D883-B2E9E13A0DD0}"/>
                  </a:ext>
                </a:extLst>
              </p:cNvPr>
              <p:cNvCxnSpPr>
                <a:cxnSpLocks/>
                <a:stCxn id="19" idx="3"/>
                <a:endCxn id="30" idx="1"/>
              </p:cNvCxnSpPr>
              <p:nvPr/>
            </p:nvCxnSpPr>
            <p:spPr>
              <a:xfrm>
                <a:off x="7722986" y="3965889"/>
                <a:ext cx="652944" cy="2324"/>
              </a:xfrm>
              <a:prstGeom prst="straightConnector1">
                <a:avLst/>
              </a:prstGeom>
              <a:ln w="38100">
                <a:solidFill>
                  <a:srgbClr val="1F1F1F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23B0E574-CC8D-B3D1-336C-825FCAAA597F}"/>
                  </a:ext>
                </a:extLst>
              </p:cNvPr>
              <p:cNvCxnSpPr>
                <a:cxnSpLocks/>
                <a:stCxn id="28" idx="3"/>
                <a:endCxn id="51" idx="1"/>
              </p:cNvCxnSpPr>
              <p:nvPr/>
            </p:nvCxnSpPr>
            <p:spPr>
              <a:xfrm>
                <a:off x="8865031" y="2183277"/>
                <a:ext cx="652944" cy="0"/>
              </a:xfrm>
              <a:prstGeom prst="straightConnector1">
                <a:avLst/>
              </a:prstGeom>
              <a:ln w="38100">
                <a:solidFill>
                  <a:srgbClr val="1F1F1F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Diamond 50">
                <a:extLst>
                  <a:ext uri="{FF2B5EF4-FFF2-40B4-BE49-F238E27FC236}">
                    <a16:creationId xmlns:a16="http://schemas.microsoft.com/office/drawing/2014/main" id="{56053AC1-AE69-BEA1-036D-487461F9391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517975" y="1954677"/>
                <a:ext cx="457200" cy="457200"/>
              </a:xfrm>
              <a:prstGeom prst="diamond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F64C351A-F026-12F5-8FC1-43BD3D87332C}"/>
                  </a:ext>
                </a:extLst>
              </p:cNvPr>
              <p:cNvCxnSpPr>
                <a:cxnSpLocks/>
                <a:stCxn id="29" idx="3"/>
                <a:endCxn id="57" idx="1"/>
              </p:cNvCxnSpPr>
              <p:nvPr/>
            </p:nvCxnSpPr>
            <p:spPr>
              <a:xfrm flipV="1">
                <a:off x="8865031" y="3072814"/>
                <a:ext cx="652944" cy="3154"/>
              </a:xfrm>
              <a:prstGeom prst="straightConnector1">
                <a:avLst/>
              </a:prstGeom>
              <a:ln w="38100">
                <a:solidFill>
                  <a:srgbClr val="1F1F1F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Diamond 56">
                <a:extLst>
                  <a:ext uri="{FF2B5EF4-FFF2-40B4-BE49-F238E27FC236}">
                    <a16:creationId xmlns:a16="http://schemas.microsoft.com/office/drawing/2014/main" id="{3DCB6779-A1E1-58B4-B47F-8C401C53E5A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517975" y="2844214"/>
                <a:ext cx="457200" cy="457200"/>
              </a:xfrm>
              <a:prstGeom prst="diamond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Diamond 60">
                <a:extLst>
                  <a:ext uri="{FF2B5EF4-FFF2-40B4-BE49-F238E27FC236}">
                    <a16:creationId xmlns:a16="http://schemas.microsoft.com/office/drawing/2014/main" id="{C1E2B0CB-6751-D914-0B47-0A460BFF72C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517975" y="3742515"/>
                <a:ext cx="457200" cy="457200"/>
              </a:xfrm>
              <a:prstGeom prst="diamond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2D38BA01-6C99-84F4-DBD3-26B62BF9CB62}"/>
                  </a:ext>
                </a:extLst>
              </p:cNvPr>
              <p:cNvCxnSpPr>
                <a:cxnSpLocks/>
                <a:stCxn id="30" idx="3"/>
                <a:endCxn id="61" idx="1"/>
              </p:cNvCxnSpPr>
              <p:nvPr/>
            </p:nvCxnSpPr>
            <p:spPr>
              <a:xfrm>
                <a:off x="8865031" y="3968213"/>
                <a:ext cx="652944" cy="2902"/>
              </a:xfrm>
              <a:prstGeom prst="straightConnector1">
                <a:avLst/>
              </a:prstGeom>
              <a:ln w="38100">
                <a:solidFill>
                  <a:srgbClr val="1F1F1F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375ABDC3-3AE5-1F73-B71E-250F9FDB7F35}"/>
                  </a:ext>
                </a:extLst>
              </p:cNvPr>
              <p:cNvSpPr txBox="1"/>
              <p:nvPr/>
            </p:nvSpPr>
            <p:spPr>
              <a:xfrm>
                <a:off x="6991466" y="4576047"/>
                <a:ext cx="29837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/>
                  <a:t>Serial Jobs</a:t>
                </a:r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B26D3D0-E887-B007-4F9F-84A452177FEE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54" name="Graphic 53" descr="Programmer female with solid fill">
              <a:extLst>
                <a:ext uri="{FF2B5EF4-FFF2-40B4-BE49-F238E27FC236}">
                  <a16:creationId xmlns:a16="http://schemas.microsoft.com/office/drawing/2014/main" id="{63E1C010-6859-B622-FB6D-4420202100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3244399-FFAA-0C9B-1B0B-63A63854A1C8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58" name="Graphic 57" descr="Processor with solid fill">
              <a:extLst>
                <a:ext uri="{FF2B5EF4-FFF2-40B4-BE49-F238E27FC236}">
                  <a16:creationId xmlns:a16="http://schemas.microsoft.com/office/drawing/2014/main" id="{38079550-FF24-5F61-5A0B-FECA4FFB6C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59" name="Graphic 58" descr="Database with solid fill">
              <a:extLst>
                <a:ext uri="{FF2B5EF4-FFF2-40B4-BE49-F238E27FC236}">
                  <a16:creationId xmlns:a16="http://schemas.microsoft.com/office/drawing/2014/main" id="{E0C49140-FDEF-CDB3-84CA-B598F0A154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E501491B-FE24-2344-FD40-AAD55ED4DC1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262" name="Freeform 261">
                <a:extLst>
                  <a:ext uri="{FF2B5EF4-FFF2-40B4-BE49-F238E27FC236}">
                    <a16:creationId xmlns:a16="http://schemas.microsoft.com/office/drawing/2014/main" id="{8DC91B92-66E9-FACF-8888-4EB4B28E8BEE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id="{6A3C3D03-C782-2272-58E3-5744980A7A53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4" name="Freeform 263">
                <a:extLst>
                  <a:ext uri="{FF2B5EF4-FFF2-40B4-BE49-F238E27FC236}">
                    <a16:creationId xmlns:a16="http://schemas.microsoft.com/office/drawing/2014/main" id="{F91C3388-1397-228B-EA88-927CDEF0471F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B7E0CA4A-075C-4CA7-FD45-6DF96A129623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669B3BA-3B6A-8E8F-90D5-5195FBD5A1E6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/>
                <a:t>Overview</a:t>
              </a: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9A76E3A9-EF93-8EA8-B602-ABC7ECCCF71F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B4DEF091-805A-FD0F-69A1-D43E9B75AD24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can I</a:t>
            </a:r>
            <a:r>
              <a:rPr lang="en-US" i="1" dirty="0"/>
              <a:t> </a:t>
            </a:r>
            <a:r>
              <a:rPr lang="en-US" dirty="0"/>
              <a:t>use HPC for?</a:t>
            </a:r>
            <a:endParaRPr dirty="0"/>
          </a:p>
        </p:txBody>
      </p:sp>
      <p:sp>
        <p:nvSpPr>
          <p:cNvPr id="266" name="Google Shape;266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5" name="Graphic 4" descr="Database with solid fill">
            <a:extLst>
              <a:ext uri="{FF2B5EF4-FFF2-40B4-BE49-F238E27FC236}">
                <a16:creationId xmlns:a16="http://schemas.microsoft.com/office/drawing/2014/main" id="{808439AE-7D5F-6A36-84CE-E88BDF546F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1906928"/>
            <a:ext cx="2746094" cy="2746094"/>
          </a:xfrm>
          <a:prstGeom prst="rect">
            <a:avLst/>
          </a:prstGeom>
        </p:spPr>
      </p:pic>
      <p:pic>
        <p:nvPicPr>
          <p:cNvPr id="9" name="Graphic 8" descr="Cube with solid fill">
            <a:extLst>
              <a:ext uri="{FF2B5EF4-FFF2-40B4-BE49-F238E27FC236}">
                <a16:creationId xmlns:a16="http://schemas.microsoft.com/office/drawing/2014/main" id="{2B045C6B-CEFB-E347-2428-0D3BC6B097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3231" y="2057400"/>
            <a:ext cx="2743200" cy="2743200"/>
          </a:xfrm>
          <a:prstGeom prst="rect">
            <a:avLst/>
          </a:prstGeom>
        </p:spPr>
      </p:pic>
      <p:pic>
        <p:nvPicPr>
          <p:cNvPr id="18" name="Graphic 17" descr="Meeting with solid fill">
            <a:extLst>
              <a:ext uri="{FF2B5EF4-FFF2-40B4-BE49-F238E27FC236}">
                <a16:creationId xmlns:a16="http://schemas.microsoft.com/office/drawing/2014/main" id="{79A9145B-5A23-F2C6-1AF1-CE8B70D57C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10600" y="2057400"/>
            <a:ext cx="2743200" cy="27432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2C7A107-CC6E-A17E-D976-59D4B9A6C65C}"/>
              </a:ext>
            </a:extLst>
          </p:cNvPr>
          <p:cNvSpPr txBox="1"/>
          <p:nvPr/>
        </p:nvSpPr>
        <p:spPr>
          <a:xfrm>
            <a:off x="1161616" y="4800600"/>
            <a:ext cx="20992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Big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F43603-51EC-7653-F2D0-450063CE7D81}"/>
              </a:ext>
            </a:extLst>
          </p:cNvPr>
          <p:cNvSpPr txBox="1"/>
          <p:nvPr/>
        </p:nvSpPr>
        <p:spPr>
          <a:xfrm>
            <a:off x="4724400" y="4800600"/>
            <a:ext cx="2743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Viz/Rendering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8F4AA0-2F05-3DF0-9888-E7080050BD18}"/>
              </a:ext>
            </a:extLst>
          </p:cNvPr>
          <p:cNvSpPr txBox="1"/>
          <p:nvPr/>
        </p:nvSpPr>
        <p:spPr>
          <a:xfrm>
            <a:off x="8262877" y="4800600"/>
            <a:ext cx="34386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Shared Work Environment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CE404D1-2B3E-DA22-08FB-E27A1A295CC6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35" name="Graphic 34" descr="Programmer female with solid fill">
              <a:extLst>
                <a:ext uri="{FF2B5EF4-FFF2-40B4-BE49-F238E27FC236}">
                  <a16:creationId xmlns:a16="http://schemas.microsoft.com/office/drawing/2014/main" id="{9DED81D1-9908-30C2-0838-3304C60DBF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3D070ED-F07D-52C1-7973-4C7A60645E7C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37" name="Graphic 36" descr="Processor with solid fill">
              <a:extLst>
                <a:ext uri="{FF2B5EF4-FFF2-40B4-BE49-F238E27FC236}">
                  <a16:creationId xmlns:a16="http://schemas.microsoft.com/office/drawing/2014/main" id="{60CFE982-DCCA-670D-E9FF-1A35EA925B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38" name="Graphic 37" descr="Database with solid fill">
              <a:extLst>
                <a:ext uri="{FF2B5EF4-FFF2-40B4-BE49-F238E27FC236}">
                  <a16:creationId xmlns:a16="http://schemas.microsoft.com/office/drawing/2014/main" id="{437465B9-A657-3C4E-9072-C9C96505E1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8EB9901-E998-63F8-9FA6-D193749E93A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1A2D6230-990E-DB7D-6154-F1F82ABB2246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80963C05-37C2-B317-D630-C6C5AFFD5659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D4A25A0F-40E8-3C7E-C6BD-7E160BE6CD7E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03BB236E-B07A-E6E2-F820-6BA29ABA1035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501BAD1-68C2-C4B0-FA12-DE2B572AE8A9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/>
                <a:t>Overview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129743C-6503-0137-46E7-A36940B0B842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4E7A55D-6D8F-44F2-FE7B-525127ADE8F2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2"/>
          <p:cNvSpPr txBox="1">
            <a:spLocks noGrp="1"/>
          </p:cNvSpPr>
          <p:nvPr>
            <p:ph type="body" idx="1"/>
          </p:nvPr>
        </p:nvSpPr>
        <p:spPr>
          <a:xfrm>
            <a:off x="4764356" y="1833801"/>
            <a:ext cx="6591600" cy="416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4091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Heterogeneous cluster </a:t>
            </a:r>
          </a:p>
          <a:p>
            <a:pPr marL="457200" lvl="0" indent="-354091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Hardware provided by CU Boulder, CSU, and AMC</a:t>
            </a:r>
            <a:endParaRPr/>
          </a:p>
          <a:p>
            <a:pPr marL="457200" lvl="0" indent="-354091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Access available to CU Boulder, CSU, AMC and RMACC users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2" name="Picture 4" descr="Supermicro Data Center Server, Blade, Data Storage, AI System">
            <a:extLst>
              <a:ext uri="{FF2B5EF4-FFF2-40B4-BE49-F238E27FC236}">
                <a16:creationId xmlns:a16="http://schemas.microsoft.com/office/drawing/2014/main" id="{079D68D7-B410-1439-E1BD-89339742B9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68" r="1"/>
          <a:stretch/>
        </p:blipFill>
        <p:spPr bwMode="auto">
          <a:xfrm>
            <a:off x="838175" y="1965960"/>
            <a:ext cx="3398544" cy="2926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335;p32">
            <a:extLst>
              <a:ext uri="{FF2B5EF4-FFF2-40B4-BE49-F238E27FC236}">
                <a16:creationId xmlns:a16="http://schemas.microsoft.com/office/drawing/2014/main" id="{10B87B7E-5A71-F2CB-4C31-1D1A81FC84B8}"/>
              </a:ext>
            </a:extLst>
          </p:cNvPr>
          <p:cNvSpPr txBox="1">
            <a:spLocks/>
          </p:cNvSpPr>
          <p:nvPr/>
        </p:nvSpPr>
        <p:spPr>
          <a:xfrm>
            <a:off x="838200" y="1365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5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HPC Cluster: Alpine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EB39F3-EDD7-2E83-ADEA-D0D69D3A1A85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18" name="Graphic 17" descr="Programmer female with solid fill">
              <a:extLst>
                <a:ext uri="{FF2B5EF4-FFF2-40B4-BE49-F238E27FC236}">
                  <a16:creationId xmlns:a16="http://schemas.microsoft.com/office/drawing/2014/main" id="{6BDA3A6E-3D0E-6FEE-E511-AECDBEA932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B60A49C-9F9D-21FC-47BC-4EBF5E6BBE30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20" name="Graphic 19" descr="Processor with solid fill">
              <a:extLst>
                <a:ext uri="{FF2B5EF4-FFF2-40B4-BE49-F238E27FC236}">
                  <a16:creationId xmlns:a16="http://schemas.microsoft.com/office/drawing/2014/main" id="{0005273B-590E-2F06-8F70-D454EED3F2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34" name="Graphic 33" descr="Database with solid fill">
              <a:extLst>
                <a:ext uri="{FF2B5EF4-FFF2-40B4-BE49-F238E27FC236}">
                  <a16:creationId xmlns:a16="http://schemas.microsoft.com/office/drawing/2014/main" id="{EA405E09-DFD5-4AB4-7D74-A0FC941DC7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D41CFFC-AACA-2E18-6612-B26F25AB076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194864E6-6EA0-3671-9C46-11C90F9F81FD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DA2FB98B-8958-F42E-6CAB-42AF53B2052D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F163FD26-6E13-3AC1-36BA-F6CB15BAE592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F476820-D2ED-9E8D-190D-B5D2AC8DC575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43B59BD-EA5A-86AD-34A2-8608C0D81DFA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6F7D134-E0DE-53B9-44C5-48926CF28D00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Nodes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769184E-AC47-73A4-4F9E-9136ACE1790E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3"/>
          <p:cNvSpPr txBox="1">
            <a:spLocks noGrp="1"/>
          </p:cNvSpPr>
          <p:nvPr>
            <p:ph type="title"/>
          </p:nvPr>
        </p:nvSpPr>
        <p:spPr>
          <a:xfrm>
            <a:off x="838200" y="164664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Types</a:t>
            </a:r>
            <a:endParaRPr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14C8CBA-AF66-41D0-8B9C-B7906E3E8F0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3077" y="1445469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AE0F769-AB71-1202-AFA5-4183B62BCD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2923" y="1445469"/>
            <a:ext cx="2286000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E3F19C7-A742-6A6B-B1B9-7719D7649E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3000" y="1445469"/>
            <a:ext cx="2286000" cy="2286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A630366-C85F-59A2-E790-9C62AA516A09}"/>
              </a:ext>
            </a:extLst>
          </p:cNvPr>
          <p:cNvSpPr txBox="1"/>
          <p:nvPr/>
        </p:nvSpPr>
        <p:spPr>
          <a:xfrm>
            <a:off x="1970820" y="3731469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latin typeface="Consolas" panose="020B0609020204030204" pitchFamily="49" charset="0"/>
                <a:cs typeface="Consolas" panose="020B0609020204030204" pitchFamily="49" charset="0"/>
              </a:rPr>
              <a:t>LOGIN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F425D9-000B-77C9-942F-7D0BA2A7B8CE}"/>
              </a:ext>
            </a:extLst>
          </p:cNvPr>
          <p:cNvSpPr txBox="1"/>
          <p:nvPr/>
        </p:nvSpPr>
        <p:spPr>
          <a:xfrm>
            <a:off x="5510743" y="3731469"/>
            <a:ext cx="15648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latin typeface="Consolas" panose="020B0609020204030204" pitchFamily="49" charset="0"/>
                <a:cs typeface="Consolas" panose="020B0609020204030204" pitchFamily="49" charset="0"/>
              </a:rPr>
              <a:t>COMPILE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94695B-0CC0-44B1-5F47-2978A71B728C}"/>
              </a:ext>
            </a:extLst>
          </p:cNvPr>
          <p:cNvSpPr txBox="1"/>
          <p:nvPr/>
        </p:nvSpPr>
        <p:spPr>
          <a:xfrm>
            <a:off x="8853497" y="3726677"/>
            <a:ext cx="15648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latin typeface="Consolas" panose="020B0609020204030204" pitchFamily="49" charset="0"/>
                <a:cs typeface="Consolas" panose="020B0609020204030204" pitchFamily="49" charset="0"/>
              </a:rPr>
              <a:t>COMPUTE</a:t>
            </a:r>
          </a:p>
        </p:txBody>
      </p:sp>
      <p:sp>
        <p:nvSpPr>
          <p:cNvPr id="2" name="Google Shape;337;p32">
            <a:extLst>
              <a:ext uri="{FF2B5EF4-FFF2-40B4-BE49-F238E27FC236}">
                <a16:creationId xmlns:a16="http://schemas.microsoft.com/office/drawing/2014/main" id="{6B33642C-E193-3088-9692-4700A1A1B83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1E2BDDA-60AD-CE52-CE7C-72C503483B4F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23" name="Graphic 22" descr="Programmer female with solid fill">
              <a:extLst>
                <a:ext uri="{FF2B5EF4-FFF2-40B4-BE49-F238E27FC236}">
                  <a16:creationId xmlns:a16="http://schemas.microsoft.com/office/drawing/2014/main" id="{8C87FC3C-F2B5-7BC8-690E-F90A01C048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8ED2165-EC39-EC7B-3EE0-2E259B9358C2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25" name="Graphic 24" descr="Processor with solid fill">
              <a:extLst>
                <a:ext uri="{FF2B5EF4-FFF2-40B4-BE49-F238E27FC236}">
                  <a16:creationId xmlns:a16="http://schemas.microsoft.com/office/drawing/2014/main" id="{D2D2C90A-3FA8-DCF4-FB0B-E7005FD911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26" name="Graphic 25" descr="Database with solid fill">
              <a:extLst>
                <a:ext uri="{FF2B5EF4-FFF2-40B4-BE49-F238E27FC236}">
                  <a16:creationId xmlns:a16="http://schemas.microsoft.com/office/drawing/2014/main" id="{A475AC48-7189-6C10-B2CD-2157F387B0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23AD1D1-3056-A090-809A-F40B70E6F26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2BFCC2C9-9725-D867-6BF7-877535C65460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8AF5A2B9-6DF8-66E5-A14E-AF595EEA2850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92800EBA-09B2-854E-A2AD-BB62E2D3C66B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7F86E8B-E3A7-532D-B95E-4407770EF8A7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198D3BE-0525-6670-FB6B-D06ACB63F69F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1C15757-3BFD-1F3A-F1EF-3CEC57017EA4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Nodes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21BABB6-E785-6929-79DF-984AE4521C3D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34088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3"/>
          <p:cNvSpPr txBox="1">
            <a:spLocks noGrp="1"/>
          </p:cNvSpPr>
          <p:nvPr>
            <p:ph type="title"/>
          </p:nvPr>
        </p:nvSpPr>
        <p:spPr>
          <a:xfrm>
            <a:off x="838200" y="164664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Types</a:t>
            </a:r>
            <a:endParaRPr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14C8CBA-AF66-41D0-8B9C-B7906E3E8F0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3077" y="1445469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AE0F769-AB71-1202-AFA5-4183B62BCD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2923" y="1445469"/>
            <a:ext cx="2286000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E3F19C7-A742-6A6B-B1B9-7719D7649E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3000" y="1445469"/>
            <a:ext cx="2286000" cy="2286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A630366-C85F-59A2-E790-9C62AA516A09}"/>
              </a:ext>
            </a:extLst>
          </p:cNvPr>
          <p:cNvSpPr txBox="1"/>
          <p:nvPr/>
        </p:nvSpPr>
        <p:spPr>
          <a:xfrm>
            <a:off x="1970820" y="3731469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latin typeface="Consolas" panose="020B0609020204030204" pitchFamily="49" charset="0"/>
                <a:cs typeface="Consolas" panose="020B0609020204030204" pitchFamily="49" charset="0"/>
              </a:rPr>
              <a:t>LOGIN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F425D9-000B-77C9-942F-7D0BA2A7B8CE}"/>
              </a:ext>
            </a:extLst>
          </p:cNvPr>
          <p:cNvSpPr txBox="1"/>
          <p:nvPr/>
        </p:nvSpPr>
        <p:spPr>
          <a:xfrm>
            <a:off x="5510743" y="3731469"/>
            <a:ext cx="15648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COMPILE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94695B-0CC0-44B1-5F47-2978A71B728C}"/>
              </a:ext>
            </a:extLst>
          </p:cNvPr>
          <p:cNvSpPr txBox="1"/>
          <p:nvPr/>
        </p:nvSpPr>
        <p:spPr>
          <a:xfrm>
            <a:off x="8853497" y="3726677"/>
            <a:ext cx="15648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COMPUTE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05295E-70DA-8658-173C-99AB3C36EEFE}"/>
              </a:ext>
            </a:extLst>
          </p:cNvPr>
          <p:cNvSpPr txBox="1"/>
          <p:nvPr/>
        </p:nvSpPr>
        <p:spPr>
          <a:xfrm>
            <a:off x="1285354" y="4249897"/>
            <a:ext cx="2696735" cy="1700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/>
              <a:t>Entry to system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/>
              <a:t>View or edit files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/>
              <a:t>Submit jobs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/>
          </a:p>
        </p:txBody>
      </p:sp>
      <p:sp>
        <p:nvSpPr>
          <p:cNvPr id="2" name="Google Shape;337;p32">
            <a:extLst>
              <a:ext uri="{FF2B5EF4-FFF2-40B4-BE49-F238E27FC236}">
                <a16:creationId xmlns:a16="http://schemas.microsoft.com/office/drawing/2014/main" id="{131927D1-25FA-244F-CE6D-CFB06FAD395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38B292A-36BC-0919-223C-90D8DE7AC9A6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24" name="Graphic 23" descr="Programmer female with solid fill">
              <a:extLst>
                <a:ext uri="{FF2B5EF4-FFF2-40B4-BE49-F238E27FC236}">
                  <a16:creationId xmlns:a16="http://schemas.microsoft.com/office/drawing/2014/main" id="{F85D1267-534C-C7E0-E08B-A9F2ACC8AD6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1749454-CF2C-DB83-75CF-5415AB7D25E0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26" name="Graphic 25" descr="Processor with solid fill">
              <a:extLst>
                <a:ext uri="{FF2B5EF4-FFF2-40B4-BE49-F238E27FC236}">
                  <a16:creationId xmlns:a16="http://schemas.microsoft.com/office/drawing/2014/main" id="{D6054EB9-7B7B-63E7-7EC1-AA965EAEAB8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27" name="Graphic 26" descr="Database with solid fill">
              <a:extLst>
                <a:ext uri="{FF2B5EF4-FFF2-40B4-BE49-F238E27FC236}">
                  <a16:creationId xmlns:a16="http://schemas.microsoft.com/office/drawing/2014/main" id="{AE6FCCC6-E8BE-742F-ED6A-461FE309B3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7D64C54-AEBB-8C98-DA03-A8778D5F993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586021A7-53F7-425C-8BC9-4BBCBBDAB08D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51C65F2B-7501-55B3-BC3F-ADA5B84F7364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501DEADB-1CAD-07C8-5A65-9BB1F36DFB26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D879225C-A9BF-F4E3-FB02-31C955C63DE7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6760AB6-B345-C744-88C7-F673DCF44652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A698427-358A-91C4-5909-630FA48CF9C9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Nodes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AD07B5D-FD11-F97D-C151-1F9D6AA0D65E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75955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3"/>
          <p:cNvSpPr txBox="1">
            <a:spLocks noGrp="1"/>
          </p:cNvSpPr>
          <p:nvPr>
            <p:ph type="title"/>
          </p:nvPr>
        </p:nvSpPr>
        <p:spPr>
          <a:xfrm>
            <a:off x="838200" y="164664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Types</a:t>
            </a:r>
            <a:endParaRPr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14C8CBA-AF66-41D0-8B9C-B7906E3E8F0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3077" y="1445469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AE0F769-AB71-1202-AFA5-4183B62BCD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2923" y="1445469"/>
            <a:ext cx="2286000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E3F19C7-A742-6A6B-B1B9-7719D7649E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3000" y="1445469"/>
            <a:ext cx="2286000" cy="2286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A630366-C85F-59A2-E790-9C62AA516A09}"/>
              </a:ext>
            </a:extLst>
          </p:cNvPr>
          <p:cNvSpPr txBox="1"/>
          <p:nvPr/>
        </p:nvSpPr>
        <p:spPr>
          <a:xfrm>
            <a:off x="1970820" y="3731469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LOGIN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F425D9-000B-77C9-942F-7D0BA2A7B8CE}"/>
              </a:ext>
            </a:extLst>
          </p:cNvPr>
          <p:cNvSpPr txBox="1"/>
          <p:nvPr/>
        </p:nvSpPr>
        <p:spPr>
          <a:xfrm>
            <a:off x="5510743" y="3731469"/>
            <a:ext cx="15648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latin typeface="Consolas" panose="020B0609020204030204" pitchFamily="49" charset="0"/>
                <a:cs typeface="Consolas" panose="020B0609020204030204" pitchFamily="49" charset="0"/>
              </a:rPr>
              <a:t>COMPILE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94695B-0CC0-44B1-5F47-2978A71B728C}"/>
              </a:ext>
            </a:extLst>
          </p:cNvPr>
          <p:cNvSpPr txBox="1"/>
          <p:nvPr/>
        </p:nvSpPr>
        <p:spPr>
          <a:xfrm>
            <a:off x="8853497" y="3726677"/>
            <a:ext cx="15648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COMPUTE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CA5765-D6C8-2B90-15EB-D654766C465D}"/>
              </a:ext>
            </a:extLst>
          </p:cNvPr>
          <p:cNvSpPr txBox="1"/>
          <p:nvPr/>
        </p:nvSpPr>
        <p:spPr>
          <a:xfrm>
            <a:off x="5008096" y="4215581"/>
            <a:ext cx="2570145" cy="1743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/>
              <a:t>View or edit files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/>
              <a:t>Submit jobs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chemeClr val="tx1"/>
                </a:solidFill>
              </a:rPr>
              <a:t>Compile code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chemeClr val="tx1"/>
                </a:solidFill>
              </a:rPr>
              <a:t>Install software</a:t>
            </a:r>
          </a:p>
        </p:txBody>
      </p:sp>
      <p:sp>
        <p:nvSpPr>
          <p:cNvPr id="2" name="Google Shape;337;p32">
            <a:extLst>
              <a:ext uri="{FF2B5EF4-FFF2-40B4-BE49-F238E27FC236}">
                <a16:creationId xmlns:a16="http://schemas.microsoft.com/office/drawing/2014/main" id="{8C66DD78-6F28-26E1-C4F5-4709E66026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894D8D4-27D5-C387-D941-4000EACF86A4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24" name="Graphic 23" descr="Programmer female with solid fill">
              <a:extLst>
                <a:ext uri="{FF2B5EF4-FFF2-40B4-BE49-F238E27FC236}">
                  <a16:creationId xmlns:a16="http://schemas.microsoft.com/office/drawing/2014/main" id="{92283F25-A1E9-18CF-9268-83FFC0EF2B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2CF8B58-470C-80B4-78B7-D03F2DB56BE0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26" name="Graphic 25" descr="Processor with solid fill">
              <a:extLst>
                <a:ext uri="{FF2B5EF4-FFF2-40B4-BE49-F238E27FC236}">
                  <a16:creationId xmlns:a16="http://schemas.microsoft.com/office/drawing/2014/main" id="{9A21AB2F-2FC6-0782-DE18-FCE0749F1F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27" name="Graphic 26" descr="Database with solid fill">
              <a:extLst>
                <a:ext uri="{FF2B5EF4-FFF2-40B4-BE49-F238E27FC236}">
                  <a16:creationId xmlns:a16="http://schemas.microsoft.com/office/drawing/2014/main" id="{DDFEE1B8-4CA9-D794-B176-555676842B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76A4A8E-D6D0-B670-1C3A-3A3CA745C76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158810C2-1F21-855A-A407-6EEEFD66D77B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CCD633B3-57F5-0343-E3CF-A75425C3AEE5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678735FE-1A07-4CD6-E0C9-C4ADA70369FE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2327DAC-C868-E3E0-F979-D8DF28FCF9BD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BBD1CF9-FAA9-B11F-0C8A-E59D57B25974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5D94509-B030-FCF4-C1CA-C66BADFF3059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Nodes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90750D8-0634-6B32-EF97-2E816B1F2DA6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1133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3"/>
          <p:cNvSpPr txBox="1">
            <a:spLocks noGrp="1"/>
          </p:cNvSpPr>
          <p:nvPr>
            <p:ph type="title"/>
          </p:nvPr>
        </p:nvSpPr>
        <p:spPr>
          <a:xfrm>
            <a:off x="838200" y="164664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Types</a:t>
            </a:r>
            <a:endParaRPr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14C8CBA-AF66-41D0-8B9C-B7906E3E8F0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3077" y="1445469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AE0F769-AB71-1202-AFA5-4183B62BCD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2923" y="1445469"/>
            <a:ext cx="2286000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E3F19C7-A742-6A6B-B1B9-7719D7649E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3000" y="1445469"/>
            <a:ext cx="2286000" cy="2286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A630366-C85F-59A2-E790-9C62AA516A09}"/>
              </a:ext>
            </a:extLst>
          </p:cNvPr>
          <p:cNvSpPr txBox="1"/>
          <p:nvPr/>
        </p:nvSpPr>
        <p:spPr>
          <a:xfrm>
            <a:off x="1970820" y="3731469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LOGIN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F425D9-000B-77C9-942F-7D0BA2A7B8CE}"/>
              </a:ext>
            </a:extLst>
          </p:cNvPr>
          <p:cNvSpPr txBox="1"/>
          <p:nvPr/>
        </p:nvSpPr>
        <p:spPr>
          <a:xfrm>
            <a:off x="5510743" y="3731469"/>
            <a:ext cx="15648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COMPILE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94695B-0CC0-44B1-5F47-2978A71B728C}"/>
              </a:ext>
            </a:extLst>
          </p:cNvPr>
          <p:cNvSpPr txBox="1"/>
          <p:nvPr/>
        </p:nvSpPr>
        <p:spPr>
          <a:xfrm>
            <a:off x="8853497" y="3726677"/>
            <a:ext cx="15648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latin typeface="Consolas" panose="020B0609020204030204" pitchFamily="49" charset="0"/>
                <a:cs typeface="Consolas" panose="020B0609020204030204" pitchFamily="49" charset="0"/>
              </a:rPr>
              <a:t>COMPUTE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785805-6689-96E9-A442-CAA540F1520E}"/>
              </a:ext>
            </a:extLst>
          </p:cNvPr>
          <p:cNvSpPr txBox="1"/>
          <p:nvPr/>
        </p:nvSpPr>
        <p:spPr>
          <a:xfrm>
            <a:off x="8172689" y="4249897"/>
            <a:ext cx="2926467" cy="1700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tx1"/>
                </a:solidFill>
              </a:rPr>
              <a:t>Run scheduled jobs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tx1"/>
                </a:solidFill>
              </a:rPr>
              <a:t>Handle calculations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sz="22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/>
          </a:p>
        </p:txBody>
      </p:sp>
      <p:sp>
        <p:nvSpPr>
          <p:cNvPr id="2" name="Google Shape;337;p32">
            <a:extLst>
              <a:ext uri="{FF2B5EF4-FFF2-40B4-BE49-F238E27FC236}">
                <a16:creationId xmlns:a16="http://schemas.microsoft.com/office/drawing/2014/main" id="{7834354A-DB27-7036-D7F2-16AB012D76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72B05B2-2DE2-F9AA-D7BD-820D0A604158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24" name="Graphic 23" descr="Programmer female with solid fill">
              <a:extLst>
                <a:ext uri="{FF2B5EF4-FFF2-40B4-BE49-F238E27FC236}">
                  <a16:creationId xmlns:a16="http://schemas.microsoft.com/office/drawing/2014/main" id="{1FFDDFEB-A215-F859-92AD-87EF6D142F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3B1C3A2-3F2D-6B7E-04CE-9A1516806171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26" name="Graphic 25" descr="Processor with solid fill">
              <a:extLst>
                <a:ext uri="{FF2B5EF4-FFF2-40B4-BE49-F238E27FC236}">
                  <a16:creationId xmlns:a16="http://schemas.microsoft.com/office/drawing/2014/main" id="{18CC8DD6-0AE9-E97F-4CF8-4EC05BF73E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27" name="Graphic 26" descr="Database with solid fill">
              <a:extLst>
                <a:ext uri="{FF2B5EF4-FFF2-40B4-BE49-F238E27FC236}">
                  <a16:creationId xmlns:a16="http://schemas.microsoft.com/office/drawing/2014/main" id="{6BF6C223-5165-1D4A-5496-D82A8E3B1E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F77A7-0432-433B-4B93-6B9B6E9FD9F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5AF7CF05-0B2A-B684-BBF4-EA2AC045846B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BC20EFF0-E8C2-249D-315F-A12FFB4EBCD5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7A8FBB5E-5F04-A238-DFA1-5972A8280063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08BD092-A1D0-C112-C0B2-5E2F88E169C6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C5CAEB3-61A5-A938-C408-A7793F1CFC2D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918E375-4664-24BF-2E0B-BE9F492D5A59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Nodes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4D7408E-1185-23DE-D2B5-401B250BCFF8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5099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5B02276A-EFC9-E7C2-56F0-15CCD49C1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2">
            <a:extLst>
              <a:ext uri="{FF2B5EF4-FFF2-40B4-BE49-F238E27FC236}">
                <a16:creationId xmlns:a16="http://schemas.microsoft.com/office/drawing/2014/main" id="{7D534403-D252-E56D-64B7-44E21E45E8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3655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Alpine Partitions</a:t>
            </a:r>
            <a:endParaRPr/>
          </a:p>
        </p:txBody>
      </p:sp>
      <p:sp>
        <p:nvSpPr>
          <p:cNvPr id="337" name="Google Shape;337;p32">
            <a:extLst>
              <a:ext uri="{FF2B5EF4-FFF2-40B4-BE49-F238E27FC236}">
                <a16:creationId xmlns:a16="http://schemas.microsoft.com/office/drawing/2014/main" id="{9C3F2E95-0E07-2372-59C3-B43352347A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2" name="Picture 4" descr="Supermicro Data Center Server, Blade, Data Storage, AI System">
            <a:extLst>
              <a:ext uri="{FF2B5EF4-FFF2-40B4-BE49-F238E27FC236}">
                <a16:creationId xmlns:a16="http://schemas.microsoft.com/office/drawing/2014/main" id="{AE45C49E-CFDF-4306-581F-E7ACE68299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68" r="1"/>
          <a:stretch/>
        </p:blipFill>
        <p:spPr bwMode="auto">
          <a:xfrm>
            <a:off x="3750073" y="1405543"/>
            <a:ext cx="4691854" cy="40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D647B26-5158-ED42-CDA4-27A3D335058F}"/>
              </a:ext>
            </a:extLst>
          </p:cNvPr>
          <p:cNvGrpSpPr/>
          <p:nvPr/>
        </p:nvGrpSpPr>
        <p:grpSpPr>
          <a:xfrm>
            <a:off x="4742482" y="2255569"/>
            <a:ext cx="2124371" cy="2346859"/>
            <a:chOff x="4726983" y="2457616"/>
            <a:chExt cx="2124371" cy="2346859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C5A1E32A-FBBF-CBF4-94B4-DF3636D17AFA}"/>
                </a:ext>
              </a:extLst>
            </p:cNvPr>
            <p:cNvSpPr/>
            <p:nvPr/>
          </p:nvSpPr>
          <p:spPr>
            <a:xfrm>
              <a:off x="4726983" y="2457616"/>
              <a:ext cx="2124371" cy="2346859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8972347B-25BA-10DB-0E6E-398291FF4D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006742" y="2646573"/>
              <a:ext cx="1564852" cy="156485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A3E7AB5-FB90-9A16-0C8D-3BCFE2EBFFA7}"/>
                </a:ext>
              </a:extLst>
            </p:cNvPr>
            <p:cNvSpPr txBox="1"/>
            <p:nvPr/>
          </p:nvSpPr>
          <p:spPr>
            <a:xfrm>
              <a:off x="5006742" y="4211425"/>
              <a:ext cx="15648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>
                  <a:latin typeface="Consolas" panose="020B0609020204030204" pitchFamily="49" charset="0"/>
                  <a:cs typeface="Consolas" panose="020B0609020204030204" pitchFamily="49" charset="0"/>
                </a:rPr>
                <a:t>COMPUTE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11897F3-C9C7-21BF-3BEB-511C3B40CA38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14" name="Graphic 13" descr="Programmer female with solid fill">
              <a:extLst>
                <a:ext uri="{FF2B5EF4-FFF2-40B4-BE49-F238E27FC236}">
                  <a16:creationId xmlns:a16="http://schemas.microsoft.com/office/drawing/2014/main" id="{D6EA775E-4769-A3B3-1269-D031C4CA9A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49A77BC-1AEE-F0DA-D7B7-55462C24E896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23" name="Graphic 22" descr="Processor with solid fill">
              <a:extLst>
                <a:ext uri="{FF2B5EF4-FFF2-40B4-BE49-F238E27FC236}">
                  <a16:creationId xmlns:a16="http://schemas.microsoft.com/office/drawing/2014/main" id="{239DBA80-FA17-D13D-FF44-C95EA3159D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24" name="Graphic 23" descr="Database with solid fill">
              <a:extLst>
                <a:ext uri="{FF2B5EF4-FFF2-40B4-BE49-F238E27FC236}">
                  <a16:creationId xmlns:a16="http://schemas.microsoft.com/office/drawing/2014/main" id="{07D882B6-833D-F090-2EB8-02E902512B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9D42728-BD90-9EC6-D598-C5B00A5251B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387AA385-BD65-9C76-08F3-C8AD0376EDAC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378F22EF-ADCB-47A1-82DD-725C9BD7D90F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BFC64D31-40E8-2E6D-525F-3CBDEFB54277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BBF3BD0-0BA1-75D3-B267-9EFA3B0F237A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0413B7A-EA5A-24CE-422C-0F2DDE525197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0D422BF-45C9-BB79-1040-BA94510B64B6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Nodes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D9171A9-5CE9-AA3E-A41F-06994CEB42EF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6683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81F2AE31-C903-A075-45AE-C9FAEB5B7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2">
            <a:extLst>
              <a:ext uri="{FF2B5EF4-FFF2-40B4-BE49-F238E27FC236}">
                <a16:creationId xmlns:a16="http://schemas.microsoft.com/office/drawing/2014/main" id="{4B98FC8C-FF06-0B8F-D96A-382401CBC8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3655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Alpine Partitions</a:t>
            </a:r>
            <a:endParaRPr/>
          </a:p>
        </p:txBody>
      </p:sp>
      <p:sp>
        <p:nvSpPr>
          <p:cNvPr id="337" name="Google Shape;337;p32">
            <a:extLst>
              <a:ext uri="{FF2B5EF4-FFF2-40B4-BE49-F238E27FC236}">
                <a16:creationId xmlns:a16="http://schemas.microsoft.com/office/drawing/2014/main" id="{2BC4644A-1F59-1D3E-58BF-5166C03C3F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2" name="Picture 4" descr="Supermicro Data Center Server, Blade, Data Storage, AI System">
            <a:extLst>
              <a:ext uri="{FF2B5EF4-FFF2-40B4-BE49-F238E27FC236}">
                <a16:creationId xmlns:a16="http://schemas.microsoft.com/office/drawing/2014/main" id="{D76C4C27-CF16-32EF-2B02-DC875A46C7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68" r="1"/>
          <a:stretch/>
        </p:blipFill>
        <p:spPr bwMode="auto">
          <a:xfrm>
            <a:off x="3750073" y="1405543"/>
            <a:ext cx="4691854" cy="40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18754FF-9970-1B20-3829-DC5CA731B804}"/>
              </a:ext>
            </a:extLst>
          </p:cNvPr>
          <p:cNvSpPr txBox="1"/>
          <p:nvPr/>
        </p:nvSpPr>
        <p:spPr>
          <a:xfrm>
            <a:off x="457200" y="2092446"/>
            <a:ext cx="259080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 err="1"/>
              <a:t>acpu</a:t>
            </a:r>
            <a:endParaRPr lang="en-US" sz="2800" b="1" dirty="0"/>
          </a:p>
          <a:p>
            <a:pPr algn="ctr"/>
            <a:r>
              <a:rPr lang="en-US" sz="2400" dirty="0"/>
              <a:t>General Usage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8588F9C-8692-06CC-DB20-8C929554192B}"/>
              </a:ext>
            </a:extLst>
          </p:cNvPr>
          <p:cNvSpPr/>
          <p:nvPr/>
        </p:nvSpPr>
        <p:spPr>
          <a:xfrm>
            <a:off x="457200" y="1845674"/>
            <a:ext cx="2590800" cy="146304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4" descr="Supermicro Data Center Server, Blade, Data Storage, AI System">
            <a:extLst>
              <a:ext uri="{FF2B5EF4-FFF2-40B4-BE49-F238E27FC236}">
                <a16:creationId xmlns:a16="http://schemas.microsoft.com/office/drawing/2014/main" id="{534216B3-960E-27F8-DB59-CBB6C56DE9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68" r="55669"/>
          <a:stretch/>
        </p:blipFill>
        <p:spPr bwMode="auto">
          <a:xfrm>
            <a:off x="3750073" y="1405542"/>
            <a:ext cx="612771" cy="40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948DF0DA-8241-0D02-FC34-72FE62566F97}"/>
              </a:ext>
            </a:extLst>
          </p:cNvPr>
          <p:cNvGrpSpPr/>
          <p:nvPr/>
        </p:nvGrpSpPr>
        <p:grpSpPr>
          <a:xfrm>
            <a:off x="4158096" y="6116199"/>
            <a:ext cx="3756352" cy="741801"/>
            <a:chOff x="4158096" y="6116199"/>
            <a:chExt cx="3756352" cy="741801"/>
          </a:xfrm>
        </p:grpSpPr>
        <p:pic>
          <p:nvPicPr>
            <p:cNvPr id="4" name="Graphic 3" descr="Processor with solid fill">
              <a:extLst>
                <a:ext uri="{FF2B5EF4-FFF2-40B4-BE49-F238E27FC236}">
                  <a16:creationId xmlns:a16="http://schemas.microsoft.com/office/drawing/2014/main" id="{455AA4F4-06A6-8817-857E-E13110499D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333788" y="6144832"/>
              <a:ext cx="457200" cy="457200"/>
            </a:xfrm>
            <a:prstGeom prst="rect">
              <a:avLst/>
            </a:prstGeom>
          </p:spPr>
        </p:pic>
        <p:pic>
          <p:nvPicPr>
            <p:cNvPr id="5" name="Graphic 4" descr="Programmer female with solid fill">
              <a:extLst>
                <a:ext uri="{FF2B5EF4-FFF2-40B4-BE49-F238E27FC236}">
                  <a16:creationId xmlns:a16="http://schemas.microsoft.com/office/drawing/2014/main" id="{70309BDE-100E-1919-7240-A8AE5DA2E3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83440" y="6116199"/>
              <a:ext cx="457200" cy="457200"/>
            </a:xfrm>
            <a:prstGeom prst="rect">
              <a:avLst/>
            </a:prstGeom>
          </p:spPr>
        </p:pic>
        <p:pic>
          <p:nvPicPr>
            <p:cNvPr id="6" name="Graphic 5" descr="Database with solid fill">
              <a:extLst>
                <a:ext uri="{FF2B5EF4-FFF2-40B4-BE49-F238E27FC236}">
                  <a16:creationId xmlns:a16="http://schemas.microsoft.com/office/drawing/2014/main" id="{1A362CCC-0242-F192-7328-58F2239D001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181473" y="6144832"/>
              <a:ext cx="457200" cy="4572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36BE177-A67A-C6ED-3F5E-09220689037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  <a:solidFill>
              <a:schemeClr val="bg1">
                <a:lumMod val="75000"/>
              </a:schemeClr>
            </a:solidFill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E61CDE7C-C6DE-6F0B-B80A-30362F5B4E13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grpFill/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CD52204B-EDBA-D397-7ED1-40D869CCA274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grpFill/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89874B23-B8B5-3996-CFE8-50CD92E44E4D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grpFill/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DF37823-161B-EA42-FB0E-206601011862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0BAD5C2-752E-55AC-8C57-F3588F8F1FC8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477DD75-3691-29ED-F6E4-B9204E638464}"/>
                </a:ext>
              </a:extLst>
            </p:cNvPr>
            <p:cNvSpPr txBox="1"/>
            <p:nvPr/>
          </p:nvSpPr>
          <p:spPr>
            <a:xfrm>
              <a:off x="5210328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BD0025-0A2D-06FA-25E7-71B1229B4BDE}"/>
                </a:ext>
              </a:extLst>
            </p:cNvPr>
            <p:cNvSpPr txBox="1"/>
            <p:nvPr/>
          </p:nvSpPr>
          <p:spPr>
            <a:xfrm>
              <a:off x="6058013" y="6547246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Nodes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9822FC1-89D6-E722-DB55-6BA6D32ACD90}"/>
                </a:ext>
              </a:extLst>
            </p:cNvPr>
            <p:cNvSpPr txBox="1"/>
            <p:nvPr/>
          </p:nvSpPr>
          <p:spPr>
            <a:xfrm>
              <a:off x="6905698" y="6542922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87089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A50FCCDE-C33A-5A78-D620-566B793C4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2">
            <a:extLst>
              <a:ext uri="{FF2B5EF4-FFF2-40B4-BE49-F238E27FC236}">
                <a16:creationId xmlns:a16="http://schemas.microsoft.com/office/drawing/2014/main" id="{6BC7BDC2-8F23-2E3F-A086-6D562460F2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3655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Alpine Partitions</a:t>
            </a:r>
            <a:endParaRPr/>
          </a:p>
        </p:txBody>
      </p:sp>
      <p:sp>
        <p:nvSpPr>
          <p:cNvPr id="337" name="Google Shape;337;p32">
            <a:extLst>
              <a:ext uri="{FF2B5EF4-FFF2-40B4-BE49-F238E27FC236}">
                <a16:creationId xmlns:a16="http://schemas.microsoft.com/office/drawing/2014/main" id="{2AA80F52-4811-9F38-571E-FB21B2CF1C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2" name="Picture 4" descr="Supermicro Data Center Server, Blade, Data Storage, AI System">
            <a:extLst>
              <a:ext uri="{FF2B5EF4-FFF2-40B4-BE49-F238E27FC236}">
                <a16:creationId xmlns:a16="http://schemas.microsoft.com/office/drawing/2014/main" id="{183031EF-805D-5644-5589-4AC8E2F29D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68" r="1"/>
          <a:stretch/>
        </p:blipFill>
        <p:spPr bwMode="auto">
          <a:xfrm>
            <a:off x="3750073" y="1405543"/>
            <a:ext cx="4691854" cy="40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5B12A5-AE6B-359E-D1DB-AD85914D07AF}"/>
              </a:ext>
            </a:extLst>
          </p:cNvPr>
          <p:cNvSpPr txBox="1"/>
          <p:nvPr/>
        </p:nvSpPr>
        <p:spPr>
          <a:xfrm>
            <a:off x="457200" y="2092446"/>
            <a:ext cx="259080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 err="1"/>
              <a:t>acpu</a:t>
            </a:r>
            <a:endParaRPr lang="en-US" sz="2800" b="1" dirty="0"/>
          </a:p>
          <a:p>
            <a:pPr algn="ctr"/>
            <a:r>
              <a:rPr lang="en-US" sz="2400" dirty="0"/>
              <a:t>General Usage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4D11255-D11F-B19F-2577-DDA92EB5F4DF}"/>
              </a:ext>
            </a:extLst>
          </p:cNvPr>
          <p:cNvSpPr/>
          <p:nvPr/>
        </p:nvSpPr>
        <p:spPr>
          <a:xfrm>
            <a:off x="457200" y="1845674"/>
            <a:ext cx="2590800" cy="1463040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2F3AB29-CED6-F8D1-8E74-4FF6094098A9}"/>
              </a:ext>
            </a:extLst>
          </p:cNvPr>
          <p:cNvSpPr/>
          <p:nvPr/>
        </p:nvSpPr>
        <p:spPr>
          <a:xfrm>
            <a:off x="457200" y="3605991"/>
            <a:ext cx="2590800" cy="146304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12EE2A-F148-A6F1-A41B-ED2B6A15E60D}"/>
              </a:ext>
            </a:extLst>
          </p:cNvPr>
          <p:cNvSpPr txBox="1"/>
          <p:nvPr/>
        </p:nvSpPr>
        <p:spPr>
          <a:xfrm>
            <a:off x="457200" y="3852763"/>
            <a:ext cx="259080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 err="1"/>
              <a:t>amem</a:t>
            </a:r>
            <a:endParaRPr lang="en-US" sz="2800" b="1" dirty="0"/>
          </a:p>
          <a:p>
            <a:pPr algn="ctr"/>
            <a:r>
              <a:rPr lang="en-US" sz="2400" dirty="0"/>
              <a:t>High Memory</a:t>
            </a:r>
          </a:p>
        </p:txBody>
      </p:sp>
      <p:pic>
        <p:nvPicPr>
          <p:cNvPr id="3" name="Picture 4" descr="Supermicro Data Center Server, Blade, Data Storage, AI System">
            <a:extLst>
              <a:ext uri="{FF2B5EF4-FFF2-40B4-BE49-F238E27FC236}">
                <a16:creationId xmlns:a16="http://schemas.microsoft.com/office/drawing/2014/main" id="{2AC8105C-28B0-043F-7305-E318EA8501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20" r="46078"/>
          <a:stretch/>
        </p:blipFill>
        <p:spPr bwMode="auto">
          <a:xfrm>
            <a:off x="4362844" y="1405541"/>
            <a:ext cx="725556" cy="40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57D1BAA1-E023-A172-C795-ABFA0B5CD4BA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22" name="Graphic 21" descr="Programmer female with solid fill">
              <a:extLst>
                <a:ext uri="{FF2B5EF4-FFF2-40B4-BE49-F238E27FC236}">
                  <a16:creationId xmlns:a16="http://schemas.microsoft.com/office/drawing/2014/main" id="{0D2B930B-8D9D-1184-4136-8D9D93D7A57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FEE4F92-DAB1-E35F-06D6-8C719FBA4042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24" name="Graphic 23" descr="Processor with solid fill">
              <a:extLst>
                <a:ext uri="{FF2B5EF4-FFF2-40B4-BE49-F238E27FC236}">
                  <a16:creationId xmlns:a16="http://schemas.microsoft.com/office/drawing/2014/main" id="{E5BC16CC-278A-CB1A-D272-CA91B71BAA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25" name="Graphic 24" descr="Database with solid fill">
              <a:extLst>
                <a:ext uri="{FF2B5EF4-FFF2-40B4-BE49-F238E27FC236}">
                  <a16:creationId xmlns:a16="http://schemas.microsoft.com/office/drawing/2014/main" id="{ABC7663C-8BE5-C28F-CD89-456C9D6FA7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88BD70-8EC0-7419-8AFE-6A14E3D0684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C3DB60F3-5C20-9B6F-F663-16BD6089D5B4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B1CAF6A6-4E13-F43B-9FFC-29B0811A89D9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1528B85A-77E1-CEF5-DE45-5A3D96DC393C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A25B185-4A65-491A-85FC-D703390AEE23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BD8D936-3F0C-4B15-9F69-0182D0265EEB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96F15E7-95F2-2BC2-B56C-5F90E729863C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Nodes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2D550D9-0FF7-E8B9-5169-D2B6074ABFE4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07420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DEDF127B-CF79-2CE4-041D-EB50B103D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2">
            <a:extLst>
              <a:ext uri="{FF2B5EF4-FFF2-40B4-BE49-F238E27FC236}">
                <a16:creationId xmlns:a16="http://schemas.microsoft.com/office/drawing/2014/main" id="{A2C910E0-1C77-E540-47C6-C28109A768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3655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Alpine Partitions</a:t>
            </a:r>
            <a:endParaRPr dirty="0"/>
          </a:p>
        </p:txBody>
      </p:sp>
      <p:sp>
        <p:nvSpPr>
          <p:cNvPr id="337" name="Google Shape;337;p32">
            <a:extLst>
              <a:ext uri="{FF2B5EF4-FFF2-40B4-BE49-F238E27FC236}">
                <a16:creationId xmlns:a16="http://schemas.microsoft.com/office/drawing/2014/main" id="{3AB5A099-FD35-ECC0-75B4-0C79F54F98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2" name="Picture 4" descr="Supermicro Data Center Server, Blade, Data Storage, AI System">
            <a:extLst>
              <a:ext uri="{FF2B5EF4-FFF2-40B4-BE49-F238E27FC236}">
                <a16:creationId xmlns:a16="http://schemas.microsoft.com/office/drawing/2014/main" id="{2C29DF53-653E-1BAC-A40A-E5FB3DF100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68" r="1"/>
          <a:stretch/>
        </p:blipFill>
        <p:spPr bwMode="auto">
          <a:xfrm>
            <a:off x="3750073" y="1405543"/>
            <a:ext cx="4691854" cy="40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CF03BA3-F1DC-A196-7B02-13163CF5624E}"/>
              </a:ext>
            </a:extLst>
          </p:cNvPr>
          <p:cNvSpPr txBox="1"/>
          <p:nvPr/>
        </p:nvSpPr>
        <p:spPr>
          <a:xfrm>
            <a:off x="457200" y="2092446"/>
            <a:ext cx="259080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 err="1"/>
              <a:t>acpu</a:t>
            </a:r>
            <a:endParaRPr lang="en-US" sz="2800" b="1" dirty="0"/>
          </a:p>
          <a:p>
            <a:pPr algn="ctr"/>
            <a:r>
              <a:rPr lang="en-US" sz="2400" dirty="0"/>
              <a:t>General Usage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EEFB6CF-8B26-3C6C-BF5E-2EAEDC815DA2}"/>
              </a:ext>
            </a:extLst>
          </p:cNvPr>
          <p:cNvSpPr/>
          <p:nvPr/>
        </p:nvSpPr>
        <p:spPr>
          <a:xfrm>
            <a:off x="457200" y="1845674"/>
            <a:ext cx="2590800" cy="1463040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7B9BB7F-86DE-645D-B613-B7B9953012C9}"/>
              </a:ext>
            </a:extLst>
          </p:cNvPr>
          <p:cNvSpPr/>
          <p:nvPr/>
        </p:nvSpPr>
        <p:spPr>
          <a:xfrm>
            <a:off x="457200" y="3605991"/>
            <a:ext cx="2590800" cy="1463040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AFF0EE-4C65-315A-1F98-B4BF97EF6962}"/>
              </a:ext>
            </a:extLst>
          </p:cNvPr>
          <p:cNvSpPr txBox="1"/>
          <p:nvPr/>
        </p:nvSpPr>
        <p:spPr>
          <a:xfrm>
            <a:off x="457200" y="3852763"/>
            <a:ext cx="259080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err="1"/>
              <a:t>amem</a:t>
            </a:r>
            <a:endParaRPr lang="en-US" sz="2800" b="1"/>
          </a:p>
          <a:p>
            <a:pPr algn="ctr"/>
            <a:r>
              <a:rPr lang="en-US" sz="2400"/>
              <a:t>High Memory</a:t>
            </a:r>
          </a:p>
        </p:txBody>
      </p:sp>
      <p:pic>
        <p:nvPicPr>
          <p:cNvPr id="4" name="Picture 4" descr="Supermicro Data Center Server, Blade, Data Storage, AI System">
            <a:extLst>
              <a:ext uri="{FF2B5EF4-FFF2-40B4-BE49-F238E27FC236}">
                <a16:creationId xmlns:a16="http://schemas.microsoft.com/office/drawing/2014/main" id="{1FBE6356-92C3-F795-FEFA-FD85AA9BDB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47" r="24103"/>
          <a:stretch/>
        </p:blipFill>
        <p:spPr bwMode="auto">
          <a:xfrm>
            <a:off x="5815179" y="1405542"/>
            <a:ext cx="868310" cy="40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E9F5A734-542C-EF4D-8293-BC1692E7247C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24" name="Graphic 23" descr="Programmer female with solid fill">
              <a:extLst>
                <a:ext uri="{FF2B5EF4-FFF2-40B4-BE49-F238E27FC236}">
                  <a16:creationId xmlns:a16="http://schemas.microsoft.com/office/drawing/2014/main" id="{BF3C9AF4-7359-2461-3413-4675C56E63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C7B75FC-3270-EEF3-3A54-CB52327DEC54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26" name="Graphic 25" descr="Processor with solid fill">
              <a:extLst>
                <a:ext uri="{FF2B5EF4-FFF2-40B4-BE49-F238E27FC236}">
                  <a16:creationId xmlns:a16="http://schemas.microsoft.com/office/drawing/2014/main" id="{75F4722C-8CDF-80DD-08CE-9FEE99D535E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27" name="Graphic 26" descr="Database with solid fill">
              <a:extLst>
                <a:ext uri="{FF2B5EF4-FFF2-40B4-BE49-F238E27FC236}">
                  <a16:creationId xmlns:a16="http://schemas.microsoft.com/office/drawing/2014/main" id="{D466FF7A-89A1-B1FA-9B24-6E1B836A95E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60EC6B0-F845-0C64-28E5-D1894E804E3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25F5E444-67C3-B89E-2325-C912A334E95B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F7767363-0BBE-07F3-5F0F-3FDB6FD3676F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4A13D88F-CDFD-DEE2-47C8-2F60A8DF99C8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8D46A8E-13A6-2F66-0C1B-D75196048C5C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A25AFB9-F2E4-3484-F830-9F7767FE0DEF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DF0B42B-BA61-A295-7AE7-08ECC373C459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Nodes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823CFDB-E806-4ECA-691B-1382DA800FC0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DAA7216-D6BA-9BD2-32C3-7B5DC8A50E05}"/>
              </a:ext>
            </a:extLst>
          </p:cNvPr>
          <p:cNvSpPr txBox="1"/>
          <p:nvPr/>
        </p:nvSpPr>
        <p:spPr>
          <a:xfrm>
            <a:off x="9036424" y="1137958"/>
            <a:ext cx="2590800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/>
              <a:t>aa100</a:t>
            </a:r>
          </a:p>
          <a:p>
            <a:pPr algn="ctr">
              <a:spcAft>
                <a:spcPts val="600"/>
              </a:spcAft>
            </a:pPr>
            <a:r>
              <a:rPr lang="en-US" sz="2800" b="1" dirty="0"/>
              <a:t>al40</a:t>
            </a:r>
          </a:p>
          <a:p>
            <a:pPr algn="ctr">
              <a:spcAft>
                <a:spcPts val="600"/>
              </a:spcAft>
            </a:pPr>
            <a:r>
              <a:rPr lang="en-US" sz="2800" b="1" dirty="0"/>
              <a:t>ah200</a:t>
            </a:r>
          </a:p>
          <a:p>
            <a:pPr algn="ctr">
              <a:spcAft>
                <a:spcPts val="600"/>
              </a:spcAft>
            </a:pPr>
            <a:r>
              <a:rPr lang="en-US" sz="2800" b="1" dirty="0"/>
              <a:t>artxpro6000</a:t>
            </a:r>
          </a:p>
          <a:p>
            <a:pPr algn="ctr">
              <a:spcAft>
                <a:spcPts val="600"/>
              </a:spcAft>
            </a:pPr>
            <a:endParaRPr lang="en-US" sz="800" b="1" dirty="0"/>
          </a:p>
          <a:p>
            <a:pPr algn="ctr"/>
            <a:r>
              <a:rPr lang="en-US" sz="2400" dirty="0"/>
              <a:t>Nvidia GPUs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E85C647-92DD-4626-7035-1B19163D11F9}"/>
              </a:ext>
            </a:extLst>
          </p:cNvPr>
          <p:cNvSpPr/>
          <p:nvPr/>
        </p:nvSpPr>
        <p:spPr>
          <a:xfrm>
            <a:off x="9036424" y="1137958"/>
            <a:ext cx="2590800" cy="2849639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6644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69A8D0B7-E62C-9A89-6ED2-CF369D8E4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2">
            <a:extLst>
              <a:ext uri="{FF2B5EF4-FFF2-40B4-BE49-F238E27FC236}">
                <a16:creationId xmlns:a16="http://schemas.microsoft.com/office/drawing/2014/main" id="{781FE0DD-2F2F-B38E-5996-41801CDCD7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3655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Alpine Partitions</a:t>
            </a:r>
            <a:endParaRPr dirty="0"/>
          </a:p>
        </p:txBody>
      </p:sp>
      <p:sp>
        <p:nvSpPr>
          <p:cNvPr id="337" name="Google Shape;337;p32">
            <a:extLst>
              <a:ext uri="{FF2B5EF4-FFF2-40B4-BE49-F238E27FC236}">
                <a16:creationId xmlns:a16="http://schemas.microsoft.com/office/drawing/2014/main" id="{B1E5D66B-D824-5714-CCCF-038F4345FA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2" name="Picture 4" descr="Supermicro Data Center Server, Blade, Data Storage, AI System">
            <a:extLst>
              <a:ext uri="{FF2B5EF4-FFF2-40B4-BE49-F238E27FC236}">
                <a16:creationId xmlns:a16="http://schemas.microsoft.com/office/drawing/2014/main" id="{E16FB7C0-0E1D-A232-FF0F-589BB28EC0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68" r="1"/>
          <a:stretch/>
        </p:blipFill>
        <p:spPr bwMode="auto">
          <a:xfrm>
            <a:off x="3750073" y="1405543"/>
            <a:ext cx="4691854" cy="40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A159802-B800-F03E-CB1E-52C845AB7B46}"/>
              </a:ext>
            </a:extLst>
          </p:cNvPr>
          <p:cNvSpPr txBox="1"/>
          <p:nvPr/>
        </p:nvSpPr>
        <p:spPr>
          <a:xfrm>
            <a:off x="457200" y="2092446"/>
            <a:ext cx="25908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 err="1"/>
              <a:t>acpu</a:t>
            </a:r>
            <a:endParaRPr lang="en-US" sz="2800" b="1" dirty="0"/>
          </a:p>
          <a:p>
            <a:pPr algn="ctr">
              <a:spcAft>
                <a:spcPts val="600"/>
              </a:spcAft>
            </a:pPr>
            <a:endParaRPr lang="en-US" sz="800" b="1" dirty="0"/>
          </a:p>
          <a:p>
            <a:pPr algn="ctr"/>
            <a:r>
              <a:rPr lang="en-US" sz="2400" dirty="0"/>
              <a:t>General Usage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AF8A3E-2720-16D0-C499-2353D3163FDD}"/>
              </a:ext>
            </a:extLst>
          </p:cNvPr>
          <p:cNvSpPr/>
          <p:nvPr/>
        </p:nvSpPr>
        <p:spPr>
          <a:xfrm>
            <a:off x="457200" y="1845674"/>
            <a:ext cx="2590800" cy="1463040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EBE9323-7087-02D4-DADD-AEF0C2EDF739}"/>
              </a:ext>
            </a:extLst>
          </p:cNvPr>
          <p:cNvSpPr/>
          <p:nvPr/>
        </p:nvSpPr>
        <p:spPr>
          <a:xfrm>
            <a:off x="457200" y="3605991"/>
            <a:ext cx="2590800" cy="1463040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E63697-2043-65EC-6BD9-A8921F009786}"/>
              </a:ext>
            </a:extLst>
          </p:cNvPr>
          <p:cNvSpPr txBox="1"/>
          <p:nvPr/>
        </p:nvSpPr>
        <p:spPr>
          <a:xfrm>
            <a:off x="457200" y="3852763"/>
            <a:ext cx="25908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 err="1"/>
              <a:t>amem</a:t>
            </a:r>
            <a:endParaRPr lang="en-US" sz="2800" b="1" dirty="0"/>
          </a:p>
          <a:p>
            <a:pPr algn="ctr">
              <a:spcAft>
                <a:spcPts val="600"/>
              </a:spcAft>
            </a:pPr>
            <a:endParaRPr lang="en-US" sz="800" b="1" dirty="0"/>
          </a:p>
          <a:p>
            <a:pPr algn="ctr"/>
            <a:r>
              <a:rPr lang="en-US" sz="2400" dirty="0"/>
              <a:t>High Memory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F8C06C-F808-2A89-69FF-0B0CECD94420}"/>
              </a:ext>
            </a:extLst>
          </p:cNvPr>
          <p:cNvSpPr txBox="1"/>
          <p:nvPr/>
        </p:nvSpPr>
        <p:spPr>
          <a:xfrm>
            <a:off x="9036424" y="1137958"/>
            <a:ext cx="2590800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/>
              <a:t>aa100</a:t>
            </a:r>
          </a:p>
          <a:p>
            <a:pPr algn="ctr">
              <a:spcAft>
                <a:spcPts val="600"/>
              </a:spcAft>
            </a:pPr>
            <a:r>
              <a:rPr lang="en-US" sz="2800" b="1" dirty="0"/>
              <a:t>al40</a:t>
            </a:r>
          </a:p>
          <a:p>
            <a:pPr algn="ctr">
              <a:spcAft>
                <a:spcPts val="600"/>
              </a:spcAft>
            </a:pPr>
            <a:r>
              <a:rPr lang="en-US" sz="2800" b="1" dirty="0"/>
              <a:t>ah200</a:t>
            </a:r>
          </a:p>
          <a:p>
            <a:pPr algn="ctr">
              <a:spcAft>
                <a:spcPts val="600"/>
              </a:spcAft>
            </a:pPr>
            <a:r>
              <a:rPr lang="en-US" sz="2800" b="1" dirty="0"/>
              <a:t>artxpro6000</a:t>
            </a:r>
          </a:p>
          <a:p>
            <a:pPr algn="ctr">
              <a:spcAft>
                <a:spcPts val="600"/>
              </a:spcAft>
            </a:pPr>
            <a:endParaRPr lang="en-US" sz="800" b="1" dirty="0"/>
          </a:p>
          <a:p>
            <a:pPr algn="ctr"/>
            <a:r>
              <a:rPr lang="en-US" sz="2400" dirty="0"/>
              <a:t>Nvidia GPUs</a:t>
            </a:r>
          </a:p>
        </p:txBody>
      </p:sp>
      <p:pic>
        <p:nvPicPr>
          <p:cNvPr id="3" name="Picture 4" descr="Supermicro Data Center Server, Blade, Data Storage, AI System">
            <a:extLst>
              <a:ext uri="{FF2B5EF4-FFF2-40B4-BE49-F238E27FC236}">
                <a16:creationId xmlns:a16="http://schemas.microsoft.com/office/drawing/2014/main" id="{EB08938C-C5B3-8D2A-89C4-52115E7E99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62" r="2"/>
          <a:stretch/>
        </p:blipFill>
        <p:spPr bwMode="auto">
          <a:xfrm>
            <a:off x="6673303" y="1405542"/>
            <a:ext cx="1768624" cy="40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F54ED704-B8CF-DE83-D4D3-C1C94CCF0098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26" name="Graphic 25" descr="Programmer female with solid fill">
              <a:extLst>
                <a:ext uri="{FF2B5EF4-FFF2-40B4-BE49-F238E27FC236}">
                  <a16:creationId xmlns:a16="http://schemas.microsoft.com/office/drawing/2014/main" id="{80C56EF2-5063-FB6F-9373-6FD4B107E0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52AD143-AA80-8548-EE8E-56A222A93CFF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28" name="Graphic 27" descr="Processor with solid fill">
              <a:extLst>
                <a:ext uri="{FF2B5EF4-FFF2-40B4-BE49-F238E27FC236}">
                  <a16:creationId xmlns:a16="http://schemas.microsoft.com/office/drawing/2014/main" id="{4AE393DB-B873-0E0C-5C1E-1591214A90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29" name="Graphic 28" descr="Database with solid fill">
              <a:extLst>
                <a:ext uri="{FF2B5EF4-FFF2-40B4-BE49-F238E27FC236}">
                  <a16:creationId xmlns:a16="http://schemas.microsoft.com/office/drawing/2014/main" id="{9F835E9B-188E-EA3C-C235-7694C34A20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8945D7A-2F0F-D0EE-E369-919678E5412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A1774FB1-B225-6D3B-73A0-B1E42BCB1586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D6936959-81E0-21BC-8DDF-F5FA935B6192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4B113102-2538-628D-7013-538B4464C8F4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5138007-EA0B-9D6F-A754-028072E5D9C8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F30305B-31FB-EDC9-D182-41E781A538DF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39A5E10-E667-5586-19C6-7A1369C9264F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Nodes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05F73F2-BC26-CC87-1D4B-7BBE302B4984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A03D932-8DC9-50A2-F9AC-801EFA96CC08}"/>
              </a:ext>
            </a:extLst>
          </p:cNvPr>
          <p:cNvSpPr/>
          <p:nvPr/>
        </p:nvSpPr>
        <p:spPr>
          <a:xfrm>
            <a:off x="9036424" y="4257002"/>
            <a:ext cx="2590800" cy="146304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2E2EE0-5C2F-FCC9-6F4E-DEBD550F2BFF}"/>
              </a:ext>
            </a:extLst>
          </p:cNvPr>
          <p:cNvSpPr txBox="1"/>
          <p:nvPr/>
        </p:nvSpPr>
        <p:spPr>
          <a:xfrm>
            <a:off x="9036424" y="4503774"/>
            <a:ext cx="25908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/>
              <a:t>ami100</a:t>
            </a:r>
          </a:p>
          <a:p>
            <a:pPr algn="ctr">
              <a:spcAft>
                <a:spcPts val="600"/>
              </a:spcAft>
            </a:pPr>
            <a:endParaRPr lang="en-US" sz="800" b="1" dirty="0"/>
          </a:p>
          <a:p>
            <a:pPr algn="ctr"/>
            <a:r>
              <a:rPr lang="en-US" sz="2400" dirty="0"/>
              <a:t>AMD GPUs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F99D89E-03FF-3F17-B5E0-EF5494B79C58}"/>
              </a:ext>
            </a:extLst>
          </p:cNvPr>
          <p:cNvSpPr/>
          <p:nvPr/>
        </p:nvSpPr>
        <p:spPr>
          <a:xfrm>
            <a:off x="9036424" y="1137958"/>
            <a:ext cx="2590800" cy="2849639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3580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>
          <a:extLst>
            <a:ext uri="{FF2B5EF4-FFF2-40B4-BE49-F238E27FC236}">
              <a16:creationId xmlns:a16="http://schemas.microsoft.com/office/drawing/2014/main" id="{0F0CA595-694A-72EC-EB3A-011634B44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5">
            <a:extLst>
              <a:ext uri="{FF2B5EF4-FFF2-40B4-BE49-F238E27FC236}">
                <a16:creationId xmlns:a16="http://schemas.microsoft.com/office/drawing/2014/main" id="{24E7D575-5CC8-C8C6-7131-EAA360B97A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0213" y="7301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Storage</a:t>
            </a:r>
            <a:endParaRPr/>
          </a:p>
        </p:txBody>
      </p:sp>
      <p:sp>
        <p:nvSpPr>
          <p:cNvPr id="402" name="Google Shape;402;p35">
            <a:extLst>
              <a:ext uri="{FF2B5EF4-FFF2-40B4-BE49-F238E27FC236}">
                <a16:creationId xmlns:a16="http://schemas.microsoft.com/office/drawing/2014/main" id="{D90B6577-82CC-20A1-C8F7-1E4B4C3C448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AAF7CBF-5649-1A3A-0D43-8337E39E44F6}"/>
              </a:ext>
            </a:extLst>
          </p:cNvPr>
          <p:cNvGrpSpPr/>
          <p:nvPr/>
        </p:nvGrpSpPr>
        <p:grpSpPr>
          <a:xfrm>
            <a:off x="36411" y="-342900"/>
            <a:ext cx="6400800" cy="7868799"/>
            <a:chOff x="36411" y="-342900"/>
            <a:chExt cx="6400800" cy="7868799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D519709-E200-67CE-6629-4E8874FA97D4}"/>
                </a:ext>
              </a:extLst>
            </p:cNvPr>
            <p:cNvSpPr txBox="1"/>
            <p:nvPr/>
          </p:nvSpPr>
          <p:spPr>
            <a:xfrm>
              <a:off x="659169" y="1458227"/>
              <a:ext cx="222956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/>
                <a:t>Core</a:t>
              </a:r>
            </a:p>
          </p:txBody>
        </p:sp>
        <p:pic>
          <p:nvPicPr>
            <p:cNvPr id="32" name="Graphic 31" descr="Folder outline">
              <a:extLst>
                <a:ext uri="{FF2B5EF4-FFF2-40B4-BE49-F238E27FC236}">
                  <a16:creationId xmlns:a16="http://schemas.microsoft.com/office/drawing/2014/main" id="{E70604A8-72F0-0FF9-69E7-FEA5A3FAE9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411" y="-342900"/>
              <a:ext cx="6400800" cy="7868799"/>
            </a:xfrm>
            <a:prstGeom prst="rect">
              <a:avLst/>
            </a:prstGeom>
          </p:spPr>
        </p:pic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AE4D664F-F827-3D05-3462-06215507E7E3}"/>
              </a:ext>
            </a:extLst>
          </p:cNvPr>
          <p:cNvSpPr txBox="1"/>
          <p:nvPr/>
        </p:nvSpPr>
        <p:spPr>
          <a:xfrm>
            <a:off x="1135750" y="2580044"/>
            <a:ext cx="407457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Personal Storage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Includes 3 Directories</a:t>
            </a:r>
          </a:p>
          <a:p>
            <a:pPr marL="914400" lvl="8" indent="-457200">
              <a:buFont typeface="Wingdings" pitchFamily="2" charset="2"/>
              <a:buChar char="§"/>
            </a:pPr>
            <a:r>
              <a:rPr lang="en-US" sz="2800"/>
              <a:t>/home (2 GB)</a:t>
            </a:r>
          </a:p>
          <a:p>
            <a:pPr marL="914400" lvl="8" indent="-457200">
              <a:buFont typeface="Wingdings" pitchFamily="2" charset="2"/>
              <a:buChar char="§"/>
            </a:pPr>
            <a:r>
              <a:rPr lang="en-US" sz="2800"/>
              <a:t>/projects (250 GB)</a:t>
            </a:r>
          </a:p>
          <a:p>
            <a:pPr marL="914400" lvl="8" indent="-457200">
              <a:buFont typeface="Wingdings" pitchFamily="2" charset="2"/>
              <a:buChar char="§"/>
            </a:pPr>
            <a:r>
              <a:rPr lang="en-US" sz="2800"/>
              <a:t>/scratch (10 TB)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A558291-66A7-D76A-B3DB-A74EEC4510DD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41" name="Graphic 40" descr="Programmer female with solid fill">
              <a:extLst>
                <a:ext uri="{FF2B5EF4-FFF2-40B4-BE49-F238E27FC236}">
                  <a16:creationId xmlns:a16="http://schemas.microsoft.com/office/drawing/2014/main" id="{DCA1EB47-5565-9706-59D2-50F99DCFC6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6A9E851-404E-5F78-BB36-B42435640F4D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43" name="Graphic 42" descr="Processor with solid fill">
              <a:extLst>
                <a:ext uri="{FF2B5EF4-FFF2-40B4-BE49-F238E27FC236}">
                  <a16:creationId xmlns:a16="http://schemas.microsoft.com/office/drawing/2014/main" id="{F3B41946-0CAD-533F-7DDC-D8BA318B85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44" name="Graphic 43" descr="Database with solid fill">
              <a:extLst>
                <a:ext uri="{FF2B5EF4-FFF2-40B4-BE49-F238E27FC236}">
                  <a16:creationId xmlns:a16="http://schemas.microsoft.com/office/drawing/2014/main" id="{ACFEFFF1-BB9D-459D-7047-ED28549D5D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D220D834-AC9C-20D2-CB8F-0FA3ACBAD36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45087A2E-1019-F555-7393-7E6D3FB8677B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FB700503-B76A-8ACE-929D-9E18DC13D7C8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A4CC5F60-A45F-5F55-3E30-D23B0CF17ED2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DA23A9D0-B02A-1C3B-CB30-B52EACEA462A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DC41F33-28BF-56DA-1E5A-742CC191E2A2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10FB112-CE63-75BD-E299-EE83109B8485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29CA309-A29A-E026-20B1-E6A947FB0D2A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93155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5"/>
          <p:cNvSpPr txBox="1">
            <a:spLocks noGrp="1"/>
          </p:cNvSpPr>
          <p:nvPr>
            <p:ph type="title"/>
          </p:nvPr>
        </p:nvSpPr>
        <p:spPr>
          <a:xfrm>
            <a:off x="800213" y="7301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Storage</a:t>
            </a:r>
            <a:endParaRPr/>
          </a:p>
        </p:txBody>
      </p:sp>
      <p:sp>
        <p:nvSpPr>
          <p:cNvPr id="402" name="Google Shape;402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7D112A7-736F-7FBA-BC4B-D30764C088AD}"/>
              </a:ext>
            </a:extLst>
          </p:cNvPr>
          <p:cNvGrpSpPr/>
          <p:nvPr/>
        </p:nvGrpSpPr>
        <p:grpSpPr>
          <a:xfrm>
            <a:off x="36411" y="-342900"/>
            <a:ext cx="6400800" cy="7868799"/>
            <a:chOff x="36411" y="-342900"/>
            <a:chExt cx="6400800" cy="7868799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DE90411-FECD-AF69-8E7F-CEC3333BC7CE}"/>
                </a:ext>
              </a:extLst>
            </p:cNvPr>
            <p:cNvSpPr txBox="1"/>
            <p:nvPr/>
          </p:nvSpPr>
          <p:spPr>
            <a:xfrm>
              <a:off x="659169" y="1458227"/>
              <a:ext cx="222956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/>
                <a:t>Core</a:t>
              </a:r>
            </a:p>
          </p:txBody>
        </p:sp>
        <p:pic>
          <p:nvPicPr>
            <p:cNvPr id="32" name="Graphic 31" descr="Folder outline">
              <a:extLst>
                <a:ext uri="{FF2B5EF4-FFF2-40B4-BE49-F238E27FC236}">
                  <a16:creationId xmlns:a16="http://schemas.microsoft.com/office/drawing/2014/main" id="{A90871E9-E920-5255-BDBD-B02601053B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411" y="-342900"/>
              <a:ext cx="6400800" cy="786879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9723C09-E953-4C3D-6E74-6A964B249A60}"/>
              </a:ext>
            </a:extLst>
          </p:cNvPr>
          <p:cNvGrpSpPr/>
          <p:nvPr/>
        </p:nvGrpSpPr>
        <p:grpSpPr>
          <a:xfrm>
            <a:off x="5690184" y="-347472"/>
            <a:ext cx="6400800" cy="7868799"/>
            <a:chOff x="36411" y="-342900"/>
            <a:chExt cx="6400800" cy="7868799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5D8950F-A765-6330-4C77-BA647C9E4B97}"/>
                </a:ext>
              </a:extLst>
            </p:cNvPr>
            <p:cNvSpPr txBox="1"/>
            <p:nvPr/>
          </p:nvSpPr>
          <p:spPr>
            <a:xfrm>
              <a:off x="659169" y="1458227"/>
              <a:ext cx="222956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/>
                <a:t>PL</a:t>
              </a:r>
            </a:p>
          </p:txBody>
        </p:sp>
        <p:pic>
          <p:nvPicPr>
            <p:cNvPr id="36" name="Graphic 35" descr="Folder outline">
              <a:extLst>
                <a:ext uri="{FF2B5EF4-FFF2-40B4-BE49-F238E27FC236}">
                  <a16:creationId xmlns:a16="http://schemas.microsoft.com/office/drawing/2014/main" id="{EEA203C4-E1DE-D548-C959-E3943BA982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411" y="-342900"/>
              <a:ext cx="6400800" cy="7868799"/>
            </a:xfrm>
            <a:prstGeom prst="rect">
              <a:avLst/>
            </a:prstGeom>
          </p:spPr>
        </p:pic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6090BD91-68E5-52F2-3291-D0830017ED8E}"/>
              </a:ext>
            </a:extLst>
          </p:cNvPr>
          <p:cNvSpPr txBox="1"/>
          <p:nvPr/>
        </p:nvSpPr>
        <p:spPr>
          <a:xfrm>
            <a:off x="1135750" y="2580044"/>
            <a:ext cx="407457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Personal Storage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Includes 3 Directories</a:t>
            </a:r>
          </a:p>
          <a:p>
            <a:pPr marL="914400" lvl="8" indent="-457200">
              <a:buFont typeface="Wingdings" pitchFamily="2" charset="2"/>
              <a:buChar char="§"/>
            </a:pPr>
            <a:r>
              <a:rPr lang="en-US" sz="2800"/>
              <a:t>/home (2 GB)</a:t>
            </a:r>
          </a:p>
          <a:p>
            <a:pPr marL="914400" lvl="8" indent="-457200">
              <a:buFont typeface="Wingdings" pitchFamily="2" charset="2"/>
              <a:buChar char="§"/>
            </a:pPr>
            <a:r>
              <a:rPr lang="en-US" sz="2800"/>
              <a:t>/projects (250 GB)</a:t>
            </a:r>
          </a:p>
          <a:p>
            <a:pPr marL="914400" lvl="8" indent="-457200">
              <a:buFont typeface="Wingdings" pitchFamily="2" charset="2"/>
              <a:buChar char="§"/>
            </a:pPr>
            <a:r>
              <a:rPr lang="en-US" sz="2800"/>
              <a:t>/scratch (10 TB)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FBA55D2-C5CF-3143-DE14-B6C7D453419B}"/>
              </a:ext>
            </a:extLst>
          </p:cNvPr>
          <p:cNvSpPr txBox="1"/>
          <p:nvPr/>
        </p:nvSpPr>
        <p:spPr>
          <a:xfrm>
            <a:off x="6789523" y="2580044"/>
            <a:ext cx="4074578" cy="306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err="1"/>
              <a:t>PetaLibrary</a:t>
            </a:r>
            <a:endParaRPr lang="en-US" sz="28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Tiered Storage</a:t>
            </a:r>
          </a:p>
          <a:p>
            <a:pPr marL="914400" indent="-457200">
              <a:spcAft>
                <a:spcPts val="600"/>
              </a:spcAft>
              <a:buFont typeface="Wingdings" pitchFamily="2" charset="2"/>
              <a:buChar char="§"/>
            </a:pPr>
            <a:r>
              <a:rPr lang="en-US" sz="2800" dirty="0"/>
              <a:t>Active, Archive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Paid storage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Starts at 1 TB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ED3E315-DBCD-822C-FD8B-834221D2C7B6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41" name="Graphic 40" descr="Programmer female with solid fill">
              <a:extLst>
                <a:ext uri="{FF2B5EF4-FFF2-40B4-BE49-F238E27FC236}">
                  <a16:creationId xmlns:a16="http://schemas.microsoft.com/office/drawing/2014/main" id="{A2146187-3640-F80E-0FAF-1D3725C153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36AC2D1-B764-5E73-0092-97A568AA93FF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43" name="Graphic 42" descr="Processor with solid fill">
              <a:extLst>
                <a:ext uri="{FF2B5EF4-FFF2-40B4-BE49-F238E27FC236}">
                  <a16:creationId xmlns:a16="http://schemas.microsoft.com/office/drawing/2014/main" id="{7C4672E7-D3F2-A19D-F33A-6258896ECE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44" name="Graphic 43" descr="Database with solid fill">
              <a:extLst>
                <a:ext uri="{FF2B5EF4-FFF2-40B4-BE49-F238E27FC236}">
                  <a16:creationId xmlns:a16="http://schemas.microsoft.com/office/drawing/2014/main" id="{9187002B-FA17-1CA8-ACED-E8344F9514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170EC020-218E-141B-3956-7557AF17342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65417CE9-5933-64B5-7C53-23B7067BFED7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2A54DE68-8C24-E241-F54A-B768EFE716A1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AD33DF7B-85F3-1EF0-6246-D44F26B2BD45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F0ADC0D0-54E6-F556-7D93-8F0AAE726B66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D11EF2A-0164-6473-927A-25DDCE5FBD11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D662322-62A4-61E0-A9FD-606E4D3FF3E9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DB5BF0A-8B0A-B98F-B15F-699C4631ABBE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Data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>
          <a:extLst>
            <a:ext uri="{FF2B5EF4-FFF2-40B4-BE49-F238E27FC236}">
              <a16:creationId xmlns:a16="http://schemas.microsoft.com/office/drawing/2014/main" id="{59F1E2D8-4ECE-47DD-5B58-4AB5E53B2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5">
            <a:extLst>
              <a:ext uri="{FF2B5EF4-FFF2-40B4-BE49-F238E27FC236}">
                <a16:creationId xmlns:a16="http://schemas.microsoft.com/office/drawing/2014/main" id="{1CA62F64-F688-814D-9E44-E6B7A141B1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9946" y="33152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</a:t>
            </a:r>
            <a:endParaRPr/>
          </a:p>
        </p:txBody>
      </p:sp>
      <p:sp>
        <p:nvSpPr>
          <p:cNvPr id="402" name="Google Shape;402;p35">
            <a:extLst>
              <a:ext uri="{FF2B5EF4-FFF2-40B4-BE49-F238E27FC236}">
                <a16:creationId xmlns:a16="http://schemas.microsoft.com/office/drawing/2014/main" id="{A2784C11-BFFF-04F7-A697-0FD34E10E6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C662440-4E9A-F77D-8225-77C52989FA22}"/>
              </a:ext>
            </a:extLst>
          </p:cNvPr>
          <p:cNvGrpSpPr/>
          <p:nvPr/>
        </p:nvGrpSpPr>
        <p:grpSpPr>
          <a:xfrm>
            <a:off x="-217589" y="-342900"/>
            <a:ext cx="4572000" cy="7868799"/>
            <a:chOff x="36411" y="-342900"/>
            <a:chExt cx="6400800" cy="7868799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141B075-3D73-C049-1982-F6C7092416E8}"/>
                </a:ext>
              </a:extLst>
            </p:cNvPr>
            <p:cNvSpPr txBox="1"/>
            <p:nvPr/>
          </p:nvSpPr>
          <p:spPr>
            <a:xfrm>
              <a:off x="576927" y="1662910"/>
              <a:ext cx="25237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/>
                <a:t> Home</a:t>
              </a:r>
            </a:p>
          </p:txBody>
        </p:sp>
        <p:pic>
          <p:nvPicPr>
            <p:cNvPr id="32" name="Graphic 31" descr="Folder outline">
              <a:extLst>
                <a:ext uri="{FF2B5EF4-FFF2-40B4-BE49-F238E27FC236}">
                  <a16:creationId xmlns:a16="http://schemas.microsoft.com/office/drawing/2014/main" id="{37FCC488-8C33-BE77-42DB-DE426A92F62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411" y="-342900"/>
              <a:ext cx="6400800" cy="7868799"/>
            </a:xfrm>
            <a:prstGeom prst="rect">
              <a:avLst/>
            </a:prstGeom>
          </p:spPr>
        </p:pic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DC367CD4-4AA2-F420-3D7D-930D8EA5ED71}"/>
              </a:ext>
            </a:extLst>
          </p:cNvPr>
          <p:cNvSpPr txBox="1"/>
          <p:nvPr/>
        </p:nvSpPr>
        <p:spPr>
          <a:xfrm>
            <a:off x="457729" y="2411420"/>
            <a:ext cx="3507874" cy="2100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Personal data</a:t>
            </a:r>
          </a:p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Config files</a:t>
            </a:r>
          </a:p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Do not share!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938204B-FFAF-FF06-6483-A03087FA76A8}"/>
              </a:ext>
            </a:extLst>
          </p:cNvPr>
          <p:cNvSpPr txBox="1"/>
          <p:nvPr/>
        </p:nvSpPr>
        <p:spPr>
          <a:xfrm>
            <a:off x="1441696" y="4714614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/>
              <a:t>2 GB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4FF49DC-A2EB-6CC5-79C6-85E932DF3296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46" name="Graphic 45" descr="Programmer female with solid fill">
              <a:extLst>
                <a:ext uri="{FF2B5EF4-FFF2-40B4-BE49-F238E27FC236}">
                  <a16:creationId xmlns:a16="http://schemas.microsoft.com/office/drawing/2014/main" id="{7716C159-7574-D065-76D4-92AEE514E9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4C0F12B-63A5-6D6F-F075-3DC13E097DB1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48" name="Graphic 47" descr="Processor with solid fill">
              <a:extLst>
                <a:ext uri="{FF2B5EF4-FFF2-40B4-BE49-F238E27FC236}">
                  <a16:creationId xmlns:a16="http://schemas.microsoft.com/office/drawing/2014/main" id="{F23CB05D-49F7-9460-E6FD-F9990B9904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49" name="Graphic 48" descr="Database with solid fill">
              <a:extLst>
                <a:ext uri="{FF2B5EF4-FFF2-40B4-BE49-F238E27FC236}">
                  <a16:creationId xmlns:a16="http://schemas.microsoft.com/office/drawing/2014/main" id="{6BC594DB-846F-42C6-1A72-A9891C894D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A50FD476-59BF-5D98-21A8-37A2F4D5261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F11869F9-5DFD-144A-2344-895788DEA95A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2771529D-F26A-58CF-9912-86FA101345E7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38D304E6-AA3F-1A2E-5428-D2973227B440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BB132E1E-675C-E7D4-E1A3-CBDB11674948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5971B15-2A77-4AF5-5165-7C099802424C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F54BC1F-D22C-37D4-FF30-92B374CBB13B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87D2DC7-C868-D21D-59AD-C203994DD0D8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9794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>
          <a:extLst>
            <a:ext uri="{FF2B5EF4-FFF2-40B4-BE49-F238E27FC236}">
              <a16:creationId xmlns:a16="http://schemas.microsoft.com/office/drawing/2014/main" id="{29FE8CF0-29C4-3942-3731-1BCA62545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5">
            <a:extLst>
              <a:ext uri="{FF2B5EF4-FFF2-40B4-BE49-F238E27FC236}">
                <a16:creationId xmlns:a16="http://schemas.microsoft.com/office/drawing/2014/main" id="{7D6232FB-EFBF-A47D-248A-7742665C95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9946" y="33152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</a:t>
            </a:r>
            <a:endParaRPr/>
          </a:p>
        </p:txBody>
      </p:sp>
      <p:sp>
        <p:nvSpPr>
          <p:cNvPr id="402" name="Google Shape;402;p35">
            <a:extLst>
              <a:ext uri="{FF2B5EF4-FFF2-40B4-BE49-F238E27FC236}">
                <a16:creationId xmlns:a16="http://schemas.microsoft.com/office/drawing/2014/main" id="{992FD679-325F-DB35-18E9-2A31EDE767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6361BB5-D66A-9C8D-9922-7338D6606F6E}"/>
              </a:ext>
            </a:extLst>
          </p:cNvPr>
          <p:cNvGrpSpPr/>
          <p:nvPr/>
        </p:nvGrpSpPr>
        <p:grpSpPr>
          <a:xfrm>
            <a:off x="-217589" y="-342900"/>
            <a:ext cx="4572000" cy="7868799"/>
            <a:chOff x="36411" y="-342900"/>
            <a:chExt cx="6400800" cy="7868799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55ED5C9-9C58-F483-0343-8EF5A7742852}"/>
                </a:ext>
              </a:extLst>
            </p:cNvPr>
            <p:cNvSpPr txBox="1"/>
            <p:nvPr/>
          </p:nvSpPr>
          <p:spPr>
            <a:xfrm>
              <a:off x="576927" y="1662910"/>
              <a:ext cx="25237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/>
                <a:t> Home</a:t>
              </a:r>
            </a:p>
          </p:txBody>
        </p:sp>
        <p:pic>
          <p:nvPicPr>
            <p:cNvPr id="32" name="Graphic 31" descr="Folder outline">
              <a:extLst>
                <a:ext uri="{FF2B5EF4-FFF2-40B4-BE49-F238E27FC236}">
                  <a16:creationId xmlns:a16="http://schemas.microsoft.com/office/drawing/2014/main" id="{4B6D9C2A-0BA0-D3C5-426A-E12BD3F71FF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411" y="-342900"/>
              <a:ext cx="6400800" cy="7868799"/>
            </a:xfrm>
            <a:prstGeom prst="rect">
              <a:avLst/>
            </a:prstGeom>
          </p:spPr>
        </p:pic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65A84EEF-FBE5-66BF-BAAE-D0EBEA60DB5D}"/>
              </a:ext>
            </a:extLst>
          </p:cNvPr>
          <p:cNvSpPr txBox="1"/>
          <p:nvPr/>
        </p:nvSpPr>
        <p:spPr>
          <a:xfrm>
            <a:off x="457729" y="2411420"/>
            <a:ext cx="3507874" cy="2100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Personal data</a:t>
            </a:r>
          </a:p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Config files</a:t>
            </a:r>
          </a:p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Do not share!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67E5021-E785-0081-3A92-0B177D3F31A7}"/>
              </a:ext>
            </a:extLst>
          </p:cNvPr>
          <p:cNvGrpSpPr/>
          <p:nvPr/>
        </p:nvGrpSpPr>
        <p:grpSpPr>
          <a:xfrm>
            <a:off x="3772013" y="-342900"/>
            <a:ext cx="4572000" cy="7868799"/>
            <a:chOff x="36411" y="-342900"/>
            <a:chExt cx="6400800" cy="786879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EEE1448-8BBC-4C32-25EC-FE71BE2E0FE8}"/>
                </a:ext>
              </a:extLst>
            </p:cNvPr>
            <p:cNvSpPr txBox="1"/>
            <p:nvPr/>
          </p:nvSpPr>
          <p:spPr>
            <a:xfrm>
              <a:off x="576927" y="1662910"/>
              <a:ext cx="25237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/>
                <a:t> Projects</a:t>
              </a:r>
            </a:p>
          </p:txBody>
        </p:sp>
        <p:pic>
          <p:nvPicPr>
            <p:cNvPr id="30" name="Graphic 29" descr="Folder outline">
              <a:extLst>
                <a:ext uri="{FF2B5EF4-FFF2-40B4-BE49-F238E27FC236}">
                  <a16:creationId xmlns:a16="http://schemas.microsoft.com/office/drawing/2014/main" id="{F670BAB6-53C0-6E50-7522-4906A94897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411" y="-342900"/>
              <a:ext cx="6400800" cy="7868799"/>
            </a:xfrm>
            <a:prstGeom prst="rect">
              <a:avLst/>
            </a:prstGeom>
          </p:spPr>
        </p:pic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1AB1AE61-7C78-2B07-D075-9FCEE07C0497}"/>
              </a:ext>
            </a:extLst>
          </p:cNvPr>
          <p:cNvSpPr txBox="1"/>
          <p:nvPr/>
        </p:nvSpPr>
        <p:spPr>
          <a:xfrm>
            <a:off x="4444760" y="2411420"/>
            <a:ext cx="3507874" cy="2100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Code, Job scripts</a:t>
            </a:r>
          </a:p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Installed software </a:t>
            </a:r>
          </a:p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Shared data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BCC6F6-5A16-583A-DE24-72F97C9FDD0D}"/>
              </a:ext>
            </a:extLst>
          </p:cNvPr>
          <p:cNvSpPr txBox="1"/>
          <p:nvPr/>
        </p:nvSpPr>
        <p:spPr>
          <a:xfrm>
            <a:off x="1441696" y="4714614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/>
              <a:t>2 GB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FE8E76-1647-5777-147B-B1D0ABDE9480}"/>
              </a:ext>
            </a:extLst>
          </p:cNvPr>
          <p:cNvSpPr txBox="1"/>
          <p:nvPr/>
        </p:nvSpPr>
        <p:spPr>
          <a:xfrm>
            <a:off x="5170591" y="4692943"/>
            <a:ext cx="17748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/>
              <a:t>250 GB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31F67DE-D34F-1152-F429-D78689961D16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46" name="Graphic 45" descr="Programmer female with solid fill">
              <a:extLst>
                <a:ext uri="{FF2B5EF4-FFF2-40B4-BE49-F238E27FC236}">
                  <a16:creationId xmlns:a16="http://schemas.microsoft.com/office/drawing/2014/main" id="{38021493-1FCD-5530-1273-C0D4C63005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2F16892-0201-5706-2143-425413D1D056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48" name="Graphic 47" descr="Processor with solid fill">
              <a:extLst>
                <a:ext uri="{FF2B5EF4-FFF2-40B4-BE49-F238E27FC236}">
                  <a16:creationId xmlns:a16="http://schemas.microsoft.com/office/drawing/2014/main" id="{BC6FAD87-5272-D67F-A401-FAFDF47B1E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49" name="Graphic 48" descr="Database with solid fill">
              <a:extLst>
                <a:ext uri="{FF2B5EF4-FFF2-40B4-BE49-F238E27FC236}">
                  <a16:creationId xmlns:a16="http://schemas.microsoft.com/office/drawing/2014/main" id="{689DF14E-7D29-9B08-6CF9-E6AB8350505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66A00ACE-5C0B-429B-7CE8-30276C8848E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12A5631E-8EAC-4D3C-460A-D746F4B8EA08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C6EF751A-EDE6-6B5B-9C59-E066711A4E51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2A917BCF-FFF9-9853-B61F-CB16AC44E751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FAAB39D1-3F3C-BE32-2AE8-8211383A524D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C1C3F8B-4E00-7E21-C903-811975C47C51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7F12236-9B1A-A3DF-AA0E-597FA816FEA6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1B7184E-0DCE-FC74-8A1A-1480B84105B0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47956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>
          <a:extLst>
            <a:ext uri="{FF2B5EF4-FFF2-40B4-BE49-F238E27FC236}">
              <a16:creationId xmlns:a16="http://schemas.microsoft.com/office/drawing/2014/main" id="{3D86F6E5-F5F4-8EED-F1F4-13550E25B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5">
            <a:extLst>
              <a:ext uri="{FF2B5EF4-FFF2-40B4-BE49-F238E27FC236}">
                <a16:creationId xmlns:a16="http://schemas.microsoft.com/office/drawing/2014/main" id="{E5590122-E1AB-B046-D26B-D0CB916260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9946" y="33152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</a:t>
            </a:r>
            <a:endParaRPr/>
          </a:p>
        </p:txBody>
      </p:sp>
      <p:sp>
        <p:nvSpPr>
          <p:cNvPr id="402" name="Google Shape;402;p35">
            <a:extLst>
              <a:ext uri="{FF2B5EF4-FFF2-40B4-BE49-F238E27FC236}">
                <a16:creationId xmlns:a16="http://schemas.microsoft.com/office/drawing/2014/main" id="{6AB640C5-F76D-5C6F-57E0-356F596946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F96A8D0-0314-6753-78D6-5ADB92AEC8CF}"/>
              </a:ext>
            </a:extLst>
          </p:cNvPr>
          <p:cNvGrpSpPr/>
          <p:nvPr/>
        </p:nvGrpSpPr>
        <p:grpSpPr>
          <a:xfrm>
            <a:off x="-217589" y="-342900"/>
            <a:ext cx="4572000" cy="7868799"/>
            <a:chOff x="36411" y="-342900"/>
            <a:chExt cx="6400800" cy="7868799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B5CA564-F032-0DAF-7129-50421F8F3FCE}"/>
                </a:ext>
              </a:extLst>
            </p:cNvPr>
            <p:cNvSpPr txBox="1"/>
            <p:nvPr/>
          </p:nvSpPr>
          <p:spPr>
            <a:xfrm>
              <a:off x="576927" y="1662910"/>
              <a:ext cx="25237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/>
                <a:t> Home</a:t>
              </a:r>
            </a:p>
          </p:txBody>
        </p:sp>
        <p:pic>
          <p:nvPicPr>
            <p:cNvPr id="32" name="Graphic 31" descr="Folder outline">
              <a:extLst>
                <a:ext uri="{FF2B5EF4-FFF2-40B4-BE49-F238E27FC236}">
                  <a16:creationId xmlns:a16="http://schemas.microsoft.com/office/drawing/2014/main" id="{09744F57-6D83-4097-CAA2-28A08D840B2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411" y="-342900"/>
              <a:ext cx="6400800" cy="7868799"/>
            </a:xfrm>
            <a:prstGeom prst="rect">
              <a:avLst/>
            </a:prstGeom>
          </p:spPr>
        </p:pic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C9D34A8-23F7-DF91-7DBD-B84EE20355EC}"/>
              </a:ext>
            </a:extLst>
          </p:cNvPr>
          <p:cNvSpPr txBox="1"/>
          <p:nvPr/>
        </p:nvSpPr>
        <p:spPr>
          <a:xfrm>
            <a:off x="457729" y="2411420"/>
            <a:ext cx="3507874" cy="2100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Personal data</a:t>
            </a:r>
          </a:p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Config files</a:t>
            </a:r>
          </a:p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Do not share!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159B650-E760-B384-090F-578945A3CEB3}"/>
              </a:ext>
            </a:extLst>
          </p:cNvPr>
          <p:cNvGrpSpPr/>
          <p:nvPr/>
        </p:nvGrpSpPr>
        <p:grpSpPr>
          <a:xfrm>
            <a:off x="7665970" y="-326785"/>
            <a:ext cx="4572000" cy="7868799"/>
            <a:chOff x="36411" y="-342900"/>
            <a:chExt cx="6400800" cy="7868799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4EC9413-F9C6-A3D8-0EF5-F54EC28E9D59}"/>
                </a:ext>
              </a:extLst>
            </p:cNvPr>
            <p:cNvSpPr txBox="1"/>
            <p:nvPr/>
          </p:nvSpPr>
          <p:spPr>
            <a:xfrm>
              <a:off x="542176" y="1523685"/>
              <a:ext cx="25237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/>
                <a:t> </a:t>
              </a:r>
              <a:r>
                <a:rPr lang="en-US" sz="2400" b="1"/>
                <a:t>Scratch</a:t>
              </a:r>
              <a:endParaRPr lang="en-US" sz="3200" b="1"/>
            </a:p>
          </p:txBody>
        </p:sp>
        <p:pic>
          <p:nvPicPr>
            <p:cNvPr id="25" name="Graphic 24" descr="Folder outline">
              <a:extLst>
                <a:ext uri="{FF2B5EF4-FFF2-40B4-BE49-F238E27FC236}">
                  <a16:creationId xmlns:a16="http://schemas.microsoft.com/office/drawing/2014/main" id="{63BDE98D-F1D0-5267-5F06-1FF7F273F6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411" y="-342900"/>
              <a:ext cx="6400800" cy="7868799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7E71C71-3775-A571-B7FE-C42BDE7F17A8}"/>
              </a:ext>
            </a:extLst>
          </p:cNvPr>
          <p:cNvGrpSpPr/>
          <p:nvPr/>
        </p:nvGrpSpPr>
        <p:grpSpPr>
          <a:xfrm>
            <a:off x="3772013" y="-342900"/>
            <a:ext cx="4572000" cy="7868799"/>
            <a:chOff x="36411" y="-342900"/>
            <a:chExt cx="6400800" cy="786879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9B93B72-FDA3-63D0-95F8-83E6DB42E772}"/>
                </a:ext>
              </a:extLst>
            </p:cNvPr>
            <p:cNvSpPr txBox="1"/>
            <p:nvPr/>
          </p:nvSpPr>
          <p:spPr>
            <a:xfrm>
              <a:off x="576927" y="1662910"/>
              <a:ext cx="25237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/>
                <a:t> Projects</a:t>
              </a:r>
            </a:p>
          </p:txBody>
        </p:sp>
        <p:pic>
          <p:nvPicPr>
            <p:cNvPr id="30" name="Graphic 29" descr="Folder outline">
              <a:extLst>
                <a:ext uri="{FF2B5EF4-FFF2-40B4-BE49-F238E27FC236}">
                  <a16:creationId xmlns:a16="http://schemas.microsoft.com/office/drawing/2014/main" id="{D1712390-7761-95D7-23BD-0AD3383642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411" y="-342900"/>
              <a:ext cx="6400800" cy="7868799"/>
            </a:xfrm>
            <a:prstGeom prst="rect">
              <a:avLst/>
            </a:prstGeom>
          </p:spPr>
        </p:pic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3D524D5B-A176-B1DB-1979-B104A278B918}"/>
              </a:ext>
            </a:extLst>
          </p:cNvPr>
          <p:cNvSpPr txBox="1"/>
          <p:nvPr/>
        </p:nvSpPr>
        <p:spPr>
          <a:xfrm>
            <a:off x="4444760" y="2411420"/>
            <a:ext cx="3507874" cy="2100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Code, Job scripts</a:t>
            </a:r>
          </a:p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Installed software </a:t>
            </a:r>
          </a:p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Shared data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6EE2E1B-9142-ECBB-EE61-3752D92C18D2}"/>
              </a:ext>
            </a:extLst>
          </p:cNvPr>
          <p:cNvSpPr txBox="1"/>
          <p:nvPr/>
        </p:nvSpPr>
        <p:spPr>
          <a:xfrm>
            <a:off x="8344013" y="2328874"/>
            <a:ext cx="3507874" cy="2549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Job data (in/out)</a:t>
            </a:r>
          </a:p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Shared data</a:t>
            </a:r>
          </a:p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Deleted after      90 days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368D13-B538-9DAB-A969-F9F660567B14}"/>
              </a:ext>
            </a:extLst>
          </p:cNvPr>
          <p:cNvSpPr txBox="1"/>
          <p:nvPr/>
        </p:nvSpPr>
        <p:spPr>
          <a:xfrm>
            <a:off x="1441696" y="4714614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/>
              <a:t>2 GB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9DCFB59-5B1C-D55C-37AD-CD695773C5F1}"/>
              </a:ext>
            </a:extLst>
          </p:cNvPr>
          <p:cNvSpPr txBox="1"/>
          <p:nvPr/>
        </p:nvSpPr>
        <p:spPr>
          <a:xfrm>
            <a:off x="5170591" y="4692943"/>
            <a:ext cx="17748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/>
              <a:t>250 GB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CC89F4D-2623-0068-602F-B09DD68CD98E}"/>
              </a:ext>
            </a:extLst>
          </p:cNvPr>
          <p:cNvSpPr txBox="1"/>
          <p:nvPr/>
        </p:nvSpPr>
        <p:spPr>
          <a:xfrm>
            <a:off x="9231260" y="4688611"/>
            <a:ext cx="14414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/>
              <a:t>10 TB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32701B5-009B-CFFA-0184-5AF1DEF39AAE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46" name="Graphic 45" descr="Programmer female with solid fill">
              <a:extLst>
                <a:ext uri="{FF2B5EF4-FFF2-40B4-BE49-F238E27FC236}">
                  <a16:creationId xmlns:a16="http://schemas.microsoft.com/office/drawing/2014/main" id="{426FB0EA-E21E-5134-0013-857539532A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4AC88BE-D62A-1451-815B-6D239AC61EF2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48" name="Graphic 47" descr="Processor with solid fill">
              <a:extLst>
                <a:ext uri="{FF2B5EF4-FFF2-40B4-BE49-F238E27FC236}">
                  <a16:creationId xmlns:a16="http://schemas.microsoft.com/office/drawing/2014/main" id="{E2A5417A-0833-D67F-B566-6FE8F89993D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49" name="Graphic 48" descr="Database with solid fill">
              <a:extLst>
                <a:ext uri="{FF2B5EF4-FFF2-40B4-BE49-F238E27FC236}">
                  <a16:creationId xmlns:a16="http://schemas.microsoft.com/office/drawing/2014/main" id="{70DAF530-1BF4-A073-57E0-8A7CD4A5FE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947BF980-980F-71A9-2113-CB1CE843B56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EE3EC767-AD01-5640-ED40-726ABB088288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1DF476DD-4492-7CC3-C61B-21C39C65C8A4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0A126B8F-21DA-56CE-C07A-975FA2D59A30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4B592FD0-F4EF-8BAF-B854-ABE267992DB5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DBF380F-C738-BE19-2663-ED292615BC8B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D940A50-D3AF-419D-8D2F-D0A2B11A2D42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F49F965-48B2-4400-223F-BB94E2EFC5D9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0697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>
          <a:extLst>
            <a:ext uri="{FF2B5EF4-FFF2-40B4-BE49-F238E27FC236}">
              <a16:creationId xmlns:a16="http://schemas.microsoft.com/office/drawing/2014/main" id="{D57850D6-6AAA-7E40-9E75-A85DE29A6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5">
            <a:extLst>
              <a:ext uri="{FF2B5EF4-FFF2-40B4-BE49-F238E27FC236}">
                <a16:creationId xmlns:a16="http://schemas.microsoft.com/office/drawing/2014/main" id="{736B922C-1E96-93EB-D4FA-981645F805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9946" y="33152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PetaLibrary</a:t>
            </a:r>
            <a:endParaRPr dirty="0"/>
          </a:p>
        </p:txBody>
      </p:sp>
      <p:sp>
        <p:nvSpPr>
          <p:cNvPr id="402" name="Google Shape;402;p35">
            <a:extLst>
              <a:ext uri="{FF2B5EF4-FFF2-40B4-BE49-F238E27FC236}">
                <a16:creationId xmlns:a16="http://schemas.microsoft.com/office/drawing/2014/main" id="{44A20DA0-2D23-A47E-CB39-18BA5FDF75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5713465-F91F-5E4E-0AC2-794742563591}"/>
              </a:ext>
            </a:extLst>
          </p:cNvPr>
          <p:cNvGrpSpPr/>
          <p:nvPr/>
        </p:nvGrpSpPr>
        <p:grpSpPr>
          <a:xfrm>
            <a:off x="202135" y="-342899"/>
            <a:ext cx="6078744" cy="7868799"/>
            <a:chOff x="36411" y="-342900"/>
            <a:chExt cx="6400800" cy="7868799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78A3DBF-BB97-F04D-A041-85F5B2F95FD2}"/>
                </a:ext>
              </a:extLst>
            </p:cNvPr>
            <p:cNvSpPr txBox="1"/>
            <p:nvPr/>
          </p:nvSpPr>
          <p:spPr>
            <a:xfrm>
              <a:off x="576927" y="1662910"/>
              <a:ext cx="25237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/>
                <a:t> Active</a:t>
              </a:r>
            </a:p>
          </p:txBody>
        </p:sp>
        <p:pic>
          <p:nvPicPr>
            <p:cNvPr id="32" name="Graphic 31" descr="Folder outline">
              <a:extLst>
                <a:ext uri="{FF2B5EF4-FFF2-40B4-BE49-F238E27FC236}">
                  <a16:creationId xmlns:a16="http://schemas.microsoft.com/office/drawing/2014/main" id="{8B41FDAE-32D6-DCF1-464F-75CE99C470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411" y="-342900"/>
              <a:ext cx="6400800" cy="7868799"/>
            </a:xfrm>
            <a:prstGeom prst="rect">
              <a:avLst/>
            </a:prstGeom>
          </p:spPr>
        </p:pic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56CC4CF3-FAE5-7AC3-CF06-70F5AB6882F2}"/>
              </a:ext>
            </a:extLst>
          </p:cNvPr>
          <p:cNvSpPr txBox="1"/>
          <p:nvPr/>
        </p:nvSpPr>
        <p:spPr>
          <a:xfrm>
            <a:off x="1102306" y="2651262"/>
            <a:ext cx="4384094" cy="1574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Performance tier</a:t>
            </a:r>
          </a:p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Accessible by all nodes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No file limit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D286A57-A165-FE60-CFEF-B510033EC665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46" name="Graphic 45" descr="Programmer female with solid fill">
              <a:extLst>
                <a:ext uri="{FF2B5EF4-FFF2-40B4-BE49-F238E27FC236}">
                  <a16:creationId xmlns:a16="http://schemas.microsoft.com/office/drawing/2014/main" id="{8FE85539-2847-3230-7E6A-7FCC6C153E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05AB7FD-7572-BE8E-6C82-A326CBE3FF39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48" name="Graphic 47" descr="Processor with solid fill">
              <a:extLst>
                <a:ext uri="{FF2B5EF4-FFF2-40B4-BE49-F238E27FC236}">
                  <a16:creationId xmlns:a16="http://schemas.microsoft.com/office/drawing/2014/main" id="{793A100C-DB5F-411E-861E-FBB8649B6CC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49" name="Graphic 48" descr="Database with solid fill">
              <a:extLst>
                <a:ext uri="{FF2B5EF4-FFF2-40B4-BE49-F238E27FC236}">
                  <a16:creationId xmlns:a16="http://schemas.microsoft.com/office/drawing/2014/main" id="{89DDA8D5-2C94-620A-A3D8-B367415839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82FF07AF-6C34-35F8-D8B4-A9F45CF8C12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7EFB90D4-0781-5FFB-F159-B84C973C8A39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7C963159-FBFC-F713-13BF-7E5E07DC63CA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CD6E2BDB-9D00-E097-D006-58379562A8D2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F6369202-1372-27E4-4DCE-64301B3D7F25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CEC9317-A0CB-2BFF-62A7-0E8A91D42837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CF11EB2-76C5-B9D7-72A6-11352D433FB7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63DFC18-05F3-3F0F-60DB-5BE08B8FE51E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558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>
          <a:extLst>
            <a:ext uri="{FF2B5EF4-FFF2-40B4-BE49-F238E27FC236}">
              <a16:creationId xmlns:a16="http://schemas.microsoft.com/office/drawing/2014/main" id="{6EB551D7-2ACA-0E23-17C6-3FBCF6553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5">
            <a:extLst>
              <a:ext uri="{FF2B5EF4-FFF2-40B4-BE49-F238E27FC236}">
                <a16:creationId xmlns:a16="http://schemas.microsoft.com/office/drawing/2014/main" id="{0B966642-F089-4BF6-0BE1-F148FA9BE6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9946" y="33152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PetaLibrary</a:t>
            </a:r>
            <a:endParaRPr dirty="0"/>
          </a:p>
        </p:txBody>
      </p:sp>
      <p:sp>
        <p:nvSpPr>
          <p:cNvPr id="402" name="Google Shape;402;p35">
            <a:extLst>
              <a:ext uri="{FF2B5EF4-FFF2-40B4-BE49-F238E27FC236}">
                <a16:creationId xmlns:a16="http://schemas.microsoft.com/office/drawing/2014/main" id="{934139D9-F8BF-8C9A-4CCC-8358EE376A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1CBA86D-90A0-DA16-B2A2-B0B08BAB8FD8}"/>
              </a:ext>
            </a:extLst>
          </p:cNvPr>
          <p:cNvGrpSpPr/>
          <p:nvPr/>
        </p:nvGrpSpPr>
        <p:grpSpPr>
          <a:xfrm>
            <a:off x="202135" y="-342899"/>
            <a:ext cx="6078744" cy="7868799"/>
            <a:chOff x="36411" y="-342900"/>
            <a:chExt cx="6400800" cy="7868799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D86B02F-5ACF-F780-5122-53ABE67EEE84}"/>
                </a:ext>
              </a:extLst>
            </p:cNvPr>
            <p:cNvSpPr txBox="1"/>
            <p:nvPr/>
          </p:nvSpPr>
          <p:spPr>
            <a:xfrm>
              <a:off x="576927" y="1662910"/>
              <a:ext cx="25237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/>
                <a:t> Active</a:t>
              </a:r>
            </a:p>
          </p:txBody>
        </p:sp>
        <p:pic>
          <p:nvPicPr>
            <p:cNvPr id="32" name="Graphic 31" descr="Folder outline">
              <a:extLst>
                <a:ext uri="{FF2B5EF4-FFF2-40B4-BE49-F238E27FC236}">
                  <a16:creationId xmlns:a16="http://schemas.microsoft.com/office/drawing/2014/main" id="{7B0ABE45-F42A-0A0B-857D-0429E1F84E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411" y="-342900"/>
              <a:ext cx="6400800" cy="7868799"/>
            </a:xfrm>
            <a:prstGeom prst="rect">
              <a:avLst/>
            </a:prstGeom>
          </p:spPr>
        </p:pic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8BD441BB-7155-2C15-C8EC-9A92F39FD85F}"/>
              </a:ext>
            </a:extLst>
          </p:cNvPr>
          <p:cNvSpPr txBox="1"/>
          <p:nvPr/>
        </p:nvSpPr>
        <p:spPr>
          <a:xfrm>
            <a:off x="1102306" y="2651262"/>
            <a:ext cx="4384094" cy="1574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Performance tier</a:t>
            </a:r>
          </a:p>
          <a:p>
            <a:pPr marL="342900" indent="-342900">
              <a:lnSpc>
                <a:spcPts val="3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Accessible by all nodes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No file limit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EECF57-B703-5475-F741-7ABC62963E04}"/>
              </a:ext>
            </a:extLst>
          </p:cNvPr>
          <p:cNvGrpSpPr/>
          <p:nvPr/>
        </p:nvGrpSpPr>
        <p:grpSpPr>
          <a:xfrm>
            <a:off x="5470898" y="-327909"/>
            <a:ext cx="6721102" cy="7868799"/>
            <a:chOff x="36411" y="-342900"/>
            <a:chExt cx="6400800" cy="786879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C36039D-9A02-10BB-8A11-EFBF9853B0AB}"/>
                </a:ext>
              </a:extLst>
            </p:cNvPr>
            <p:cNvSpPr txBox="1"/>
            <p:nvPr/>
          </p:nvSpPr>
          <p:spPr>
            <a:xfrm>
              <a:off x="576927" y="1662910"/>
              <a:ext cx="25237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/>
                <a:t> Archive</a:t>
              </a:r>
            </a:p>
          </p:txBody>
        </p:sp>
        <p:pic>
          <p:nvPicPr>
            <p:cNvPr id="30" name="Graphic 29" descr="Folder outline">
              <a:extLst>
                <a:ext uri="{FF2B5EF4-FFF2-40B4-BE49-F238E27FC236}">
                  <a16:creationId xmlns:a16="http://schemas.microsoft.com/office/drawing/2014/main" id="{7D890E62-43A1-D755-2AD0-CD68112654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411" y="-342900"/>
              <a:ext cx="6400800" cy="7868799"/>
            </a:xfrm>
            <a:prstGeom prst="rect">
              <a:avLst/>
            </a:prstGeom>
          </p:spPr>
        </p:pic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E11B2175-9CE3-D01B-B0C7-7DECA6863C74}"/>
              </a:ext>
            </a:extLst>
          </p:cNvPr>
          <p:cNvSpPr txBox="1"/>
          <p:nvPr/>
        </p:nvSpPr>
        <p:spPr>
          <a:xfrm>
            <a:off x="6438451" y="2636273"/>
            <a:ext cx="5343817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Integrity tier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Accessible by login node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10,000 file limit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5DB830E-8953-F4E2-1DCA-65141E168EB2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46" name="Graphic 45" descr="Programmer female with solid fill">
              <a:extLst>
                <a:ext uri="{FF2B5EF4-FFF2-40B4-BE49-F238E27FC236}">
                  <a16:creationId xmlns:a16="http://schemas.microsoft.com/office/drawing/2014/main" id="{6CD80296-C985-16FB-A95D-5FD068886B1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E671C06-B17E-ACB5-09B8-01991C774A70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48" name="Graphic 47" descr="Processor with solid fill">
              <a:extLst>
                <a:ext uri="{FF2B5EF4-FFF2-40B4-BE49-F238E27FC236}">
                  <a16:creationId xmlns:a16="http://schemas.microsoft.com/office/drawing/2014/main" id="{2BB34A8C-6545-E066-654C-06E0C4A0A0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49" name="Graphic 48" descr="Database with solid fill">
              <a:extLst>
                <a:ext uri="{FF2B5EF4-FFF2-40B4-BE49-F238E27FC236}">
                  <a16:creationId xmlns:a16="http://schemas.microsoft.com/office/drawing/2014/main" id="{3D6379D7-90E0-F059-0016-126280AE17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EF896F5A-810C-5887-B68F-197BD88319D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BCF45EE4-71A6-0F90-603E-9B435559C3F5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3B4BA291-C6D3-C487-3881-917B115C2B55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60773B40-B5AA-93C4-9E73-25EA360C4F8E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6B8A4CA8-4B39-68C8-7443-3A295073A99C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FC6EAFE-8D8E-8D1D-1A28-F5388B94E408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E45737F-66E2-6B30-C91B-C6EB5577FC7F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4853490-9A89-4373-EC51-97D9CFD944CA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63464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Sharing: Within RC</a:t>
            </a:r>
            <a:endParaRPr/>
          </a:p>
        </p:txBody>
      </p:sp>
      <p:sp>
        <p:nvSpPr>
          <p:cNvPr id="423" name="Google Shape;423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C9E8E48-C87C-9CCB-01DD-AE9051349C96}"/>
              </a:ext>
            </a:extLst>
          </p:cNvPr>
          <p:cNvGrpSpPr/>
          <p:nvPr/>
        </p:nvGrpSpPr>
        <p:grpSpPr>
          <a:xfrm>
            <a:off x="838200" y="2199190"/>
            <a:ext cx="10388278" cy="3252486"/>
            <a:chOff x="838200" y="2199190"/>
            <a:chExt cx="10388278" cy="3252486"/>
          </a:xfrm>
        </p:grpSpPr>
        <p:sp>
          <p:nvSpPr>
            <p:cNvPr id="14" name="Left-Right Arrow 13">
              <a:extLst>
                <a:ext uri="{FF2B5EF4-FFF2-40B4-BE49-F238E27FC236}">
                  <a16:creationId xmlns:a16="http://schemas.microsoft.com/office/drawing/2014/main" id="{C135AB31-110D-A48F-2CB5-DFE0CACA395C}"/>
                </a:ext>
              </a:extLst>
            </p:cNvPr>
            <p:cNvSpPr/>
            <p:nvPr/>
          </p:nvSpPr>
          <p:spPr>
            <a:xfrm>
              <a:off x="3286199" y="2921702"/>
              <a:ext cx="6007201" cy="777314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6D0DB63A-98F6-B965-BBEB-FA5D57CBB7C6}"/>
                </a:ext>
              </a:extLst>
            </p:cNvPr>
            <p:cNvSpPr/>
            <p:nvPr/>
          </p:nvSpPr>
          <p:spPr>
            <a:xfrm>
              <a:off x="838200" y="2199190"/>
              <a:ext cx="10388278" cy="325248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96A777C-5C5E-7140-81FD-4F09A5CC964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167811" y="2761719"/>
              <a:ext cx="1181497" cy="1097280"/>
              <a:chOff x="6559268" y="2443018"/>
              <a:chExt cx="1673787" cy="1554480"/>
            </a:xfrm>
          </p:grpSpPr>
          <p:sp>
            <p:nvSpPr>
              <p:cNvPr id="3" name="Google Shape;410;p35">
                <a:extLst>
                  <a:ext uri="{FF2B5EF4-FFF2-40B4-BE49-F238E27FC236}">
                    <a16:creationId xmlns:a16="http://schemas.microsoft.com/office/drawing/2014/main" id="{DC090D72-2E5A-D566-4BB8-3E189CFF551F}"/>
                  </a:ext>
                </a:extLst>
              </p:cNvPr>
              <p:cNvSpPr/>
              <p:nvPr/>
            </p:nvSpPr>
            <p:spPr>
              <a:xfrm rot="16200000">
                <a:off x="7120843" y="2432000"/>
                <a:ext cx="1101193" cy="1123230"/>
              </a:xfrm>
              <a:prstGeom prst="flowChartMagneticDrum">
                <a:avLst/>
              </a:prstGeom>
              <a:solidFill>
                <a:srgbClr val="E7E6E6"/>
              </a:solidFill>
              <a:ln w="19050" cap="flat" cmpd="sng">
                <a:solidFill>
                  <a:srgbClr val="5B9BD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" name="Google Shape;411;p35">
                <a:extLst>
                  <a:ext uri="{FF2B5EF4-FFF2-40B4-BE49-F238E27FC236}">
                    <a16:creationId xmlns:a16="http://schemas.microsoft.com/office/drawing/2014/main" id="{A634C907-CEBE-FA73-7B60-29632BE2300C}"/>
                  </a:ext>
                </a:extLst>
              </p:cNvPr>
              <p:cNvSpPr/>
              <p:nvPr/>
            </p:nvSpPr>
            <p:spPr>
              <a:xfrm rot="16200000">
                <a:off x="6570286" y="2885287"/>
                <a:ext cx="1101193" cy="1123230"/>
              </a:xfrm>
              <a:prstGeom prst="flowChartMagneticDrum">
                <a:avLst/>
              </a:prstGeom>
              <a:solidFill>
                <a:srgbClr val="E7E6E6"/>
              </a:solidFill>
              <a:ln w="19050" cap="flat" cmpd="sng">
                <a:solidFill>
                  <a:srgbClr val="5B9BD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6" name="Google Shape;503;p37">
              <a:extLst>
                <a:ext uri="{FF2B5EF4-FFF2-40B4-BE49-F238E27FC236}">
                  <a16:creationId xmlns:a16="http://schemas.microsoft.com/office/drawing/2014/main" id="{7F5F8F5A-5BA3-61E4-3D89-EE4091727ADC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29592" y="2395959"/>
              <a:ext cx="1828800" cy="182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503;p37">
              <a:extLst>
                <a:ext uri="{FF2B5EF4-FFF2-40B4-BE49-F238E27FC236}">
                  <a16:creationId xmlns:a16="http://schemas.microsoft.com/office/drawing/2014/main" id="{2C23B39C-3793-1886-97AE-F73A6924BD8D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231956" y="2395959"/>
              <a:ext cx="1830452" cy="18288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8E65DBF-36F2-E5D9-5171-89F1C10ADD2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841040" y="2761719"/>
              <a:ext cx="1300222" cy="1097280"/>
              <a:chOff x="6818535" y="1716777"/>
              <a:chExt cx="1841983" cy="1554481"/>
            </a:xfrm>
          </p:grpSpPr>
          <p:sp>
            <p:nvSpPr>
              <p:cNvPr id="10" name="Google Shape;407;p35">
                <a:extLst>
                  <a:ext uri="{FF2B5EF4-FFF2-40B4-BE49-F238E27FC236}">
                    <a16:creationId xmlns:a16="http://schemas.microsoft.com/office/drawing/2014/main" id="{907DA3C7-4195-0937-55D1-FE96FD21E583}"/>
                  </a:ext>
                </a:extLst>
              </p:cNvPr>
              <p:cNvSpPr/>
              <p:nvPr/>
            </p:nvSpPr>
            <p:spPr>
              <a:xfrm rot="16200000">
                <a:off x="6893801" y="1641511"/>
                <a:ext cx="902636" cy="1053167"/>
              </a:xfrm>
              <a:prstGeom prst="flowChartMagneticDrum">
                <a:avLst/>
              </a:prstGeom>
              <a:solidFill>
                <a:srgbClr val="E7E6E6"/>
              </a:solidFill>
              <a:ln w="19050" cap="flat" cmpd="sng">
                <a:solidFill>
                  <a:srgbClr val="ED7D3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408;p35">
                <a:extLst>
                  <a:ext uri="{FF2B5EF4-FFF2-40B4-BE49-F238E27FC236}">
                    <a16:creationId xmlns:a16="http://schemas.microsoft.com/office/drawing/2014/main" id="{0940597F-CD73-4A8C-1752-CB4852B5F0EC}"/>
                  </a:ext>
                </a:extLst>
              </p:cNvPr>
              <p:cNvSpPr/>
              <p:nvPr/>
            </p:nvSpPr>
            <p:spPr>
              <a:xfrm rot="16200000">
                <a:off x="7682617" y="1921803"/>
                <a:ext cx="902636" cy="1053167"/>
              </a:xfrm>
              <a:prstGeom prst="flowChartMagneticDrum">
                <a:avLst/>
              </a:prstGeom>
              <a:solidFill>
                <a:srgbClr val="E7E6E6"/>
              </a:solidFill>
              <a:ln w="19050" cap="flat" cmpd="sng">
                <a:solidFill>
                  <a:srgbClr val="ED7D3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409;p35">
                <a:extLst>
                  <a:ext uri="{FF2B5EF4-FFF2-40B4-BE49-F238E27FC236}">
                    <a16:creationId xmlns:a16="http://schemas.microsoft.com/office/drawing/2014/main" id="{F2590791-61CF-498C-309E-5B6D5DCEA9CD}"/>
                  </a:ext>
                </a:extLst>
              </p:cNvPr>
              <p:cNvSpPr/>
              <p:nvPr/>
            </p:nvSpPr>
            <p:spPr>
              <a:xfrm rot="16200000">
                <a:off x="7166400" y="2293356"/>
                <a:ext cx="902636" cy="1053167"/>
              </a:xfrm>
              <a:prstGeom prst="flowChartMagneticDrum">
                <a:avLst/>
              </a:prstGeom>
              <a:solidFill>
                <a:srgbClr val="E7E6E6"/>
              </a:solidFill>
              <a:ln w="19050" cap="flat" cmpd="sng">
                <a:solidFill>
                  <a:srgbClr val="ED7D3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7939410-DE09-C1EC-5974-F526EB1439DD}"/>
              </a:ext>
            </a:extLst>
          </p:cNvPr>
          <p:cNvSpPr txBox="1"/>
          <p:nvPr/>
        </p:nvSpPr>
        <p:spPr>
          <a:xfrm>
            <a:off x="3742389" y="3825433"/>
            <a:ext cx="2299027" cy="120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000">
                <a:solidFill>
                  <a:srgbClr val="FF0000"/>
                </a:solidFill>
              </a:rPr>
              <a:t>/home </a:t>
            </a:r>
            <a:r>
              <a:rPr lang="en-US" sz="2000">
                <a:solidFill>
                  <a:srgbClr val="FF0000"/>
                </a:solidFill>
                <a:sym typeface="Wingdings" pitchFamily="2" charset="2"/>
              </a:rPr>
              <a:t> Private!!!</a:t>
            </a:r>
            <a:endParaRPr lang="en-US" sz="2000">
              <a:solidFill>
                <a:srgbClr val="FF0000"/>
              </a:solidFill>
            </a:endParaRPr>
          </a:p>
          <a:p>
            <a:pPr>
              <a:lnSpc>
                <a:spcPct val="125000"/>
              </a:lnSpc>
            </a:pPr>
            <a:r>
              <a:rPr lang="en-US" sz="2000"/>
              <a:t>/project</a:t>
            </a:r>
          </a:p>
          <a:p>
            <a:pPr>
              <a:lnSpc>
                <a:spcPct val="125000"/>
              </a:lnSpc>
            </a:pPr>
            <a:r>
              <a:rPr lang="en-US" sz="2000"/>
              <a:t>/scratch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87E02-C77A-98F6-083E-7CE58167E76E}"/>
              </a:ext>
            </a:extLst>
          </p:cNvPr>
          <p:cNvSpPr txBox="1"/>
          <p:nvPr/>
        </p:nvSpPr>
        <p:spPr>
          <a:xfrm>
            <a:off x="6384386" y="3858999"/>
            <a:ext cx="2409375" cy="439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2000" err="1"/>
              <a:t>PetaLibrary</a:t>
            </a:r>
            <a:r>
              <a:rPr lang="en-US" sz="2000"/>
              <a:t> Space</a:t>
            </a:r>
          </a:p>
        </p:txBody>
      </p:sp>
      <p:pic>
        <p:nvPicPr>
          <p:cNvPr id="19" name="Graphic 18" descr="Close with solid fill">
            <a:extLst>
              <a:ext uri="{FF2B5EF4-FFF2-40B4-BE49-F238E27FC236}">
                <a16:creationId xmlns:a16="http://schemas.microsoft.com/office/drawing/2014/main" id="{1402920A-6559-C2BE-6E3B-91354034781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6587" y="3880456"/>
            <a:ext cx="363723" cy="396307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30F3F23A-A3F0-9A76-FE57-01CF25632360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9" name="Graphic 8" descr="Programmer female with solid fill">
              <a:extLst>
                <a:ext uri="{FF2B5EF4-FFF2-40B4-BE49-F238E27FC236}">
                  <a16:creationId xmlns:a16="http://schemas.microsoft.com/office/drawing/2014/main" id="{48067425-BA42-FEC6-9632-2480C50C7E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9D85FB0-7C09-8D73-F6A0-D873D4CD75FD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20" name="Graphic 19" descr="Processor with solid fill">
              <a:extLst>
                <a:ext uri="{FF2B5EF4-FFF2-40B4-BE49-F238E27FC236}">
                  <a16:creationId xmlns:a16="http://schemas.microsoft.com/office/drawing/2014/main" id="{DF0B6FFD-F996-7071-7406-87E2E46B9F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21" name="Graphic 20" descr="Database with solid fill">
              <a:extLst>
                <a:ext uri="{FF2B5EF4-FFF2-40B4-BE49-F238E27FC236}">
                  <a16:creationId xmlns:a16="http://schemas.microsoft.com/office/drawing/2014/main" id="{9CEB7008-FCC8-B9FD-704A-E31240CA7A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48F61BB-23C2-B35D-4AB1-4A4A2CCF165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ADF93FFC-B8D9-CA06-53F9-AA0EAA31EEAC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D393D9DC-4ECC-391D-9E8B-6EDD34ACA016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E14975DB-4285-8071-6AA2-3DCEE3FE772C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04EB886-5ADB-BC35-27FF-1FE19C6D34DD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C36FB96-3B41-0D17-1118-BBC0EDFA6C51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AB1B286-3D00-56B8-BDB7-8A2B0AE539D5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27AE9A6-1AAA-B0FC-845A-C3640F001B79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Data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6"/>
          <p:cNvSpPr txBox="1">
            <a:spLocks noGrp="1"/>
          </p:cNvSpPr>
          <p:nvPr>
            <p:ph type="title"/>
          </p:nvPr>
        </p:nvSpPr>
        <p:spPr>
          <a:xfrm>
            <a:off x="838200" y="87369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Sharing: Outside RC</a:t>
            </a:r>
            <a:endParaRPr/>
          </a:p>
        </p:txBody>
      </p:sp>
      <p:sp>
        <p:nvSpPr>
          <p:cNvPr id="423" name="Google Shape;423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5B77E10-0D7C-D4FB-9919-5286B32DE150}"/>
              </a:ext>
            </a:extLst>
          </p:cNvPr>
          <p:cNvGrpSpPr>
            <a:grpSpLocks noChangeAspect="1"/>
          </p:cNvGrpSpPr>
          <p:nvPr/>
        </p:nvGrpSpPr>
        <p:grpSpPr>
          <a:xfrm>
            <a:off x="5821959" y="1503052"/>
            <a:ext cx="6152602" cy="3283634"/>
            <a:chOff x="838200" y="1125217"/>
            <a:chExt cx="9763881" cy="4778796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6D0DB63A-98F6-B965-BBEB-FA5D57CBB7C6}"/>
                </a:ext>
              </a:extLst>
            </p:cNvPr>
            <p:cNvSpPr/>
            <p:nvPr/>
          </p:nvSpPr>
          <p:spPr>
            <a:xfrm>
              <a:off x="838200" y="2511707"/>
              <a:ext cx="6106610" cy="2025569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Google Shape;503;p37">
              <a:extLst>
                <a:ext uri="{FF2B5EF4-FFF2-40B4-BE49-F238E27FC236}">
                  <a16:creationId xmlns:a16="http://schemas.microsoft.com/office/drawing/2014/main" id="{7F5F8F5A-5BA3-61E4-3D89-EE4091727ADC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38805" y="2619961"/>
              <a:ext cx="1828800" cy="182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503;p37">
              <a:extLst>
                <a:ext uri="{FF2B5EF4-FFF2-40B4-BE49-F238E27FC236}">
                  <a16:creationId xmlns:a16="http://schemas.microsoft.com/office/drawing/2014/main" id="{2C23B39C-3793-1886-97AE-F73A6924BD8D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455735" y="1125217"/>
              <a:ext cx="1372838" cy="137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503;p37">
              <a:extLst>
                <a:ext uri="{FF2B5EF4-FFF2-40B4-BE49-F238E27FC236}">
                  <a16:creationId xmlns:a16="http://schemas.microsoft.com/office/drawing/2014/main" id="{DA3036DC-3254-3A47-96D8-05D49FC101C8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452360" y="4532413"/>
              <a:ext cx="1372838" cy="137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" name="Bent Arrow 8">
              <a:extLst>
                <a:ext uri="{FF2B5EF4-FFF2-40B4-BE49-F238E27FC236}">
                  <a16:creationId xmlns:a16="http://schemas.microsoft.com/office/drawing/2014/main" id="{3A512F92-9DD9-50B3-59AE-6321C61E1913}"/>
                </a:ext>
              </a:extLst>
            </p:cNvPr>
            <p:cNvSpPr/>
            <p:nvPr/>
          </p:nvSpPr>
          <p:spPr>
            <a:xfrm rot="5400000">
              <a:off x="5153843" y="1131332"/>
              <a:ext cx="1280160" cy="5652209"/>
            </a:xfrm>
            <a:prstGeom prst="bentArrow">
              <a:avLst>
                <a:gd name="adj1" fmla="val 34737"/>
                <a:gd name="adj2" fmla="val 37658"/>
                <a:gd name="adj3" fmla="val 29868"/>
                <a:gd name="adj4" fmla="val 6002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9" name="Bent Arrow 18">
              <a:extLst>
                <a:ext uri="{FF2B5EF4-FFF2-40B4-BE49-F238E27FC236}">
                  <a16:creationId xmlns:a16="http://schemas.microsoft.com/office/drawing/2014/main" id="{0E75C1D3-EFC8-0210-B08F-95E3E145A7FB}"/>
                </a:ext>
              </a:extLst>
            </p:cNvPr>
            <p:cNvSpPr/>
            <p:nvPr/>
          </p:nvSpPr>
          <p:spPr>
            <a:xfrm rot="16200000" flipV="1">
              <a:off x="5153843" y="272200"/>
              <a:ext cx="1280160" cy="5652209"/>
            </a:xfrm>
            <a:prstGeom prst="bentArrow">
              <a:avLst>
                <a:gd name="adj1" fmla="val 34737"/>
                <a:gd name="adj2" fmla="val 37658"/>
                <a:gd name="adj3" fmla="val 29868"/>
                <a:gd name="adj4" fmla="val 546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" name="Right Arrow 19">
              <a:extLst>
                <a:ext uri="{FF2B5EF4-FFF2-40B4-BE49-F238E27FC236}">
                  <a16:creationId xmlns:a16="http://schemas.microsoft.com/office/drawing/2014/main" id="{22E92C13-AA7B-5C06-9C5F-4E4EDC464324}"/>
                </a:ext>
              </a:extLst>
            </p:cNvPr>
            <p:cNvSpPr/>
            <p:nvPr/>
          </p:nvSpPr>
          <p:spPr>
            <a:xfrm>
              <a:off x="2967860" y="3122376"/>
              <a:ext cx="6265748" cy="810988"/>
            </a:xfrm>
            <a:prstGeom prst="rightArrow">
              <a:avLst>
                <a:gd name="adj1" fmla="val 58563"/>
                <a:gd name="adj2" fmla="val 500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Google Shape;503;p37">
              <a:extLst>
                <a:ext uri="{FF2B5EF4-FFF2-40B4-BE49-F238E27FC236}">
                  <a16:creationId xmlns:a16="http://schemas.microsoft.com/office/drawing/2014/main" id="{2D1C23D8-58C9-B44E-6E1D-D2EE553DB58B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229243" y="2848561"/>
              <a:ext cx="1372838" cy="13716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96A777C-5C5E-7140-81FD-4F09A5CC964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330369" y="3074237"/>
              <a:ext cx="1181497" cy="1097280"/>
              <a:chOff x="6559268" y="2443018"/>
              <a:chExt cx="1673787" cy="1554480"/>
            </a:xfrm>
          </p:grpSpPr>
          <p:sp>
            <p:nvSpPr>
              <p:cNvPr id="3" name="Google Shape;410;p35">
                <a:extLst>
                  <a:ext uri="{FF2B5EF4-FFF2-40B4-BE49-F238E27FC236}">
                    <a16:creationId xmlns:a16="http://schemas.microsoft.com/office/drawing/2014/main" id="{DC090D72-2E5A-D566-4BB8-3E189CFF551F}"/>
                  </a:ext>
                </a:extLst>
              </p:cNvPr>
              <p:cNvSpPr/>
              <p:nvPr/>
            </p:nvSpPr>
            <p:spPr>
              <a:xfrm rot="16200000">
                <a:off x="7120843" y="2432000"/>
                <a:ext cx="1101193" cy="1123230"/>
              </a:xfrm>
              <a:prstGeom prst="flowChartMagneticDrum">
                <a:avLst/>
              </a:prstGeom>
              <a:solidFill>
                <a:srgbClr val="E7E6E6"/>
              </a:solidFill>
              <a:ln w="19050" cap="flat" cmpd="sng">
                <a:solidFill>
                  <a:srgbClr val="5B9BD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" name="Google Shape;411;p35">
                <a:extLst>
                  <a:ext uri="{FF2B5EF4-FFF2-40B4-BE49-F238E27FC236}">
                    <a16:creationId xmlns:a16="http://schemas.microsoft.com/office/drawing/2014/main" id="{A634C907-CEBE-FA73-7B60-29632BE2300C}"/>
                  </a:ext>
                </a:extLst>
              </p:cNvPr>
              <p:cNvSpPr/>
              <p:nvPr/>
            </p:nvSpPr>
            <p:spPr>
              <a:xfrm rot="16200000">
                <a:off x="6570286" y="2885287"/>
                <a:ext cx="1101193" cy="1123230"/>
              </a:xfrm>
              <a:prstGeom prst="flowChartMagneticDrum">
                <a:avLst/>
              </a:prstGeom>
              <a:solidFill>
                <a:srgbClr val="E7E6E6"/>
              </a:solidFill>
              <a:ln w="19050" cap="flat" cmpd="sng">
                <a:solidFill>
                  <a:srgbClr val="5B9BD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8E65DBF-36F2-E5D9-5171-89F1C10ADD2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015476" y="3074236"/>
              <a:ext cx="1300222" cy="1097280"/>
              <a:chOff x="6818535" y="1716777"/>
              <a:chExt cx="1841983" cy="1554481"/>
            </a:xfrm>
          </p:grpSpPr>
          <p:sp>
            <p:nvSpPr>
              <p:cNvPr id="10" name="Google Shape;407;p35">
                <a:extLst>
                  <a:ext uri="{FF2B5EF4-FFF2-40B4-BE49-F238E27FC236}">
                    <a16:creationId xmlns:a16="http://schemas.microsoft.com/office/drawing/2014/main" id="{907DA3C7-4195-0937-55D1-FE96FD21E583}"/>
                  </a:ext>
                </a:extLst>
              </p:cNvPr>
              <p:cNvSpPr/>
              <p:nvPr/>
            </p:nvSpPr>
            <p:spPr>
              <a:xfrm rot="16200000">
                <a:off x="6893801" y="1641511"/>
                <a:ext cx="902636" cy="1053167"/>
              </a:xfrm>
              <a:prstGeom prst="flowChartMagneticDrum">
                <a:avLst/>
              </a:prstGeom>
              <a:solidFill>
                <a:srgbClr val="E7E6E6"/>
              </a:solidFill>
              <a:ln w="19050" cap="flat" cmpd="sng">
                <a:solidFill>
                  <a:srgbClr val="ED7D3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408;p35">
                <a:extLst>
                  <a:ext uri="{FF2B5EF4-FFF2-40B4-BE49-F238E27FC236}">
                    <a16:creationId xmlns:a16="http://schemas.microsoft.com/office/drawing/2014/main" id="{0940597F-CD73-4A8C-1752-CB4852B5F0EC}"/>
                  </a:ext>
                </a:extLst>
              </p:cNvPr>
              <p:cNvSpPr/>
              <p:nvPr/>
            </p:nvSpPr>
            <p:spPr>
              <a:xfrm rot="16200000">
                <a:off x="7682617" y="1921803"/>
                <a:ext cx="902636" cy="1053167"/>
              </a:xfrm>
              <a:prstGeom prst="flowChartMagneticDrum">
                <a:avLst/>
              </a:prstGeom>
              <a:solidFill>
                <a:srgbClr val="E7E6E6"/>
              </a:solidFill>
              <a:ln w="19050" cap="flat" cmpd="sng">
                <a:solidFill>
                  <a:srgbClr val="ED7D3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409;p35">
                <a:extLst>
                  <a:ext uri="{FF2B5EF4-FFF2-40B4-BE49-F238E27FC236}">
                    <a16:creationId xmlns:a16="http://schemas.microsoft.com/office/drawing/2014/main" id="{F2590791-61CF-498C-309E-5B6D5DCEA9CD}"/>
                  </a:ext>
                </a:extLst>
              </p:cNvPr>
              <p:cNvSpPr/>
              <p:nvPr/>
            </p:nvSpPr>
            <p:spPr>
              <a:xfrm rot="16200000">
                <a:off x="7166400" y="2293356"/>
                <a:ext cx="902636" cy="1053167"/>
              </a:xfrm>
              <a:prstGeom prst="flowChartMagneticDrum">
                <a:avLst/>
              </a:prstGeom>
              <a:solidFill>
                <a:srgbClr val="E7E6E6"/>
              </a:solidFill>
              <a:ln w="19050" cap="flat" cmpd="sng">
                <a:solidFill>
                  <a:srgbClr val="ED7D3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7C0F5C90-15E5-7E68-0862-4CAE4CECC6AF}"/>
              </a:ext>
            </a:extLst>
          </p:cNvPr>
          <p:cNvSpPr txBox="1"/>
          <p:nvPr/>
        </p:nvSpPr>
        <p:spPr>
          <a:xfrm>
            <a:off x="306956" y="1677661"/>
            <a:ext cx="5320536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Tools for data transfers: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Globus (Recommended)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Open OnDemand (for data &lt;1GB)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Terminal/Command Line:</a:t>
            </a:r>
          </a:p>
          <a:p>
            <a:pPr marL="954088" lvl="7" indent="-342900">
              <a:buFont typeface="Courier New" panose="02070309020205020404" pitchFamily="49" charset="0"/>
              <a:buChar char="o"/>
            </a:pPr>
            <a:r>
              <a:rPr lang="en-US" sz="2400" dirty="0" err="1"/>
              <a:t>rsync</a:t>
            </a:r>
            <a:endParaRPr lang="en-US" sz="2400" dirty="0"/>
          </a:p>
          <a:p>
            <a:pPr marL="954088" lvl="7" indent="-342900">
              <a:buFont typeface="Courier New" panose="02070309020205020404" pitchFamily="49" charset="0"/>
              <a:buChar char="o"/>
            </a:pPr>
            <a:r>
              <a:rPr lang="en-US" sz="2400" dirty="0" err="1"/>
              <a:t>rclone</a:t>
            </a:r>
            <a:endParaRPr lang="en-US" sz="2400" dirty="0"/>
          </a:p>
          <a:p>
            <a:pPr marL="954088" lvl="7" indent="-342900">
              <a:buFont typeface="Courier New" panose="02070309020205020404" pitchFamily="49" charset="0"/>
              <a:buChar char="o"/>
            </a:pPr>
            <a:r>
              <a:rPr lang="en-US" sz="2400" dirty="0"/>
              <a:t>sftp</a:t>
            </a:r>
          </a:p>
          <a:p>
            <a:pPr marL="954088" lvl="7" indent="-342900">
              <a:buFont typeface="Courier New" panose="02070309020205020404" pitchFamily="49" charset="0"/>
              <a:buChar char="o"/>
            </a:pPr>
            <a:r>
              <a:rPr lang="en-US" sz="2400" dirty="0" err="1"/>
              <a:t>scp</a:t>
            </a:r>
            <a:endParaRPr lang="en-US" sz="2400" dirty="0"/>
          </a:p>
          <a:p>
            <a:pPr marL="922338" lvl="7" indent="-3111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922338" lvl="7" indent="-3111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E0BC965-1794-0B31-3880-A507A748133A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15" name="Graphic 14" descr="Programmer female with solid fill">
              <a:extLst>
                <a:ext uri="{FF2B5EF4-FFF2-40B4-BE49-F238E27FC236}">
                  <a16:creationId xmlns:a16="http://schemas.microsoft.com/office/drawing/2014/main" id="{C474DDC6-13F9-5DDD-F16B-D9935C2A027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6641A0F-F77A-2906-C074-84C9188C0859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17" name="Graphic 16" descr="Processor with solid fill">
              <a:extLst>
                <a:ext uri="{FF2B5EF4-FFF2-40B4-BE49-F238E27FC236}">
                  <a16:creationId xmlns:a16="http://schemas.microsoft.com/office/drawing/2014/main" id="{095D4E15-DFA9-7159-AE26-2146F86C7E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18" name="Graphic 17" descr="Database with solid fill">
              <a:extLst>
                <a:ext uri="{FF2B5EF4-FFF2-40B4-BE49-F238E27FC236}">
                  <a16:creationId xmlns:a16="http://schemas.microsoft.com/office/drawing/2014/main" id="{C7DE79D8-D5D4-758A-714E-52FDD8747F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90E3597-FD3A-FCA1-AC04-07768FED965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A62F9D5F-6DDB-28B0-520B-C7B2DF8773E0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C79D4880-ED8B-E970-C617-473F1389E68E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D280BEED-8EA8-0C89-0987-8DA2FEAA906F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17E2731B-8057-6075-65E1-4CF8849B8850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0C27362-E420-9D04-80F2-CEBC37192212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27A10F8-F3A6-627A-F1FE-C8255D13B64D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60E813D-2357-AD9F-8F88-E260A1674A1A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188216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BC313-C146-3446-DE4D-84C0EE84A7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34</a:t>
            </a:fld>
            <a:endParaRPr lang="en-US"/>
          </a:p>
        </p:txBody>
      </p:sp>
      <p:sp>
        <p:nvSpPr>
          <p:cNvPr id="5" name="Google Shape;688;p53">
            <a:extLst>
              <a:ext uri="{FF2B5EF4-FFF2-40B4-BE49-F238E27FC236}">
                <a16:creationId xmlns:a16="http://schemas.microsoft.com/office/drawing/2014/main" id="{9C47FE18-2E7D-A258-00BF-E03009F2E5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64664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Transfer Nodes (DTN)</a:t>
            </a:r>
            <a:endParaRPr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3F17BED-AC4E-F27E-AE49-9230997937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57378" y="2011532"/>
            <a:ext cx="2286000" cy="2286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0897E6-F055-9C1B-98C9-0771D697C963}"/>
              </a:ext>
            </a:extLst>
          </p:cNvPr>
          <p:cNvSpPr txBox="1"/>
          <p:nvPr/>
        </p:nvSpPr>
        <p:spPr>
          <a:xfrm>
            <a:off x="8610600" y="4297532"/>
            <a:ext cx="973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DTNs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F27F2A-6E19-BF47-4537-DFDE92A3607C}"/>
              </a:ext>
            </a:extLst>
          </p:cNvPr>
          <p:cNvSpPr txBox="1"/>
          <p:nvPr/>
        </p:nvSpPr>
        <p:spPr>
          <a:xfrm>
            <a:off x="620587" y="2148489"/>
            <a:ext cx="5716330" cy="306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Dedicated nodes that support data transfers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Can be selected when using </a:t>
            </a:r>
            <a:r>
              <a:rPr lang="en-US" sz="2400" dirty="0" err="1">
                <a:solidFill>
                  <a:schemeClr val="tx1"/>
                </a:solidFill>
              </a:rPr>
              <a:t>scp</a:t>
            </a:r>
            <a:r>
              <a:rPr lang="en-US" sz="2400" dirty="0">
                <a:solidFill>
                  <a:schemeClr val="tx1"/>
                </a:solidFill>
              </a:rPr>
              <a:t>, sftp, or ssh transfers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400" i="1" dirty="0" err="1">
                <a:solidFill>
                  <a:schemeClr val="tx1"/>
                </a:solidFill>
              </a:rPr>
              <a:t>dtn.rc.colorado.edu</a:t>
            </a:r>
            <a:r>
              <a:rPr lang="en-US" sz="2400" i="1" dirty="0">
                <a:solidFill>
                  <a:schemeClr val="tx1"/>
                </a:solidFill>
              </a:rPr>
              <a:t> 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0F5DA30-E41B-AFEB-4C32-E8152E5AAEC5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21" name="Graphic 20" descr="Programmer female with solid fill">
              <a:extLst>
                <a:ext uri="{FF2B5EF4-FFF2-40B4-BE49-F238E27FC236}">
                  <a16:creationId xmlns:a16="http://schemas.microsoft.com/office/drawing/2014/main" id="{51A4794E-8E7D-A05C-0263-290B2F8E50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2A55B17-FDEE-0912-161C-C45C181AB701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23" name="Graphic 22" descr="Processor with solid fill">
              <a:extLst>
                <a:ext uri="{FF2B5EF4-FFF2-40B4-BE49-F238E27FC236}">
                  <a16:creationId xmlns:a16="http://schemas.microsoft.com/office/drawing/2014/main" id="{EA2A8984-E4CA-F2EF-49A2-27FFFE703C9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24" name="Graphic 23" descr="Database with solid fill">
              <a:extLst>
                <a:ext uri="{FF2B5EF4-FFF2-40B4-BE49-F238E27FC236}">
                  <a16:creationId xmlns:a16="http://schemas.microsoft.com/office/drawing/2014/main" id="{FD78B112-09E3-25B7-35FF-38B29E7842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2E95C8F5-E345-4174-8041-CE13C16F3D2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E0580732-DD5E-266A-1CC5-ADFB7C1262A8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3605D87A-1C12-C3B2-12F5-0AED036CDF64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1EE8E50D-D13C-26B3-032B-4FDB3ACBB790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BB5B5F5-B064-9811-058F-B613F78A39B3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E456702-890F-FE78-286D-AF7D6AFD2993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8DB9ABC-9C84-7431-5D2E-8F42D3A32A69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D6BAF1D-D08A-A7F4-12B7-00FD650C71B2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01260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0E9D4-8DA7-5CE7-7856-071EA3663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b="0" i="0" u="none" strike="noStrike">
                <a:effectLst/>
                <a:latin typeface="-apple-system"/>
              </a:rPr>
              <a:t>Acceptable data storage and use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30AB62-B0DA-4A95-6781-EA875194C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7241"/>
            <a:ext cx="10515600" cy="4163129"/>
          </a:xfrm>
        </p:spPr>
        <p:txBody>
          <a:bodyPr>
            <a:normAutofit/>
          </a:bodyPr>
          <a:lstStyle/>
          <a:p>
            <a:pPr marL="114300" indent="0" algn="l">
              <a:buNone/>
            </a:pPr>
            <a:r>
              <a:rPr lang="en-US" sz="2400" b="0" i="0" u="none" strike="noStrike">
                <a:solidFill>
                  <a:schemeClr val="tx1"/>
                </a:solidFill>
                <a:effectLst/>
                <a:latin typeface="+mn-lt"/>
              </a:rPr>
              <a:t>CURC systems and services </a:t>
            </a:r>
            <a:r>
              <a:rPr lang="en-US" sz="3200" b="1" i="0" u="none" strike="noStrike">
                <a:solidFill>
                  <a:srgbClr val="FF0000"/>
                </a:solidFill>
                <a:effectLst/>
                <a:latin typeface="+mn-lt"/>
              </a:rPr>
              <a:t>should not be used to store</a:t>
            </a:r>
            <a:r>
              <a:rPr lang="en-US" sz="2400" b="0" i="0" u="none" strike="noStrike">
                <a:solidFill>
                  <a:schemeClr val="tx1"/>
                </a:solidFill>
                <a:effectLst/>
                <a:latin typeface="+mn-lt"/>
              </a:rPr>
              <a:t> any data that is US government Classified, nor any Controlled Unclassified Information.</a:t>
            </a:r>
          </a:p>
          <a:p>
            <a:pPr marL="114300" indent="0" algn="l">
              <a:buNone/>
            </a:pPr>
            <a:endParaRPr lang="en-US" sz="2400" b="0" i="0" u="none" strike="noStrike">
              <a:solidFill>
                <a:schemeClr val="tx1"/>
              </a:solidFill>
              <a:effectLst/>
              <a:latin typeface="+mn-lt"/>
            </a:endParaRPr>
          </a:p>
          <a:p>
            <a:pPr marL="114300" indent="0" algn="l">
              <a:buNone/>
            </a:pPr>
            <a:r>
              <a:rPr lang="en-US" sz="2400" b="0" i="0" u="none" strike="noStrike">
                <a:solidFill>
                  <a:schemeClr val="tx1"/>
                </a:solidFill>
                <a:effectLst/>
                <a:latin typeface="+mn-lt"/>
              </a:rPr>
              <a:t>For users requiring storage for sensitive data types, please see the secure research computing resources: </a:t>
            </a:r>
          </a:p>
          <a:p>
            <a:pPr marL="114300" indent="0" algn="l">
              <a:buNone/>
            </a:pPr>
            <a:r>
              <a:rPr lang="en-US" sz="2400" b="0" i="0" u="none" strike="noStrike">
                <a:solidFill>
                  <a:schemeClr val="tx1"/>
                </a:solidFill>
                <a:effectLst/>
                <a:latin typeface="+mn-lt"/>
                <a:hlinkClick r:id="rId2"/>
              </a:rPr>
              <a:t>https://www.colorado.edu/rc/secure-research-computing-resources</a:t>
            </a:r>
            <a:r>
              <a:rPr lang="en-US" sz="2400" b="0" i="0" u="none" strike="noStrike">
                <a:solidFill>
                  <a:schemeClr val="tx1"/>
                </a:solidFill>
                <a:effectLst/>
                <a:latin typeface="+mn-lt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8B28C-B77B-796A-0BB7-604D46009C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35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638D6F-18A9-71D2-1087-707E640D29C4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6" name="Graphic 5" descr="Programmer female with solid fill">
              <a:extLst>
                <a:ext uri="{FF2B5EF4-FFF2-40B4-BE49-F238E27FC236}">
                  <a16:creationId xmlns:a16="http://schemas.microsoft.com/office/drawing/2014/main" id="{9DEDD3E0-CE04-5601-9188-53824341F3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5FC9105-4F77-D06E-227B-AF0A9DBD6D9C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8" name="Graphic 7" descr="Processor with solid fill">
              <a:extLst>
                <a:ext uri="{FF2B5EF4-FFF2-40B4-BE49-F238E27FC236}">
                  <a16:creationId xmlns:a16="http://schemas.microsoft.com/office/drawing/2014/main" id="{BC5B2C21-5272-9752-F8C5-9A71603A320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9" name="Graphic 8" descr="Database with solid fill">
              <a:extLst>
                <a:ext uri="{FF2B5EF4-FFF2-40B4-BE49-F238E27FC236}">
                  <a16:creationId xmlns:a16="http://schemas.microsoft.com/office/drawing/2014/main" id="{E724050B-F4A8-8A81-CB43-E21FAF0303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42FFC02-C59E-BE1D-C11B-C1588D0E56B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143B60C3-A36B-9E58-24B7-1BE544FE7DD9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FB19DB23-8CE3-2C38-D67D-9CFA0C522A18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61553901-253C-7244-59F3-FFAB8A2CCBC2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82AD2F0-C8C8-5C26-46D8-B69F9506B16C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AE4C418-8121-5CE1-3494-50D1DDDCEDCB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5CB4867-FF52-4F8E-A60C-ED86D38597CF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428659A-2D20-F0E8-42AB-53BE16D112D2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37960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BF3D8-B3C5-55F8-7B3A-3851CC7C1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Computing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421E2-F11D-517E-2EB8-F0A4837C2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384" y="1825625"/>
            <a:ext cx="7494721" cy="4163129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+mn-lt"/>
              </a:rPr>
              <a:t>CURC supports AWS, Azure, and GCP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+mn-lt"/>
              </a:rPr>
              <a:t>Alternative or augmentation to HPC</a:t>
            </a:r>
            <a:endParaRPr lang="en-US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+mn-lt"/>
              </a:rPr>
              <a:t>Interested and need help? Submit a support request form: </a:t>
            </a:r>
            <a:r>
              <a:rPr lang="en-US" dirty="0">
                <a:latin typeface="+mn-lt"/>
                <a:hlinkClick r:id="rId3"/>
              </a:rPr>
              <a:t>https://colorado.service-now.com/req_portal?id=ucb_sc_rc_form</a:t>
            </a:r>
            <a:r>
              <a:rPr lang="en-US" dirty="0">
                <a:latin typeface="+mn-lt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F6E13-315E-C2DC-5ACC-70802B8268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36</a:t>
            </a:fld>
            <a:endParaRPr lang="en-US"/>
          </a:p>
        </p:txBody>
      </p:sp>
      <p:pic>
        <p:nvPicPr>
          <p:cNvPr id="1026" name="Picture 2" descr="Free Icon | Cloud computing">
            <a:extLst>
              <a:ext uri="{FF2B5EF4-FFF2-40B4-BE49-F238E27FC236}">
                <a16:creationId xmlns:a16="http://schemas.microsoft.com/office/drawing/2014/main" id="{1D8B5981-BF16-C685-EE36-9378FFDC6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4820" y="1825625"/>
            <a:ext cx="3002280" cy="3002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EC2F918-CDBF-4734-1E5B-D01BD29AED76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6" name="Graphic 5" descr="Programmer female with solid fill">
              <a:extLst>
                <a:ext uri="{FF2B5EF4-FFF2-40B4-BE49-F238E27FC236}">
                  <a16:creationId xmlns:a16="http://schemas.microsoft.com/office/drawing/2014/main" id="{81F2D2CF-4F65-D1BC-51B3-F4AB8F1502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6EA530-0AB2-32B5-58EF-27F0A5012B40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Login</a:t>
              </a:r>
            </a:p>
          </p:txBody>
        </p:sp>
        <p:pic>
          <p:nvPicPr>
            <p:cNvPr id="8" name="Graphic 7" descr="Processor with solid fill">
              <a:extLst>
                <a:ext uri="{FF2B5EF4-FFF2-40B4-BE49-F238E27FC236}">
                  <a16:creationId xmlns:a16="http://schemas.microsoft.com/office/drawing/2014/main" id="{0529A740-AA0D-BEAA-6944-6E982F77BE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9" name="Graphic 8" descr="Database with solid fill">
              <a:extLst>
                <a:ext uri="{FF2B5EF4-FFF2-40B4-BE49-F238E27FC236}">
                  <a16:creationId xmlns:a16="http://schemas.microsoft.com/office/drawing/2014/main" id="{3CDD582B-76FE-7D03-B939-13DB2AA9D6D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448DBC6-21F2-4572-4D23-7C557A76311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2138F8D8-EB53-B75D-4179-E40B071CD502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B75B3F07-9388-9583-4FD4-E3D003C05B66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F5FD2E67-FDBA-7991-282F-6D57417CF263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89828BA-65FD-C3CD-3258-4D7169590202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03B4D0C-3723-4FB1-42C8-9F8DD9A02C8C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5942493-BBEE-6DE2-4EE6-B8ECC7ACFA00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0AB525F-C665-44F9-1CFB-0345A40A4612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14701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Access RC Resources?</a:t>
            </a:r>
            <a:endParaRPr/>
          </a:p>
        </p:txBody>
      </p:sp>
      <p:sp>
        <p:nvSpPr>
          <p:cNvPr id="521" name="Google Shape;521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16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800"/>
              <a:buAutoNum type="arabicPeriod"/>
            </a:pPr>
            <a:r>
              <a:rPr lang="en-US" dirty="0">
                <a:latin typeface="+mn-lt"/>
              </a:rPr>
              <a:t>Get an RC account</a:t>
            </a: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 dirty="0">
                <a:latin typeface="+mn-lt"/>
              </a:rPr>
              <a:t>Set up two-factor authentication (Duo and/or Microsoft MFA)</a:t>
            </a: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 dirty="0">
                <a:latin typeface="+mn-lt"/>
              </a:rPr>
              <a:t>Log in via 1) </a:t>
            </a:r>
            <a:r>
              <a:rPr lang="en-US" i="1" dirty="0">
                <a:latin typeface="+mn-lt"/>
              </a:rPr>
              <a:t>terminal</a:t>
            </a:r>
            <a:r>
              <a:rPr lang="en-US" dirty="0">
                <a:latin typeface="+mn-lt"/>
              </a:rPr>
              <a:t> or 2) </a:t>
            </a:r>
            <a:r>
              <a:rPr lang="en-US" i="1" dirty="0">
                <a:latin typeface="+mn-lt"/>
              </a:rPr>
              <a:t>Open OnDemand</a:t>
            </a: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 dirty="0">
                <a:latin typeface="+mn-lt"/>
              </a:rPr>
              <a:t>Create greatness! (responsibly)</a:t>
            </a:r>
          </a:p>
        </p:txBody>
      </p:sp>
      <p:sp>
        <p:nvSpPr>
          <p:cNvPr id="522" name="Google Shape;522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7FDA033-8053-1797-9833-757BD6EC9195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16" name="Graphic 15" descr="Programmer female with solid fill">
              <a:extLst>
                <a:ext uri="{FF2B5EF4-FFF2-40B4-BE49-F238E27FC236}">
                  <a16:creationId xmlns:a16="http://schemas.microsoft.com/office/drawing/2014/main" id="{715FBEFC-DB68-953C-33D2-5EFBED5156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4C72588-A7C8-80F3-7496-748EAD568C19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Login</a:t>
              </a:r>
            </a:p>
          </p:txBody>
        </p:sp>
        <p:pic>
          <p:nvPicPr>
            <p:cNvPr id="18" name="Graphic 17" descr="Processor with solid fill">
              <a:extLst>
                <a:ext uri="{FF2B5EF4-FFF2-40B4-BE49-F238E27FC236}">
                  <a16:creationId xmlns:a16="http://schemas.microsoft.com/office/drawing/2014/main" id="{97898D5D-88E1-960F-02A8-65141497E1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19" name="Graphic 18" descr="Database with solid fill">
              <a:extLst>
                <a:ext uri="{FF2B5EF4-FFF2-40B4-BE49-F238E27FC236}">
                  <a16:creationId xmlns:a16="http://schemas.microsoft.com/office/drawing/2014/main" id="{DFA034A7-AFF3-2FF7-1517-2EABF5AFE7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900BEED-053A-281C-3E1C-124DD10EF7F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2A50AAB1-4090-BF23-D587-4BB0B5F6185D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E3667AE9-465B-2607-1E20-7BD8D28A8992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8903307E-DDE8-659E-7B00-234A549826DD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8E55C64-0DC1-DA05-53FA-62052A7BB1AE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5D336DA-C4CB-9D23-F6A3-3A9439B1192B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68BD0F2-3D71-53A8-9DEA-4E2E468519B3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614232A-8DB7-D9AD-70C3-6D28239A58EB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632302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Getting an Account</a:t>
            </a:r>
            <a:endParaRPr dirty="0"/>
          </a:p>
        </p:txBody>
      </p:sp>
      <p:sp>
        <p:nvSpPr>
          <p:cNvPr id="538" name="Google Shape;538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930E2B-9891-0202-1E46-0FD3555E602D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16" name="Graphic 15" descr="Programmer female with solid fill">
              <a:extLst>
                <a:ext uri="{FF2B5EF4-FFF2-40B4-BE49-F238E27FC236}">
                  <a16:creationId xmlns:a16="http://schemas.microsoft.com/office/drawing/2014/main" id="{6E91442A-0866-CA8D-269C-5E0BD07F23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B66BD92-CB8C-C3A2-2CB6-D58390916B93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Login</a:t>
              </a:r>
            </a:p>
          </p:txBody>
        </p:sp>
        <p:pic>
          <p:nvPicPr>
            <p:cNvPr id="18" name="Graphic 17" descr="Processor with solid fill">
              <a:extLst>
                <a:ext uri="{FF2B5EF4-FFF2-40B4-BE49-F238E27FC236}">
                  <a16:creationId xmlns:a16="http://schemas.microsoft.com/office/drawing/2014/main" id="{4E72B0B8-CE37-CA2F-E5A7-4D28587C4D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19" name="Graphic 18" descr="Database with solid fill">
              <a:extLst>
                <a:ext uri="{FF2B5EF4-FFF2-40B4-BE49-F238E27FC236}">
                  <a16:creationId xmlns:a16="http://schemas.microsoft.com/office/drawing/2014/main" id="{80F394B8-A765-B19F-9427-8062609AE2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A1F4EA9-7265-CE3E-94E9-42E04856E73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D30C3E5A-EC62-4573-E996-780980F5B096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8DD9F178-47A3-075F-8227-9BA54B4C072D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0EA1A58B-3518-B486-23E6-05CB4B67ED88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B33E248-C13A-6FEB-1F40-A8A666BDE120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6A9E0A9-B266-7470-0740-78BFA4552CFC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3AAABB1-239F-3A39-9C87-FC4106BF72DB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47448C8-40FD-7B22-6FF2-3A5E43E5498B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3F89610-BEF5-027E-11FF-34C500743583}"/>
              </a:ext>
            </a:extLst>
          </p:cNvPr>
          <p:cNvSpPr txBox="1"/>
          <p:nvPr/>
        </p:nvSpPr>
        <p:spPr>
          <a:xfrm>
            <a:off x="675815" y="2054584"/>
            <a:ext cx="511273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Visit the appropriate tab under “Getting a CURC account” in the CURC documentation and follow the provided instructions: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  <a:hlinkClick r:id="rId6"/>
              </a:rPr>
              <a:t>https://curc.readthedocs.io/en/latest/getting_started/logging-in.html#getting-a-curc-account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endParaRPr lang="en-US" dirty="0"/>
          </a:p>
        </p:txBody>
      </p:sp>
      <p:pic>
        <p:nvPicPr>
          <p:cNvPr id="4" name="Picture 3" descr="Screenshot of a webpage titled &quot;Getting a CURC account&quot; providing step-by-step instructions for obtaining a Research Computing (CURC) account, based on the institution you belong to. The screenshot shows that you can get specific step-by-step instructions for your institution by selecting the tab corresonding to your institution. ">
            <a:extLst>
              <a:ext uri="{FF2B5EF4-FFF2-40B4-BE49-F238E27FC236}">
                <a16:creationId xmlns:a16="http://schemas.microsoft.com/office/drawing/2014/main" id="{A9D483BB-7555-9B41-9435-600772AECB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5596" y="1824326"/>
            <a:ext cx="5618582" cy="371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4305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Your RC Account</a:t>
            </a:r>
            <a:endParaRPr dirty="0"/>
          </a:p>
        </p:txBody>
      </p:sp>
      <p:sp>
        <p:nvSpPr>
          <p:cNvPr id="545" name="Google Shape;545;p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16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b="1" dirty="0">
                <a:latin typeface="+mn-lt"/>
              </a:rPr>
              <a:t>Access to:</a:t>
            </a:r>
            <a:endParaRPr sz="2400" dirty="0">
              <a:latin typeface="+mn-lt"/>
            </a:endParaRPr>
          </a:p>
          <a:p>
            <a:pPr marL="914400" lvl="0" indent="-3810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 dirty="0">
                <a:latin typeface="+mn-lt"/>
              </a:rPr>
              <a:t>Alpine Cluster</a:t>
            </a:r>
            <a:endParaRPr sz="2400" dirty="0">
              <a:latin typeface="+mn-lt"/>
            </a:endParaRPr>
          </a:p>
          <a:p>
            <a:pPr marL="9144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 dirty="0">
                <a:latin typeface="+mn-lt"/>
              </a:rPr>
              <a:t>Core Storage</a:t>
            </a:r>
            <a:endParaRPr sz="2400" dirty="0">
              <a:latin typeface="+mn-lt"/>
            </a:endParaRPr>
          </a:p>
          <a:p>
            <a:pPr marL="9144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 dirty="0">
                <a:latin typeface="+mn-lt"/>
              </a:rPr>
              <a:t>PetaLibrary Storage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*</a:t>
            </a:r>
            <a:endParaRPr sz="2400" dirty="0">
              <a:solidFill>
                <a:srgbClr val="FF0000"/>
              </a:solidFill>
              <a:latin typeface="+mn-lt"/>
            </a:endParaRPr>
          </a:p>
          <a:p>
            <a:pPr marL="9144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 dirty="0">
                <a:latin typeface="+mn-lt"/>
              </a:rPr>
              <a:t>Open OnDemand</a:t>
            </a:r>
          </a:p>
          <a:p>
            <a:pPr marL="9144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 dirty="0">
                <a:latin typeface="+mn-lt"/>
              </a:rPr>
              <a:t>Approximately 2,000 Service Units (SUs) per month</a:t>
            </a: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i="1" dirty="0">
                <a:solidFill>
                  <a:srgbClr val="FF0000"/>
                </a:solidFill>
                <a:latin typeface="+mn-lt"/>
              </a:rPr>
              <a:t>*</a:t>
            </a:r>
            <a:r>
              <a:rPr lang="en-US" sz="2400" i="1" dirty="0">
                <a:latin typeface="+mn-lt"/>
              </a:rPr>
              <a:t>If purchased</a:t>
            </a:r>
            <a:endParaRPr sz="2400" i="1" dirty="0">
              <a:latin typeface="+mn-lt"/>
            </a:endParaRPr>
          </a:p>
        </p:txBody>
      </p:sp>
      <p:sp>
        <p:nvSpPr>
          <p:cNvPr id="546" name="Google Shape;546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39</a:t>
            </a:fld>
            <a:endParaRPr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5BCF8E5-3DA6-698A-F40E-717D5712E33A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16" name="Graphic 15" descr="Programmer female with solid fill">
              <a:extLst>
                <a:ext uri="{FF2B5EF4-FFF2-40B4-BE49-F238E27FC236}">
                  <a16:creationId xmlns:a16="http://schemas.microsoft.com/office/drawing/2014/main" id="{8773C28B-2585-9265-00B9-9BC70942D30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4780F33-E686-082E-74F0-43063ED508D0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Login</a:t>
              </a:r>
            </a:p>
          </p:txBody>
        </p:sp>
        <p:pic>
          <p:nvPicPr>
            <p:cNvPr id="18" name="Graphic 17" descr="Processor with solid fill">
              <a:extLst>
                <a:ext uri="{FF2B5EF4-FFF2-40B4-BE49-F238E27FC236}">
                  <a16:creationId xmlns:a16="http://schemas.microsoft.com/office/drawing/2014/main" id="{896620DC-B25D-4755-80C3-8A9386665E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19" name="Graphic 18" descr="Database with solid fill">
              <a:extLst>
                <a:ext uri="{FF2B5EF4-FFF2-40B4-BE49-F238E27FC236}">
                  <a16:creationId xmlns:a16="http://schemas.microsoft.com/office/drawing/2014/main" id="{CF78E967-B847-CEB1-35F9-77631762D0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BC2EF86-91DD-7F98-05B9-4C98D6114E6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4700E698-3050-7835-40BE-13B67FD7C04F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9E90766D-C276-83C9-3E6D-701214402FF6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A17E2F16-93FC-CC12-DA58-425E2A41CB62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560FBD6-3487-B7CF-D1AC-5BBD1665743D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F4ED5EF-FDCC-6E38-183A-34868B6DD23F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501140-3188-8E17-5EF7-3256EC0B16A1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509C697-8548-2565-8028-1564160A8043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52996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Duo Authentication</a:t>
            </a:r>
            <a:endParaRPr/>
          </a:p>
        </p:txBody>
      </p:sp>
      <p:sp>
        <p:nvSpPr>
          <p:cNvPr id="561" name="Google Shape;561;p44"/>
          <p:cNvSpPr txBox="1">
            <a:spLocks noGrp="1"/>
          </p:cNvSpPr>
          <p:nvPr>
            <p:ph type="body" idx="1"/>
          </p:nvPr>
        </p:nvSpPr>
        <p:spPr>
          <a:xfrm>
            <a:off x="451413" y="1825625"/>
            <a:ext cx="7134687" cy="416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Helvetica Neue"/>
              <a:buAutoNum type="arabicPeriod"/>
            </a:pPr>
            <a:r>
              <a:rPr lang="en-US" b="1">
                <a:latin typeface="+mn-lt"/>
              </a:rPr>
              <a:t>Duo smartphone app (recommended)</a:t>
            </a:r>
          </a:p>
          <a:p>
            <a:pPr marL="457200" lvl="0" indent="-355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Helvetica Neue"/>
              <a:buAutoNum type="arabicPeriod"/>
            </a:pPr>
            <a:r>
              <a:rPr lang="en-US">
                <a:latin typeface="+mn-lt"/>
              </a:rPr>
              <a:t>Phone Call/Text is an alternatives</a:t>
            </a:r>
            <a:endParaRPr>
              <a:latin typeface="+mn-lt"/>
            </a:endParaRPr>
          </a:p>
        </p:txBody>
      </p:sp>
      <p:sp>
        <p:nvSpPr>
          <p:cNvPr id="562" name="Google Shape;562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grpSp>
        <p:nvGrpSpPr>
          <p:cNvPr id="563" name="Google Shape;563;p44"/>
          <p:cNvGrpSpPr/>
          <p:nvPr/>
        </p:nvGrpSpPr>
        <p:grpSpPr>
          <a:xfrm>
            <a:off x="8079162" y="702657"/>
            <a:ext cx="2507828" cy="4994141"/>
            <a:chOff x="6781451" y="510800"/>
            <a:chExt cx="1718750" cy="3725025"/>
          </a:xfrm>
        </p:grpSpPr>
        <p:pic>
          <p:nvPicPr>
            <p:cNvPr id="564" name="Google Shape;564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81451" y="510800"/>
              <a:ext cx="1718750" cy="3725025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565" name="Google Shape;565;p44"/>
            <p:cNvSpPr/>
            <p:nvPr/>
          </p:nvSpPr>
          <p:spPr>
            <a:xfrm>
              <a:off x="7492275" y="1849775"/>
              <a:ext cx="294900" cy="82500"/>
            </a:xfrm>
            <a:prstGeom prst="rect">
              <a:avLst/>
            </a:prstGeom>
            <a:solidFill>
              <a:srgbClr val="E7E6E6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44"/>
            <p:cNvSpPr/>
            <p:nvPr/>
          </p:nvSpPr>
          <p:spPr>
            <a:xfrm>
              <a:off x="7400000" y="2085575"/>
              <a:ext cx="474900" cy="82500"/>
            </a:xfrm>
            <a:prstGeom prst="rect">
              <a:avLst/>
            </a:prstGeom>
            <a:solidFill>
              <a:srgbClr val="E7E6E6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640AFA7-4292-D3C7-E639-0283DA1CCEDE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16" name="Graphic 15" descr="Programmer female with solid fill">
              <a:extLst>
                <a:ext uri="{FF2B5EF4-FFF2-40B4-BE49-F238E27FC236}">
                  <a16:creationId xmlns:a16="http://schemas.microsoft.com/office/drawing/2014/main" id="{9AC44796-6971-83C6-C271-F5FB18EA10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1812062-CCAE-6390-6BCE-EFE40851B0E6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Login</a:t>
              </a:r>
            </a:p>
          </p:txBody>
        </p:sp>
        <p:pic>
          <p:nvPicPr>
            <p:cNvPr id="18" name="Graphic 17" descr="Processor with solid fill">
              <a:extLst>
                <a:ext uri="{FF2B5EF4-FFF2-40B4-BE49-F238E27FC236}">
                  <a16:creationId xmlns:a16="http://schemas.microsoft.com/office/drawing/2014/main" id="{B148EECA-B384-004D-3265-7D5F535410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19" name="Graphic 18" descr="Database with solid fill">
              <a:extLst>
                <a:ext uri="{FF2B5EF4-FFF2-40B4-BE49-F238E27FC236}">
                  <a16:creationId xmlns:a16="http://schemas.microsoft.com/office/drawing/2014/main" id="{0DD3E396-6F0C-0FEA-FE45-2B72E4125C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E0F062F-ECD9-4536-AA3E-E0E7A85EB94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9311C267-6E44-1594-402D-C39B4A82961E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8E25D316-FE52-9E16-1791-D947B380D74F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FE84AD35-928B-789C-932A-344188E06FD3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923453B-6706-D859-692F-9323623A7648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D69F61A-713F-D771-4AAD-E77583A0F9F1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11F5126-806A-6BD9-B616-405D05DB4C4E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662976F-76AE-E947-6974-1E81F8DC825E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25268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6"/>
          <p:cNvSpPr txBox="1">
            <a:spLocks noGrp="1"/>
          </p:cNvSpPr>
          <p:nvPr>
            <p:ph type="title"/>
          </p:nvPr>
        </p:nvSpPr>
        <p:spPr>
          <a:xfrm>
            <a:off x="439044" y="13230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Terminal Access</a:t>
            </a:r>
            <a:endParaRPr/>
          </a:p>
        </p:txBody>
      </p:sp>
      <p:sp>
        <p:nvSpPr>
          <p:cNvPr id="581" name="Google Shape;581;p46"/>
          <p:cNvSpPr txBox="1">
            <a:spLocks noGrp="1"/>
          </p:cNvSpPr>
          <p:nvPr>
            <p:ph type="body" idx="1"/>
          </p:nvPr>
        </p:nvSpPr>
        <p:spPr>
          <a:xfrm>
            <a:off x="525684" y="1530025"/>
            <a:ext cx="10515600" cy="416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-190500" algn="l" rtl="0">
              <a:spcBef>
                <a:spcPts val="1000"/>
              </a:spcBef>
              <a:spcAft>
                <a:spcPts val="0"/>
              </a:spcAft>
              <a:buSzPts val="2400"/>
              <a:buFont typeface="Helvetica Neue"/>
              <a:buChar char="•"/>
            </a:pPr>
            <a:r>
              <a:rPr lang="en-US" sz="2400">
                <a:latin typeface="+mn-lt"/>
              </a:rPr>
              <a:t>Mac or Linux</a:t>
            </a:r>
            <a:endParaRPr sz="2400">
              <a:latin typeface="+mn-lt"/>
            </a:endParaRPr>
          </a:p>
          <a:p>
            <a:pPr marL="685800" lvl="1" algn="l" rtl="0">
              <a:spcBef>
                <a:spcPts val="1000"/>
              </a:spcBef>
              <a:spcAft>
                <a:spcPts val="0"/>
              </a:spcAft>
              <a:buSzPts val="1800"/>
              <a:buFont typeface="Courier New" panose="02070309020205020404" pitchFamily="49" charset="0"/>
              <a:buChar char="o"/>
            </a:pPr>
            <a:r>
              <a:rPr lang="en-US" sz="2000">
                <a:latin typeface="+mn-lt"/>
              </a:rPr>
              <a:t>Terminal application</a:t>
            </a:r>
            <a:endParaRPr sz="2000">
              <a:latin typeface="+mn-lt"/>
            </a:endParaRPr>
          </a:p>
          <a:p>
            <a:pPr marL="5207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latin typeface="+mn-lt"/>
            </a:endParaRPr>
          </a:p>
          <a:p>
            <a:pPr marL="177800" lvl="0" indent="-190500" algn="l" rtl="0">
              <a:spcBef>
                <a:spcPts val="1000"/>
              </a:spcBef>
              <a:spcAft>
                <a:spcPts val="0"/>
              </a:spcAft>
              <a:buSzPts val="2400"/>
              <a:buFont typeface="Helvetica Neue"/>
              <a:buChar char="•"/>
            </a:pPr>
            <a:r>
              <a:rPr lang="en-US" sz="2400">
                <a:latin typeface="+mn-lt"/>
              </a:rPr>
              <a:t>Windows</a:t>
            </a:r>
            <a:endParaRPr sz="2400">
              <a:latin typeface="+mn-lt"/>
            </a:endParaRPr>
          </a:p>
          <a:p>
            <a:pPr marL="685800" lvl="1" algn="l" rtl="0">
              <a:spcBef>
                <a:spcPts val="1000"/>
              </a:spcBef>
              <a:spcAft>
                <a:spcPts val="0"/>
              </a:spcAft>
              <a:buSzPts val="1800"/>
              <a:buFont typeface="Courier New" panose="02070309020205020404" pitchFamily="49" charset="0"/>
              <a:buChar char="o"/>
            </a:pPr>
            <a:r>
              <a:rPr lang="en-US" sz="2000">
                <a:latin typeface="+mn-lt"/>
              </a:rPr>
              <a:t>PuTTY </a:t>
            </a:r>
          </a:p>
          <a:p>
            <a:pPr marL="685800" lvl="1" algn="l" rtl="0">
              <a:spcBef>
                <a:spcPts val="1000"/>
              </a:spcBef>
              <a:spcAft>
                <a:spcPts val="0"/>
              </a:spcAft>
              <a:buSzPts val="1800"/>
              <a:buFont typeface="Courier New" panose="02070309020205020404" pitchFamily="49" charset="0"/>
              <a:buChar char="o"/>
            </a:pPr>
            <a:r>
              <a:rPr lang="en-US" sz="2000" err="1">
                <a:latin typeface="+mn-lt"/>
              </a:rPr>
              <a:t>Powershell</a:t>
            </a:r>
            <a:endParaRPr sz="2000">
              <a:latin typeface="+mn-lt"/>
            </a:endParaRPr>
          </a:p>
          <a:p>
            <a:pPr marL="5207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+mn-lt"/>
            </a:endParaRPr>
          </a:p>
        </p:txBody>
      </p:sp>
      <p:sp>
        <p:nvSpPr>
          <p:cNvPr id="582" name="Google Shape;582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pic>
        <p:nvPicPr>
          <p:cNvPr id="583" name="Google Shape;58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6844" y="1530025"/>
            <a:ext cx="4635662" cy="2558200"/>
          </a:xfrm>
          <a:prstGeom prst="rect">
            <a:avLst/>
          </a:prstGeom>
          <a:noFill/>
          <a:ln w="1905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E1E858A9-2C11-AB6D-4DF9-D90716C299FC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16" name="Graphic 15" descr="Programmer female with solid fill">
              <a:extLst>
                <a:ext uri="{FF2B5EF4-FFF2-40B4-BE49-F238E27FC236}">
                  <a16:creationId xmlns:a16="http://schemas.microsoft.com/office/drawing/2014/main" id="{2562496C-D87E-1F82-FD1A-3916DBD87B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D253D01-E615-1C06-CBA1-554B9433EA0F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Login</a:t>
              </a:r>
            </a:p>
          </p:txBody>
        </p:sp>
        <p:pic>
          <p:nvPicPr>
            <p:cNvPr id="18" name="Graphic 17" descr="Processor with solid fill">
              <a:extLst>
                <a:ext uri="{FF2B5EF4-FFF2-40B4-BE49-F238E27FC236}">
                  <a16:creationId xmlns:a16="http://schemas.microsoft.com/office/drawing/2014/main" id="{2265318E-F6E2-DBBA-74A8-B0DC926507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19" name="Graphic 18" descr="Database with solid fill">
              <a:extLst>
                <a:ext uri="{FF2B5EF4-FFF2-40B4-BE49-F238E27FC236}">
                  <a16:creationId xmlns:a16="http://schemas.microsoft.com/office/drawing/2014/main" id="{4F1A4A9A-49F3-EC55-4C30-41BEDBB6E81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E6C6E58-926E-312B-417E-CF1D8B68C9F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0433C92E-1D6E-92A2-9F70-C157EA90EFBE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318C0F2B-D9AC-DDF3-78CA-EDFBBD413150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000A1DA7-7E0C-4C1D-14F5-8A713E36415C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8F0A50E-0D11-D14A-7B8F-F6E624330079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383C114-05F4-E989-E3ED-5403AD6EA6C1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8AC35B8-65F8-B3C3-1F57-B43746A28B67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1C81F7C-D52C-5BA5-09A7-BAE75C56080F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22519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Demo: Logging in via Terminal</a:t>
            </a:r>
            <a:endParaRPr/>
          </a:p>
        </p:txBody>
      </p:sp>
      <p:sp>
        <p:nvSpPr>
          <p:cNvPr id="590" name="Google Shape;590;p4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995212" cy="416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2400"/>
              <a:buNone/>
            </a:pPr>
            <a:r>
              <a:rPr lang="en-US" sz="2400">
                <a:latin typeface="+mn-lt"/>
              </a:rPr>
              <a:t>To login to an RC login node</a:t>
            </a:r>
            <a:r>
              <a:rPr lang="en-US" sz="2400">
                <a:solidFill>
                  <a:srgbClr val="FF0000"/>
                </a:solidFill>
              </a:rPr>
              <a:t>* </a:t>
            </a:r>
            <a:r>
              <a:rPr lang="en-US" sz="2400">
                <a:latin typeface="+mn-lt"/>
              </a:rPr>
              <a:t>:</a:t>
            </a:r>
            <a:endParaRPr sz="2400">
              <a:latin typeface="+mn-lt"/>
            </a:endParaRPr>
          </a:p>
          <a:p>
            <a:pPr marL="177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  <a:p>
            <a:pPr marL="11430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25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7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-US" sz="2700" err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ssh</a:t>
            </a:r>
            <a:r>
              <a:rPr lang="en-US" sz="27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 &lt;</a:t>
            </a:r>
            <a:r>
              <a:rPr lang="en-US" sz="2700">
                <a:solidFill>
                  <a:schemeClr val="accent5"/>
                </a:solidFill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username&gt;@login.rc.colorado.edu</a:t>
            </a:r>
            <a:endParaRPr sz="270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br>
              <a:rPr lang="en-US" sz="2500"/>
            </a:br>
            <a:r>
              <a:rPr lang="en-US" sz="2400">
                <a:latin typeface="+mn-lt"/>
              </a:rPr>
              <a:t>Supply your institutional password and your Duo app will alert you to confirm the login</a:t>
            </a:r>
          </a:p>
          <a:p>
            <a:pPr marL="114300" lvl="0" indent="0" algn="l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lang="en-US" sz="2400">
              <a:latin typeface="+mn-lt"/>
            </a:endParaRPr>
          </a:p>
          <a:p>
            <a:pPr marL="11430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2400" i="1">
                <a:solidFill>
                  <a:srgbClr val="FF0000"/>
                </a:solidFill>
                <a:latin typeface="+mn-lt"/>
              </a:rPr>
              <a:t>*</a:t>
            </a:r>
            <a:r>
              <a:rPr lang="en-US" sz="2000" i="1">
                <a:solidFill>
                  <a:srgbClr val="FF0000"/>
                </a:solidFill>
                <a:latin typeface="+mn-lt"/>
              </a:rPr>
              <a:t> </a:t>
            </a:r>
            <a:r>
              <a:rPr lang="en-US" sz="2000" i="1">
                <a:solidFill>
                  <a:schemeClr val="tx1"/>
                </a:solidFill>
                <a:latin typeface="+mn-lt"/>
              </a:rPr>
              <a:t>Exclusive to </a:t>
            </a:r>
            <a:r>
              <a:rPr lang="en-US" sz="2000" i="1">
                <a:latin typeface="+mn-lt"/>
              </a:rPr>
              <a:t>CU and CSU accounts. Available on request for AMC. Not available to RMACC.  </a:t>
            </a:r>
            <a:endParaRPr sz="2000" i="1"/>
          </a:p>
        </p:txBody>
      </p:sp>
      <p:sp>
        <p:nvSpPr>
          <p:cNvPr id="591" name="Google Shape;591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8359058-844E-E005-B756-F686C18903AC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16" name="Graphic 15" descr="Programmer female with solid fill">
              <a:extLst>
                <a:ext uri="{FF2B5EF4-FFF2-40B4-BE49-F238E27FC236}">
                  <a16:creationId xmlns:a16="http://schemas.microsoft.com/office/drawing/2014/main" id="{24D2577F-2B3B-0C8C-E542-D2CE70CA9A2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CA1BD4B-ABDB-1A15-0D09-D248C2877C86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Login</a:t>
              </a:r>
            </a:p>
          </p:txBody>
        </p:sp>
        <p:pic>
          <p:nvPicPr>
            <p:cNvPr id="18" name="Graphic 17" descr="Processor with solid fill">
              <a:extLst>
                <a:ext uri="{FF2B5EF4-FFF2-40B4-BE49-F238E27FC236}">
                  <a16:creationId xmlns:a16="http://schemas.microsoft.com/office/drawing/2014/main" id="{AFEA2056-C555-2CE4-3202-DE48CCBFFB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19" name="Graphic 18" descr="Database with solid fill">
              <a:extLst>
                <a:ext uri="{FF2B5EF4-FFF2-40B4-BE49-F238E27FC236}">
                  <a16:creationId xmlns:a16="http://schemas.microsoft.com/office/drawing/2014/main" id="{F94EE81E-A9D3-7E08-4925-C208A594601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D79223-39DA-6E15-FF13-8EDEE066DD2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9AF38386-C678-474B-A812-EE0E1BB23AF0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7E79811C-FC0F-71AE-7C58-E0358DF1A23D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BBCFF6E4-5BD4-C190-7852-A0CBA19244C8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24D7C88-11ED-1DEB-79E1-0135E084A1F9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DFE1886-827C-49F2-2211-3A1545723D35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C5E0774-B936-7D4B-49EA-C5CC45125684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7E7896E-696B-CD09-1ED0-9FC4CE518EC7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1351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Demo: logging in with OnDemand</a:t>
            </a:r>
            <a:endParaRPr/>
          </a:p>
        </p:txBody>
      </p:sp>
      <p:sp>
        <p:nvSpPr>
          <p:cNvPr id="599" name="Google Shape;599;p4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16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latin typeface="+mn-lt"/>
              </a:rPr>
              <a:t>CURC OnDemand is a browser based, integrated, single access point for all of your HPC resources at CU Research Computing.</a:t>
            </a:r>
          </a:p>
          <a:p>
            <a:pPr marL="0" lvl="0" indent="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>
              <a:latin typeface="+mn-lt"/>
            </a:endParaRPr>
          </a:p>
          <a:p>
            <a:pPr marL="457200" lvl="0" indent="-38100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+mn-lt"/>
              </a:rPr>
              <a:t>CU Boulder: Visit</a:t>
            </a:r>
            <a:r>
              <a:rPr lang="en-US" sz="2400">
                <a:uFill>
                  <a:noFill/>
                </a:uFill>
                <a:latin typeface="+mn-lt"/>
                <a:hlinkClick r:id="rId3"/>
              </a:rPr>
              <a:t> </a:t>
            </a:r>
            <a:r>
              <a:rPr lang="en-US" sz="2400" u="sng">
                <a:solidFill>
                  <a:schemeClr val="hlink"/>
                </a:solidFill>
                <a:latin typeface="+mn-lt"/>
                <a:hlinkClick r:id="rId3"/>
              </a:rPr>
              <a:t>https://ondemand.rc.colorado.edu</a:t>
            </a:r>
            <a:r>
              <a:rPr lang="en-US" sz="2400">
                <a:latin typeface="+mn-lt"/>
              </a:rPr>
              <a:t>.</a:t>
            </a:r>
          </a:p>
          <a:p>
            <a:pPr marL="457200" lvl="0" indent="-38100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endParaRPr lang="en-US" sz="2400">
              <a:latin typeface="+mn-lt"/>
            </a:endParaRPr>
          </a:p>
          <a:p>
            <a:pPr indent="-381000">
              <a:lnSpc>
                <a:spcPct val="125000"/>
              </a:lnSpc>
              <a:buSzPts val="2400"/>
            </a:pPr>
            <a:r>
              <a:rPr lang="en-US" sz="2400">
                <a:latin typeface="+mn-lt"/>
              </a:rPr>
              <a:t>All other Institutions: Visit </a:t>
            </a:r>
            <a:r>
              <a:rPr lang="en-US" sz="2400">
                <a:latin typeface="+mn-lt"/>
                <a:hlinkClick r:id="rId4"/>
              </a:rPr>
              <a:t>https://ondemand-rmacc.rc.colorado.edu/</a:t>
            </a:r>
            <a:r>
              <a:rPr lang="en-US" sz="2400">
                <a:latin typeface="+mn-lt"/>
              </a:rPr>
              <a:t> </a:t>
            </a:r>
            <a:endParaRPr sz="2400">
              <a:latin typeface="+mn-lt"/>
            </a:endParaRPr>
          </a:p>
        </p:txBody>
      </p:sp>
      <p:sp>
        <p:nvSpPr>
          <p:cNvPr id="600" name="Google Shape;600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2D569A7-332C-43E7-FCE4-1DF4FF9C29A7}"/>
              </a:ext>
            </a:extLst>
          </p:cNvPr>
          <p:cNvGrpSpPr/>
          <p:nvPr/>
        </p:nvGrpSpPr>
        <p:grpSpPr>
          <a:xfrm>
            <a:off x="4158096" y="6113080"/>
            <a:ext cx="3806091" cy="744920"/>
            <a:chOff x="4158096" y="6113080"/>
            <a:chExt cx="3806091" cy="744920"/>
          </a:xfrm>
        </p:grpSpPr>
        <p:pic>
          <p:nvPicPr>
            <p:cNvPr id="16" name="Graphic 15" descr="Programmer female with solid fill">
              <a:extLst>
                <a:ext uri="{FF2B5EF4-FFF2-40B4-BE49-F238E27FC236}">
                  <a16:creationId xmlns:a16="http://schemas.microsoft.com/office/drawing/2014/main" id="{9D7C2533-F237-2F99-82C1-80DD5F2A58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228549" y="6113080"/>
              <a:ext cx="457200" cy="4572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3835F65-09B9-F337-F598-113C92B9BEDC}"/>
                </a:ext>
              </a:extLst>
            </p:cNvPr>
            <p:cNvSpPr txBox="1"/>
            <p:nvPr/>
          </p:nvSpPr>
          <p:spPr>
            <a:xfrm>
              <a:off x="6955437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Login</a:t>
              </a:r>
            </a:p>
          </p:txBody>
        </p:sp>
        <p:pic>
          <p:nvPicPr>
            <p:cNvPr id="18" name="Graphic 17" descr="Processor with solid fill">
              <a:extLst>
                <a:ext uri="{FF2B5EF4-FFF2-40B4-BE49-F238E27FC236}">
                  <a16:creationId xmlns:a16="http://schemas.microsoft.com/office/drawing/2014/main" id="{09932B74-9FAA-3283-480D-D82AC2539C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42621" y="6141859"/>
              <a:ext cx="457200" cy="457200"/>
            </a:xfrm>
            <a:prstGeom prst="rect">
              <a:avLst/>
            </a:prstGeom>
          </p:spPr>
        </p:pic>
        <p:pic>
          <p:nvPicPr>
            <p:cNvPr id="19" name="Graphic 18" descr="Database with solid fill">
              <a:extLst>
                <a:ext uri="{FF2B5EF4-FFF2-40B4-BE49-F238E27FC236}">
                  <a16:creationId xmlns:a16="http://schemas.microsoft.com/office/drawing/2014/main" id="{7F3A1E79-7539-8B4B-E4C8-814886D576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36917" y="6152133"/>
              <a:ext cx="457200" cy="457200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E6E44F8-3CA7-3843-4442-9361BF38A83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79062" y="6166555"/>
              <a:ext cx="766817" cy="402336"/>
              <a:chOff x="838200" y="2198126"/>
              <a:chExt cx="1994672" cy="1046573"/>
            </a:xfrm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8D2D48D3-FA97-C1CE-C092-7ACA7C1EC54B}"/>
                  </a:ext>
                </a:extLst>
              </p:cNvPr>
              <p:cNvSpPr/>
              <p:nvPr/>
            </p:nvSpPr>
            <p:spPr>
              <a:xfrm>
                <a:off x="838200" y="2198128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17E3EC7C-6A5E-3DCC-329B-09B0DBB3B854}"/>
                  </a:ext>
                </a:extLst>
              </p:cNvPr>
              <p:cNvSpPr/>
              <p:nvPr/>
            </p:nvSpPr>
            <p:spPr>
              <a:xfrm>
                <a:off x="1575266" y="2198127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3651FB44-922F-65F0-80E2-77A4000E58D6}"/>
                  </a:ext>
                </a:extLst>
              </p:cNvPr>
              <p:cNvSpPr/>
              <p:nvPr/>
            </p:nvSpPr>
            <p:spPr>
              <a:xfrm>
                <a:off x="2312332" y="2198126"/>
                <a:ext cx="520540" cy="1046571"/>
              </a:xfrm>
              <a:custGeom>
                <a:avLst/>
                <a:gdLst>
                  <a:gd name="connsiteX0" fmla="*/ 621413 w 724981"/>
                  <a:gd name="connsiteY0" fmla="*/ 258922 h 1449962"/>
                  <a:gd name="connsiteX1" fmla="*/ 103569 w 724981"/>
                  <a:gd name="connsiteY1" fmla="*/ 258922 h 1449962"/>
                  <a:gd name="connsiteX2" fmla="*/ 103569 w 724981"/>
                  <a:gd name="connsiteY2" fmla="*/ 103569 h 1449962"/>
                  <a:gd name="connsiteX3" fmla="*/ 621413 w 724981"/>
                  <a:gd name="connsiteY3" fmla="*/ 103569 h 1449962"/>
                  <a:gd name="connsiteX4" fmla="*/ 621413 w 724981"/>
                  <a:gd name="connsiteY4" fmla="*/ 258922 h 1449962"/>
                  <a:gd name="connsiteX5" fmla="*/ 621413 w 724981"/>
                  <a:gd name="connsiteY5" fmla="*/ 517844 h 1449962"/>
                  <a:gd name="connsiteX6" fmla="*/ 103569 w 724981"/>
                  <a:gd name="connsiteY6" fmla="*/ 517844 h 1449962"/>
                  <a:gd name="connsiteX7" fmla="*/ 103569 w 724981"/>
                  <a:gd name="connsiteY7" fmla="*/ 362491 h 1449962"/>
                  <a:gd name="connsiteX8" fmla="*/ 621413 w 724981"/>
                  <a:gd name="connsiteY8" fmla="*/ 362491 h 1449962"/>
                  <a:gd name="connsiteX9" fmla="*/ 621413 w 724981"/>
                  <a:gd name="connsiteY9" fmla="*/ 517844 h 1449962"/>
                  <a:gd name="connsiteX10" fmla="*/ 362491 w 724981"/>
                  <a:gd name="connsiteY10" fmla="*/ 1294609 h 1449962"/>
                  <a:gd name="connsiteX11" fmla="*/ 284814 w 724981"/>
                  <a:gd name="connsiteY11" fmla="*/ 1216933 h 1449962"/>
                  <a:gd name="connsiteX12" fmla="*/ 362491 w 724981"/>
                  <a:gd name="connsiteY12" fmla="*/ 1139256 h 1449962"/>
                  <a:gd name="connsiteX13" fmla="*/ 440167 w 724981"/>
                  <a:gd name="connsiteY13" fmla="*/ 1216933 h 1449962"/>
                  <a:gd name="connsiteX14" fmla="*/ 362491 w 724981"/>
                  <a:gd name="connsiteY14" fmla="*/ 1294609 h 1449962"/>
                  <a:gd name="connsiteX15" fmla="*/ 621413 w 724981"/>
                  <a:gd name="connsiteY15" fmla="*/ 0 h 1449962"/>
                  <a:gd name="connsiteX16" fmla="*/ 103569 w 724981"/>
                  <a:gd name="connsiteY16" fmla="*/ 0 h 1449962"/>
                  <a:gd name="connsiteX17" fmla="*/ 0 w 724981"/>
                  <a:gd name="connsiteY17" fmla="*/ 103569 h 1449962"/>
                  <a:gd name="connsiteX18" fmla="*/ 0 w 724981"/>
                  <a:gd name="connsiteY18" fmla="*/ 1346394 h 1449962"/>
                  <a:gd name="connsiteX19" fmla="*/ 103569 w 724981"/>
                  <a:gd name="connsiteY19" fmla="*/ 1449963 h 1449962"/>
                  <a:gd name="connsiteX20" fmla="*/ 621413 w 724981"/>
                  <a:gd name="connsiteY20" fmla="*/ 1449963 h 1449962"/>
                  <a:gd name="connsiteX21" fmla="*/ 724981 w 724981"/>
                  <a:gd name="connsiteY21" fmla="*/ 1346394 h 1449962"/>
                  <a:gd name="connsiteX22" fmla="*/ 724981 w 724981"/>
                  <a:gd name="connsiteY22" fmla="*/ 103569 h 1449962"/>
                  <a:gd name="connsiteX23" fmla="*/ 621413 w 724981"/>
                  <a:gd name="connsiteY23" fmla="*/ 0 h 144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24981" h="1449962">
                    <a:moveTo>
                      <a:pt x="621413" y="258922"/>
                    </a:moveTo>
                    <a:lnTo>
                      <a:pt x="103569" y="258922"/>
                    </a:lnTo>
                    <a:lnTo>
                      <a:pt x="103569" y="103569"/>
                    </a:lnTo>
                    <a:lnTo>
                      <a:pt x="621413" y="103569"/>
                    </a:lnTo>
                    <a:lnTo>
                      <a:pt x="621413" y="258922"/>
                    </a:lnTo>
                    <a:close/>
                    <a:moveTo>
                      <a:pt x="621413" y="517844"/>
                    </a:moveTo>
                    <a:lnTo>
                      <a:pt x="103569" y="517844"/>
                    </a:lnTo>
                    <a:lnTo>
                      <a:pt x="103569" y="362491"/>
                    </a:lnTo>
                    <a:lnTo>
                      <a:pt x="621413" y="362491"/>
                    </a:lnTo>
                    <a:lnTo>
                      <a:pt x="621413" y="517844"/>
                    </a:lnTo>
                    <a:close/>
                    <a:moveTo>
                      <a:pt x="362491" y="1294609"/>
                    </a:moveTo>
                    <a:cubicBezTo>
                      <a:pt x="318474" y="1294609"/>
                      <a:pt x="284814" y="1260950"/>
                      <a:pt x="284814" y="1216933"/>
                    </a:cubicBezTo>
                    <a:cubicBezTo>
                      <a:pt x="284814" y="1172916"/>
                      <a:pt x="318474" y="1139256"/>
                      <a:pt x="362491" y="1139256"/>
                    </a:cubicBezTo>
                    <a:cubicBezTo>
                      <a:pt x="406507" y="1139256"/>
                      <a:pt x="440167" y="1172916"/>
                      <a:pt x="440167" y="1216933"/>
                    </a:cubicBezTo>
                    <a:cubicBezTo>
                      <a:pt x="440167" y="1260950"/>
                      <a:pt x="406507" y="1294609"/>
                      <a:pt x="362491" y="1294609"/>
                    </a:cubicBezTo>
                    <a:close/>
                    <a:moveTo>
                      <a:pt x="621413" y="0"/>
                    </a:moveTo>
                    <a:lnTo>
                      <a:pt x="103569" y="0"/>
                    </a:lnTo>
                    <a:cubicBezTo>
                      <a:pt x="46606" y="0"/>
                      <a:pt x="0" y="46606"/>
                      <a:pt x="0" y="103569"/>
                    </a:cubicBezTo>
                    <a:lnTo>
                      <a:pt x="0" y="1346394"/>
                    </a:lnTo>
                    <a:cubicBezTo>
                      <a:pt x="0" y="1403357"/>
                      <a:pt x="46606" y="1449963"/>
                      <a:pt x="103569" y="1449963"/>
                    </a:cubicBezTo>
                    <a:lnTo>
                      <a:pt x="621413" y="1449963"/>
                    </a:lnTo>
                    <a:cubicBezTo>
                      <a:pt x="678375" y="1449963"/>
                      <a:pt x="724981" y="1403357"/>
                      <a:pt x="724981" y="1346394"/>
                    </a:cubicBezTo>
                    <a:lnTo>
                      <a:pt x="724981" y="103569"/>
                    </a:lnTo>
                    <a:cubicBezTo>
                      <a:pt x="724981" y="46606"/>
                      <a:pt x="678375" y="0"/>
                      <a:pt x="62141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A251A0C-DD3A-D5DB-7778-18E7CF2FA1E2}"/>
                  </a:ext>
                </a:extLst>
              </p:cNvPr>
              <p:cNvSpPr/>
              <p:nvPr/>
            </p:nvSpPr>
            <p:spPr>
              <a:xfrm>
                <a:off x="1121609" y="2746249"/>
                <a:ext cx="1463888" cy="1542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8747E46-967D-D6ED-FF1F-4A5C38CAABFC}"/>
                </a:ext>
              </a:extLst>
            </p:cNvPr>
            <p:cNvSpPr txBox="1"/>
            <p:nvPr/>
          </p:nvSpPr>
          <p:spPr>
            <a:xfrm>
              <a:off x="4158096" y="6547104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Overview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4FA37B-6899-4F71-28B3-D7CCBB952170}"/>
                </a:ext>
              </a:extLst>
            </p:cNvPr>
            <p:cNvSpPr txBox="1"/>
            <p:nvPr/>
          </p:nvSpPr>
          <p:spPr>
            <a:xfrm>
              <a:off x="5166846" y="654427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Nodes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8693C4F-D37E-147E-A6CA-844FCA8CC6B0}"/>
                </a:ext>
              </a:extLst>
            </p:cNvPr>
            <p:cNvSpPr txBox="1"/>
            <p:nvPr/>
          </p:nvSpPr>
          <p:spPr>
            <a:xfrm>
              <a:off x="6061142" y="6550223"/>
              <a:ext cx="1008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>
                      <a:lumMod val="75000"/>
                    </a:schemeClr>
                  </a:solidFill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82058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7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Help! I’m stuck, where do I go?</a:t>
            </a:r>
            <a:endParaRPr/>
          </a:p>
        </p:txBody>
      </p:sp>
      <p:sp>
        <p:nvSpPr>
          <p:cNvPr id="899" name="Google Shape;899;p76"/>
          <p:cNvSpPr txBox="1">
            <a:spLocks noGrp="1"/>
          </p:cNvSpPr>
          <p:nvPr>
            <p:ph type="body" idx="1"/>
          </p:nvPr>
        </p:nvSpPr>
        <p:spPr>
          <a:xfrm>
            <a:off x="838200" y="1347450"/>
            <a:ext cx="10515600" cy="416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74650" algn="l" rtl="0">
              <a:lnSpc>
                <a:spcPct val="150001"/>
              </a:lnSpc>
              <a:spcBef>
                <a:spcPts val="300"/>
              </a:spcBef>
              <a:spcAft>
                <a:spcPts val="0"/>
              </a:spcAft>
              <a:buClr>
                <a:srgbClr val="1D1C1D"/>
              </a:buClr>
              <a:buSzPts val="2300"/>
              <a:buFont typeface="Arial"/>
              <a:buChar char="●"/>
            </a:pPr>
            <a:r>
              <a:rPr lang="en-US" sz="2400" b="1" u="sng" dirty="0">
                <a:solidFill>
                  <a:srgbClr val="1D1C1D"/>
                </a:solidFill>
              </a:rPr>
              <a:t>Documentation</a:t>
            </a:r>
            <a:r>
              <a:rPr lang="en-US" sz="2400" dirty="0">
                <a:solidFill>
                  <a:srgbClr val="1D1C1D"/>
                </a:solidFill>
              </a:rPr>
              <a:t>: </a:t>
            </a:r>
            <a:r>
              <a:rPr lang="en-US" sz="2400" u="sng" dirty="0">
                <a:solidFill>
                  <a:schemeClr val="hlink"/>
                </a:solidFill>
                <a:hlinkClick r:id="rId3"/>
              </a:rPr>
              <a:t>curc.readthedocs.io/</a:t>
            </a:r>
            <a:r>
              <a:rPr lang="en-US" sz="2400" dirty="0">
                <a:solidFill>
                  <a:srgbClr val="1D1C1D"/>
                </a:solidFill>
              </a:rPr>
              <a:t> </a:t>
            </a:r>
            <a:endParaRPr sz="2400" dirty="0">
              <a:solidFill>
                <a:srgbClr val="1D1C1D"/>
              </a:solidFill>
            </a:endParaRPr>
          </a:p>
          <a:p>
            <a:pPr marL="457200" lvl="0" indent="-374650" algn="l" rtl="0">
              <a:lnSpc>
                <a:spcPct val="150001"/>
              </a:lnSpc>
              <a:spcBef>
                <a:spcPts val="300"/>
              </a:spcBef>
              <a:spcAft>
                <a:spcPts val="0"/>
              </a:spcAft>
              <a:buClr>
                <a:srgbClr val="1D1C1D"/>
              </a:buClr>
              <a:buSzPts val="2300"/>
              <a:buFont typeface="Arial"/>
              <a:buChar char="●"/>
            </a:pPr>
            <a:r>
              <a:rPr lang="en-US" sz="2400" b="1" u="sng" dirty="0">
                <a:solidFill>
                  <a:srgbClr val="1D1C1D"/>
                </a:solidFill>
              </a:rPr>
              <a:t>Trainings with Center for Research Data and Digital Scholarship (CRDDS)</a:t>
            </a:r>
            <a:r>
              <a:rPr lang="en-US" sz="2400" dirty="0">
                <a:solidFill>
                  <a:srgbClr val="1D1C1D"/>
                </a:solidFill>
              </a:rPr>
              <a:t>: </a:t>
            </a:r>
            <a:r>
              <a:rPr lang="en-US" sz="2400" u="sng" dirty="0">
                <a:solidFill>
                  <a:schemeClr val="hlink"/>
                </a:solidFill>
                <a:hlinkClick r:id="rId4"/>
              </a:rPr>
              <a:t>https://www.colorado.edu/crdds/</a:t>
            </a:r>
            <a:r>
              <a:rPr lang="en-US" sz="2400" dirty="0">
                <a:solidFill>
                  <a:srgbClr val="1D1C1D"/>
                </a:solidFill>
              </a:rPr>
              <a:t> </a:t>
            </a:r>
          </a:p>
          <a:p>
            <a:pPr indent="-374650">
              <a:lnSpc>
                <a:spcPct val="150001"/>
              </a:lnSpc>
              <a:spcBef>
                <a:spcPts val="300"/>
              </a:spcBef>
              <a:buClr>
                <a:srgbClr val="1D1C1D"/>
              </a:buClr>
              <a:buSzPts val="2300"/>
              <a:buFont typeface="Arial"/>
              <a:buChar char="●"/>
            </a:pPr>
            <a:r>
              <a:rPr lang="en-US" sz="2400" b="1" u="sng" dirty="0">
                <a:solidFill>
                  <a:srgbClr val="1D1C1D"/>
                </a:solidFill>
              </a:rPr>
              <a:t>Helpdesk</a:t>
            </a:r>
            <a:r>
              <a:rPr lang="en-US" sz="2400" dirty="0">
                <a:solidFill>
                  <a:srgbClr val="1D1C1D"/>
                </a:solidFill>
              </a:rPr>
              <a:t>: </a:t>
            </a:r>
            <a:r>
              <a:rPr lang="en-US" sz="2400" u="sng" dirty="0">
                <a:solidFill>
                  <a:schemeClr val="hlink"/>
                </a:solidFill>
                <a:hlinkClick r:id="rId5"/>
              </a:rPr>
              <a:t>rc-help@colorado.edu</a:t>
            </a:r>
            <a:endParaRPr lang="en-US" sz="2400" u="sng" dirty="0">
              <a:solidFill>
                <a:schemeClr val="hlink"/>
              </a:solidFill>
            </a:endParaRPr>
          </a:p>
          <a:p>
            <a:pPr marL="457200" lvl="0" indent="-374650" algn="l" rtl="0">
              <a:lnSpc>
                <a:spcPct val="150001"/>
              </a:lnSpc>
              <a:spcBef>
                <a:spcPts val="300"/>
              </a:spcBef>
              <a:spcAft>
                <a:spcPts val="0"/>
              </a:spcAft>
              <a:buClr>
                <a:srgbClr val="1D1C1D"/>
              </a:buClr>
              <a:buSzPts val="2300"/>
              <a:buFont typeface="Arial"/>
              <a:buChar char="●"/>
            </a:pPr>
            <a:r>
              <a:rPr lang="en-US" sz="2000" b="1" u="sng" dirty="0">
                <a:solidFill>
                  <a:schemeClr val="tx1"/>
                </a:solidFill>
                <a:hlinkClick r:id="rId6"/>
              </a:rPr>
              <a:t>Consult </a:t>
            </a:r>
            <a:r>
              <a:rPr lang="en-US" sz="2000" b="1" u="sng" dirty="0">
                <a:solidFill>
                  <a:schemeClr val="tx1"/>
                </a:solidFill>
                <a:hlinkClick r:id="rId7"/>
              </a:rPr>
              <a:t>Hours</a:t>
            </a:r>
            <a:r>
              <a:rPr lang="en-US" sz="2000" b="1" dirty="0">
                <a:solidFill>
                  <a:schemeClr val="tx1"/>
                </a:solidFill>
              </a:rPr>
              <a:t> (Tuesday 12:00-1:00 in-person or virtually, Thursday 1:00-2:00 virtually)</a:t>
            </a:r>
          </a:p>
          <a:p>
            <a:pPr marL="457200" lvl="0" indent="-374650" algn="l" rtl="0">
              <a:lnSpc>
                <a:spcPct val="150001"/>
              </a:lnSpc>
              <a:spcBef>
                <a:spcPts val="300"/>
              </a:spcBef>
              <a:spcAft>
                <a:spcPts val="0"/>
              </a:spcAft>
              <a:buClr>
                <a:srgbClr val="1D1C1D"/>
              </a:buClr>
              <a:buSzPts val="2300"/>
              <a:buFont typeface="Arial"/>
              <a:buChar char="●"/>
            </a:pPr>
            <a:endParaRPr lang="en-US" sz="2000" b="1" dirty="0">
              <a:solidFill>
                <a:schemeClr val="tx1"/>
              </a:solidFill>
            </a:endParaRPr>
          </a:p>
          <a:p>
            <a:pPr marL="457200" lvl="0" indent="-374650" algn="l" rtl="0">
              <a:lnSpc>
                <a:spcPct val="150001"/>
              </a:lnSpc>
              <a:spcBef>
                <a:spcPts val="300"/>
              </a:spcBef>
              <a:spcAft>
                <a:spcPts val="0"/>
              </a:spcAft>
              <a:buClr>
                <a:srgbClr val="1D1C1D"/>
              </a:buClr>
              <a:buSzPts val="2300"/>
              <a:buFont typeface="Arial"/>
              <a:buChar char="●"/>
            </a:pPr>
            <a:r>
              <a:rPr lang="en-US" sz="2000" b="1" dirty="0">
                <a:solidFill>
                  <a:schemeClr val="tx1"/>
                </a:solidFill>
              </a:rPr>
              <a:t>Or….</a:t>
            </a:r>
          </a:p>
        </p:txBody>
      </p:sp>
      <p:sp>
        <p:nvSpPr>
          <p:cNvPr id="900" name="Google Shape;900;p7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2">
          <a:extLst>
            <a:ext uri="{FF2B5EF4-FFF2-40B4-BE49-F238E27FC236}">
              <a16:creationId xmlns:a16="http://schemas.microsoft.com/office/drawing/2014/main" id="{A3F294F1-69CF-F580-FA90-77BFD7427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78">
            <a:extLst>
              <a:ext uri="{FF2B5EF4-FFF2-40B4-BE49-F238E27FC236}">
                <a16:creationId xmlns:a16="http://schemas.microsoft.com/office/drawing/2014/main" id="{0D964A9E-35E7-9CC6-1A66-BA7EAAD5AD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6118" y="253691"/>
            <a:ext cx="11202481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…try CURC’s new self-paced training!</a:t>
            </a:r>
            <a:endParaRPr/>
          </a:p>
        </p:txBody>
      </p:sp>
      <p:sp>
        <p:nvSpPr>
          <p:cNvPr id="915" name="Google Shape;915;p78">
            <a:extLst>
              <a:ext uri="{FF2B5EF4-FFF2-40B4-BE49-F238E27FC236}">
                <a16:creationId xmlns:a16="http://schemas.microsoft.com/office/drawing/2014/main" id="{BC53E38D-2DDD-E22A-77C9-F98D5B0731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9651-39BB-0844-9982-394C6EA88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493" y="5066367"/>
            <a:ext cx="10524565" cy="648634"/>
          </a:xfrm>
        </p:spPr>
        <p:txBody>
          <a:bodyPr>
            <a:normAutofit fontScale="92500"/>
          </a:bodyPr>
          <a:lstStyle/>
          <a:p>
            <a:pPr marL="114300" indent="0">
              <a:buNone/>
            </a:pPr>
            <a:r>
              <a:rPr lang="en-US" b="1" i="1" dirty="0">
                <a:hlinkClick r:id="rId3"/>
              </a:rPr>
              <a:t>https://researchcomputing.github.io/New_User_Async_Training</a:t>
            </a:r>
            <a:r>
              <a:rPr lang="en-US" b="1" i="1" dirty="0"/>
              <a:t> </a:t>
            </a:r>
          </a:p>
        </p:txBody>
      </p:sp>
      <p:pic>
        <p:nvPicPr>
          <p:cNvPr id="6" name="Picture 5" descr="A screenshot of a computer training&#10;&#10;AI-generated content may be incorrect.">
            <a:extLst>
              <a:ext uri="{FF2B5EF4-FFF2-40B4-BE49-F238E27FC236}">
                <a16:creationId xmlns:a16="http://schemas.microsoft.com/office/drawing/2014/main" id="{0FFEEFB1-F406-F7F1-A2E5-CCF54CF9EA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825" b="16926"/>
          <a:stretch>
            <a:fillRect/>
          </a:stretch>
        </p:blipFill>
        <p:spPr>
          <a:xfrm>
            <a:off x="2518431" y="1543987"/>
            <a:ext cx="6542434" cy="338777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67870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24DF4-358F-9BFB-C2ED-54D7C8114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Helpdesk Tickets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887D3-96A4-CBC1-2CD4-100487DDB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20640" cy="4163129"/>
          </a:xfr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/>
          <a:lstStyle/>
          <a:p>
            <a:pPr marL="114300" indent="0">
              <a:buNone/>
            </a:pPr>
            <a:r>
              <a:rPr lang="en-US" dirty="0"/>
              <a:t>To: </a:t>
            </a:r>
            <a:r>
              <a:rPr lang="en-US" dirty="0">
                <a:hlinkClick r:id="rId3"/>
              </a:rPr>
              <a:t>rc-help@colorado.edu</a:t>
            </a:r>
            <a:r>
              <a:rPr lang="en-US" dirty="0"/>
              <a:t> </a:t>
            </a:r>
          </a:p>
          <a:p>
            <a:pPr marL="114300" indent="0">
              <a:buNone/>
            </a:pPr>
            <a:r>
              <a:rPr lang="en-US" dirty="0"/>
              <a:t>Dear Research Computing,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Help! My code won’t run! Help!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Help please,</a:t>
            </a:r>
            <a:br>
              <a:rPr lang="en-US" dirty="0"/>
            </a:br>
            <a:r>
              <a:rPr lang="en-US" dirty="0"/>
              <a:t>John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C1259-B1D8-7F86-6EBE-1508951C6D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46</a:t>
            </a:fld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7897F7B-DA52-0D68-2336-2E695486964B}"/>
              </a:ext>
            </a:extLst>
          </p:cNvPr>
          <p:cNvSpPr txBox="1">
            <a:spLocks/>
          </p:cNvSpPr>
          <p:nvPr/>
        </p:nvSpPr>
        <p:spPr>
          <a:xfrm>
            <a:off x="6233159" y="1310185"/>
            <a:ext cx="5626745" cy="46785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114300" indent="0">
              <a:buNone/>
            </a:pPr>
            <a:r>
              <a:rPr lang="en-US" sz="3200" dirty="0"/>
              <a:t>To: </a:t>
            </a:r>
            <a:r>
              <a:rPr lang="en-US" sz="3200" dirty="0">
                <a:hlinkClick r:id="rId3"/>
              </a:rPr>
              <a:t>rc-help@colorado.edu</a:t>
            </a:r>
            <a:r>
              <a:rPr lang="en-US" sz="3200" dirty="0"/>
              <a:t> </a:t>
            </a:r>
          </a:p>
          <a:p>
            <a:pPr marL="114300" indent="0">
              <a:buNone/>
            </a:pPr>
            <a:r>
              <a:rPr lang="en-US" sz="3200" dirty="0"/>
              <a:t>Dear Research Computing,</a:t>
            </a:r>
          </a:p>
          <a:p>
            <a:pPr marL="114300" indent="0">
              <a:buNone/>
            </a:pPr>
            <a:endParaRPr lang="en-US" sz="3200" dirty="0"/>
          </a:p>
          <a:p>
            <a:pPr marL="114300" indent="0">
              <a:buNone/>
            </a:pPr>
            <a:r>
              <a:rPr lang="en-US" sz="3200" dirty="0"/>
              <a:t>I am running into issues running my Python script. I am using a </a:t>
            </a:r>
            <a:r>
              <a:rPr lang="en-US" sz="3200" dirty="0" err="1"/>
              <a:t>conda</a:t>
            </a:r>
            <a:r>
              <a:rPr lang="en-US" sz="3200" dirty="0"/>
              <a:t> environment called </a:t>
            </a:r>
            <a:r>
              <a:rPr lang="en-US" sz="3200" dirty="0" err="1"/>
              <a:t>my_python_env</a:t>
            </a:r>
            <a:r>
              <a:rPr lang="en-US" sz="3200" dirty="0"/>
              <a:t> with the </a:t>
            </a:r>
            <a:r>
              <a:rPr lang="en-US" sz="3200" dirty="0" err="1"/>
              <a:t>pytorch</a:t>
            </a:r>
            <a:r>
              <a:rPr lang="en-US" sz="3200" dirty="0"/>
              <a:t> software, and I am receiving the following error. I am not sure how to troubleshoot. My job ID is 620350. Let me know what I can try!</a:t>
            </a:r>
          </a:p>
          <a:p>
            <a:pPr marL="114300" indent="0">
              <a:buNone/>
            </a:pPr>
            <a:endParaRPr lang="en-US" sz="3200" dirty="0"/>
          </a:p>
          <a:p>
            <a:pPr marL="114300" indent="0">
              <a:buNone/>
            </a:pPr>
            <a:r>
              <a:rPr lang="en-US" sz="3200" b="0" i="0" dirty="0" err="1">
                <a:solidFill>
                  <a:srgbClr val="E74C3C"/>
                </a:solidFill>
                <a:effectLst/>
                <a:latin typeface="SFMono-Regular"/>
              </a:rPr>
              <a:t>sbatch</a:t>
            </a:r>
            <a:r>
              <a:rPr lang="en-US" sz="3200" b="0" i="0" dirty="0">
                <a:solidFill>
                  <a:srgbClr val="E74C3C"/>
                </a:solidFill>
                <a:effectLst/>
                <a:latin typeface="SFMono-Regular"/>
              </a:rPr>
              <a:t>: error: Batch job submission failed: Invalid partition name specified.</a:t>
            </a:r>
            <a:endParaRPr lang="en-US" sz="3200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Thanks,</a:t>
            </a:r>
            <a:br>
              <a:rPr lang="en-US" dirty="0"/>
            </a:br>
            <a:r>
              <a:rPr lang="en-US" dirty="0"/>
              <a:t>John</a:t>
            </a:r>
          </a:p>
        </p:txBody>
      </p:sp>
    </p:spTree>
    <p:extLst>
      <p:ext uri="{BB962C8B-B14F-4D97-AF65-F5344CB8AC3E}">
        <p14:creationId xmlns:p14="http://schemas.microsoft.com/office/powerpoint/2010/main" val="6239980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78"/>
          <p:cNvSpPr txBox="1">
            <a:spLocks noGrp="1"/>
          </p:cNvSpPr>
          <p:nvPr>
            <p:ph type="title"/>
          </p:nvPr>
        </p:nvSpPr>
        <p:spPr>
          <a:xfrm>
            <a:off x="617483" y="2001809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Survey and feedback</a:t>
            </a:r>
            <a:endParaRPr/>
          </a:p>
        </p:txBody>
      </p:sp>
      <p:sp>
        <p:nvSpPr>
          <p:cNvPr id="914" name="Google Shape;914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16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0" algn="l" rtl="0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600"/>
          </a:p>
          <a:p>
            <a:pPr marL="0" lvl="0" indent="0" algn="l" rtl="0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u="sng">
                <a:solidFill>
                  <a:schemeClr val="hlink"/>
                </a:solidFill>
                <a:hlinkClick r:id="rId3"/>
              </a:rPr>
              <a:t>http://tinyurl.com/curc-survey18</a:t>
            </a:r>
            <a:endParaRPr sz="30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3300"/>
          </a:p>
        </p:txBody>
      </p:sp>
      <p:sp>
        <p:nvSpPr>
          <p:cNvPr id="915" name="Google Shape;915;p7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pic>
        <p:nvPicPr>
          <p:cNvPr id="3" name="Picture 2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983AAC64-E355-5BED-7878-3C7333DDD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9733" y="1355834"/>
            <a:ext cx="3943350" cy="3943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36381</TotalTime>
  <Words>2056</Words>
  <Application>Microsoft Macintosh PowerPoint</Application>
  <PresentationFormat>Widescreen</PresentationFormat>
  <Paragraphs>595</Paragraphs>
  <Slides>47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8" baseType="lpstr">
      <vt:lpstr>Consolas</vt:lpstr>
      <vt:lpstr>Calibri</vt:lpstr>
      <vt:lpstr>Helvetica Neue</vt:lpstr>
      <vt:lpstr>-apple-system</vt:lpstr>
      <vt:lpstr>Wingdings</vt:lpstr>
      <vt:lpstr>Courier New</vt:lpstr>
      <vt:lpstr>Helvetica Neue Light</vt:lpstr>
      <vt:lpstr>SFMono-Regular</vt:lpstr>
      <vt:lpstr>Arial Black</vt:lpstr>
      <vt:lpstr>Arial</vt:lpstr>
      <vt:lpstr>Office Theme</vt:lpstr>
      <vt:lpstr>New User Seminar</vt:lpstr>
      <vt:lpstr>PowerPoint Presentation</vt:lpstr>
      <vt:lpstr>PowerPoint Presentation</vt:lpstr>
      <vt:lpstr>RC Resources</vt:lpstr>
      <vt:lpstr>PowerPoint Presentation</vt:lpstr>
      <vt:lpstr>Learning Goals</vt:lpstr>
      <vt:lpstr>Learning Goals</vt:lpstr>
      <vt:lpstr>Learning Goals</vt:lpstr>
      <vt:lpstr>Learning Goals</vt:lpstr>
      <vt:lpstr>High-Performance Computing</vt:lpstr>
      <vt:lpstr>High-Performance Computing</vt:lpstr>
      <vt:lpstr>High-Performance Computing</vt:lpstr>
      <vt:lpstr>What can I use HPC for?</vt:lpstr>
      <vt:lpstr>What can I use HPC for?</vt:lpstr>
      <vt:lpstr>PowerPoint Presentation</vt:lpstr>
      <vt:lpstr>Node Types</vt:lpstr>
      <vt:lpstr>Node Types</vt:lpstr>
      <vt:lpstr>Node Types</vt:lpstr>
      <vt:lpstr>Node Types</vt:lpstr>
      <vt:lpstr>Alpine Partitions</vt:lpstr>
      <vt:lpstr>Alpine Partitions</vt:lpstr>
      <vt:lpstr>Alpine Partitions</vt:lpstr>
      <vt:lpstr>Alpine Partitions</vt:lpstr>
      <vt:lpstr>Alpine Partitions</vt:lpstr>
      <vt:lpstr>Data Storage</vt:lpstr>
      <vt:lpstr>Data Storage</vt:lpstr>
      <vt:lpstr>Core</vt:lpstr>
      <vt:lpstr>Core</vt:lpstr>
      <vt:lpstr>Core</vt:lpstr>
      <vt:lpstr>PetaLibrary</vt:lpstr>
      <vt:lpstr>PetaLibrary</vt:lpstr>
      <vt:lpstr>Data Sharing: Within RC</vt:lpstr>
      <vt:lpstr>Data Sharing: Outside RC</vt:lpstr>
      <vt:lpstr>Data Transfer Nodes (DTN)</vt:lpstr>
      <vt:lpstr>Acceptable data storage and use</vt:lpstr>
      <vt:lpstr>Cloud Computing</vt:lpstr>
      <vt:lpstr>How to Access RC Resources?</vt:lpstr>
      <vt:lpstr>Getting an Account</vt:lpstr>
      <vt:lpstr>Your RC Account</vt:lpstr>
      <vt:lpstr>Duo Authentication</vt:lpstr>
      <vt:lpstr>Terminal Access</vt:lpstr>
      <vt:lpstr>Demo: Logging in via Terminal</vt:lpstr>
      <vt:lpstr>Demo: logging in with OnDemand</vt:lpstr>
      <vt:lpstr>Help! I’m stuck, where do I go?</vt:lpstr>
      <vt:lpstr>…try CURC’s new self-paced training!</vt:lpstr>
      <vt:lpstr>Helpdesk Tickets</vt:lpstr>
      <vt:lpstr>Survey and feedback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Alpine: New User Seminar</dc:title>
  <dc:creator>Trevor Alan Hall</dc:creator>
  <cp:lastModifiedBy>Brandon Reyes</cp:lastModifiedBy>
  <cp:revision>27</cp:revision>
  <dcterms:modified xsi:type="dcterms:W3CDTF">2026-08-24T17:59:26Z</dcterms:modified>
</cp:coreProperties>
</file>